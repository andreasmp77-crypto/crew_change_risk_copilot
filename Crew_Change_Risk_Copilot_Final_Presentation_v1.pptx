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ublic Sans Bold" charset="1" panose="00000000000000000000"/>
      <p:regular r:id="rId19"/>
    </p:embeddedFont>
    <p:embeddedFont>
      <p:font typeface="Public San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notesSlides/notesSlide10.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and introduction.</a:t>
            </a:r>
          </a:p>
          <a:p>
            <a:r>
              <a:rPr lang="en-US"/>
              <a:t/>
            </a:r>
          </a:p>
          <a:p>
            <a:r>
              <a:rPr lang="en-US"/>
              <a:t>This presentation introduces the Crew Change Risk Copilot: an AI-supported decision-support concept designed to help Crew Managers focus their attention on cases that may require earlier review.</a:t>
            </a:r>
          </a:p>
          <a:p>
            <a:r>
              <a:rPr lang="en-US"/>
              <a:t/>
            </a:r>
          </a:p>
          <a:p>
            <a:r>
              <a:rPr lang="en-US"/>
              <a:t>I will walk through the operational problem, the proposed solution, what was validated through the proof of concept, the technical findings from attempting to scale the workflow, the business and compliance considerations, and the recommended path forward.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Crew-change operations involve multiple interconnected factors. A planned crew change may depend on vessel schedules, crew readiness, travel arrangements, flight connections and external disruptions such as airport delays or weather conditions.</a:t>
            </a:r>
          </a:p>
          <a:p>
            <a:r>
              <a:rPr lang="en-US"/>
              <a:t/>
            </a:r>
          </a:p>
          <a:p>
            <a:r>
              <a:rPr lang="en-US"/>
              <a:t>The challenge for the Crew Manager is not necessarily the absence of information. The challenge is that information may come from different sources while multiple upcoming crew-change cases need to be reviewed.</a:t>
            </a:r>
          </a:p>
          <a:p>
            <a:r>
              <a:rPr lang="en-US"/>
              <a:t/>
            </a:r>
          </a:p>
          <a:p>
            <a:r>
              <a:rPr lang="en-US"/>
              <a:t>This means operational staff must decide where to focus their attention first. Routine cases may consume review time, while combinations of smaller warning signs could potentially be overlooked.</a:t>
            </a:r>
          </a:p>
          <a:p>
            <a:r>
              <a:rPr lang="en-US"/>
              <a:t/>
            </a:r>
          </a:p>
          <a:p>
            <a:r>
              <a:rPr lang="en-US"/>
              <a:t>The central problem I wanted to address was therefore how to help the crewing team identify which cases may require earlier human attention and understand why.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project started with a simple question: where could AI provide practical value in crew-change operations?</a:t>
            </a:r>
          </a:p>
          <a:p>
            <a:r>
              <a:rPr lang="en-US"/>
              <a:t/>
            </a:r>
          </a:p>
          <a:p>
            <a:r>
              <a:rPr lang="en-US"/>
              <a:t>The selected opportunity was not to automate operational decisions, but to support Crew Managers in identifying and understanding cases that may require attention.</a:t>
            </a:r>
          </a:p>
          <a:p>
            <a:r>
              <a:rPr lang="en-US"/>
              <a:t/>
            </a:r>
          </a:p>
          <a:p>
            <a:r>
              <a:rPr lang="en-US"/>
              <a:t>I first validated the core concept through a proof of concept combining deterministic risk assessment with AI-assisted interpretation.</a:t>
            </a:r>
          </a:p>
          <a:p>
            <a:r>
              <a:rPr lang="en-US"/>
              <a:t/>
            </a:r>
          </a:p>
          <a:p>
            <a:r>
              <a:rPr lang="en-US"/>
              <a:t>The next step was to test whether the workflow could evolve towards a more realistic management-by-exception process involving multiple crew-change cases.</a:t>
            </a:r>
          </a:p>
          <a:p>
            <a:r>
              <a:rPr lang="en-US"/>
              <a:t/>
            </a:r>
          </a:p>
          <a:p>
            <a:r>
              <a:rPr lang="en-US"/>
              <a:t>This provided an important technical learning. As the workflow became more complex, data structures, validation and batch processing became increasingly difficult to manage reliably.</a:t>
            </a:r>
          </a:p>
          <a:p>
            <a:r>
              <a:rPr lang="en-US"/>
              <a:t/>
            </a:r>
          </a:p>
          <a:p>
            <a:r>
              <a:rPr lang="en-US"/>
              <a:t>Rather than continuing to add complexity, these findings helped define a clearer implementation path based on a coded architecture better suited to the requirements.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proposed solution is the Crew Change Risk Copilot, designed around a management-by-exception approach.</a:t>
            </a:r>
          </a:p>
          <a:p>
            <a:r>
              <a:rPr lang="en-US"/>
              <a:t/>
            </a:r>
          </a:p>
          <a:p>
            <a:r>
              <a:rPr lang="en-US"/>
              <a:t>The process starts by combining crew-change information with relevant external operational context.</a:t>
            </a:r>
          </a:p>
          <a:p>
            <a:r>
              <a:rPr lang="en-US"/>
              <a:t/>
            </a:r>
          </a:p>
          <a:p>
            <a:r>
              <a:rPr lang="en-US"/>
              <a:t>Importantly, the AI is not responsible for calculating the operational risk by itself. A deterministic layer applies defined business rules to calculate a risk score, classify the case and identify the contributing risk factors.</a:t>
            </a:r>
          </a:p>
          <a:p>
            <a:r>
              <a:rPr lang="en-US"/>
              <a:t/>
            </a:r>
          </a:p>
          <a:p>
            <a:r>
              <a:rPr lang="en-US"/>
              <a:t>The AI layer then interprets this structured information and generates a concise operational briefing to help the user understand the situation.</a:t>
            </a:r>
          </a:p>
          <a:p>
            <a:r>
              <a:rPr lang="en-US"/>
              <a:t/>
            </a:r>
          </a:p>
          <a:p>
            <a:r>
              <a:rPr lang="en-US"/>
              <a:t>Finally, the Crew Manager reviews the information and remains responsible for deciding whether any operational action is required.</a:t>
            </a:r>
          </a:p>
          <a:p>
            <a:r>
              <a:rPr lang="en-US"/>
              <a:t/>
            </a:r>
          </a:p>
          <a:p>
            <a:r>
              <a:rPr lang="en-US"/>
              <a:t>This hybrid approach was deliberately selected to provide greater transparency and avoid treating an LLM output as an unexplained autonomous decision.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considering how the solution could scale, the first objective was to validate the core workflow.</a:t>
            </a:r>
          </a:p>
          <a:p>
            <a:r>
              <a:rPr lang="en-US"/>
              <a:t/>
            </a:r>
          </a:p>
          <a:p>
            <a:r>
              <a:rPr lang="en-US"/>
              <a:t>The proof of concept was developed in n8n using a single crew-change case. It combined the operational record with relevant external context, including airport and weather information.</a:t>
            </a:r>
          </a:p>
          <a:p>
            <a:r>
              <a:rPr lang="en-US"/>
              <a:t/>
            </a:r>
          </a:p>
          <a:p>
            <a:r>
              <a:rPr lang="en-US"/>
              <a:t>A deterministic risk layer then calculated the operational risk score, classified the case and identified the contributing risk factors.</a:t>
            </a:r>
          </a:p>
          <a:p>
            <a:r>
              <a:rPr lang="en-US"/>
              <a:t/>
            </a:r>
          </a:p>
          <a:p>
            <a:r>
              <a:rPr lang="en-US"/>
              <a:t>The structured result was then passed to an LLM, which generated a concise operational risk briefing.</a:t>
            </a:r>
          </a:p>
          <a:p>
            <a:r>
              <a:rPr lang="en-US"/>
              <a:t/>
            </a:r>
          </a:p>
          <a:p>
            <a:r>
              <a:rPr lang="en-US"/>
              <a:t>Importantly, the system did not make an operational decision. The final output was designed for human review.</a:t>
            </a:r>
          </a:p>
          <a:p>
            <a:r>
              <a:rPr lang="en-US"/>
              <a:t/>
            </a:r>
          </a:p>
          <a:p>
            <a:r>
              <a:rPr lang="en-US"/>
              <a:t>This validated the central hypothesis that structured operational signals could be combined and translated into an understandable briefing to support Crew Managers.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validating the single-case workflow, the next objective was to test a more realistic operational scenario: processing multiple upcoming crew-change cases and prioritising those requiring attention.</a:t>
            </a:r>
          </a:p>
          <a:p>
            <a:r>
              <a:rPr lang="en-US"/>
              <a:t/>
            </a:r>
          </a:p>
          <a:p>
            <a:r>
              <a:rPr lang="en-US"/>
              <a:t>The intended workflow was batch analysis, risk prioritisation and a management-level summary for human review.</a:t>
            </a:r>
          </a:p>
          <a:p>
            <a:r>
              <a:rPr lang="en-US"/>
              <a:t/>
            </a:r>
          </a:p>
          <a:p>
            <a:r>
              <a:rPr lang="en-US"/>
              <a:t>During implementation, however, the increasing number of records exposed challenges with inconsistent data structures, repeated transformations, schema mismatches and workflow complexity between nodes.</a:t>
            </a:r>
          </a:p>
          <a:p>
            <a:r>
              <a:rPr lang="en-US"/>
              <a:t/>
            </a:r>
          </a:p>
          <a:p>
            <a:r>
              <a:rPr lang="en-US"/>
              <a:t>Rather than continuing to add patches and complexity to the low-code workflow, I made a deliberate technical decision to stop and reassess the architecture.</a:t>
            </a:r>
          </a:p>
          <a:p>
            <a:r>
              <a:rPr lang="en-US"/>
              <a:t/>
            </a:r>
          </a:p>
          <a:p>
            <a:r>
              <a:rPr lang="en-US"/>
              <a:t>The key learning was that a multi-case workflow requires stronger control over schemas, validation, error handling and state management.</a:t>
            </a:r>
          </a:p>
          <a:p>
            <a:r>
              <a:rPr lang="en-US"/>
              <a:t/>
            </a:r>
          </a:p>
          <a:p>
            <a:r>
              <a:rPr lang="en-US"/>
              <a:t>For the next implementation stage, the complex core processing should move into a coded architecture, with Python and LangGraph evaluated for their respective roles.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the business case, I have deliberately taken a conservative approach.</a:t>
            </a:r>
          </a:p>
          <a:p>
            <a:r>
              <a:rPr lang="en-US"/>
              <a:t/>
            </a:r>
          </a:p>
          <a:p>
            <a:r>
              <a:rPr lang="en-US"/>
              <a:t>The planning assumption for the initial implementation is €35,000, with approximately €4,000 in annual operating costs.</a:t>
            </a:r>
          </a:p>
          <a:p>
            <a:r>
              <a:rPr lang="en-US"/>
              <a:t/>
            </a:r>
          </a:p>
          <a:p>
            <a:r>
              <a:rPr lang="en-US"/>
              <a:t>At this stage, the only benefit I have monetised is the potential avoidance of costs associated with disrupted or failed crew-change itineraries. The model assumes 15 avoided problematic cases per year, at an average avoidable cost of €1,250 per case.</a:t>
            </a:r>
          </a:p>
          <a:p>
            <a:r>
              <a:rPr lang="en-US"/>
              <a:t/>
            </a:r>
          </a:p>
          <a:p>
            <a:r>
              <a:rPr lang="en-US"/>
              <a:t>That produces a direct annual benefit of €18,750.</a:t>
            </a:r>
          </a:p>
          <a:p>
            <a:r>
              <a:rPr lang="en-US"/>
              <a:t/>
            </a:r>
          </a:p>
          <a:p>
            <a:r>
              <a:rPr lang="en-US"/>
              <a:t>Under these assumptions, the solution does not recover its investment in the first year. Over three years, however, the model becomes positive, with an estimated ROI of 19.7%.</a:t>
            </a:r>
          </a:p>
          <a:p>
            <a:r>
              <a:rPr lang="en-US"/>
              <a:t/>
            </a:r>
          </a:p>
          <a:p>
            <a:r>
              <a:rPr lang="en-US"/>
              <a:t>The important point is that this is deliberately conservative. I have not monetised potential Crew Manager time savings, reduced firefighting, improved seafarer experience or retention benefits because we do not yet have measured baseline data.</a:t>
            </a:r>
          </a:p>
          <a:p>
            <a:r>
              <a:rPr lang="en-US"/>
              <a:t/>
            </a:r>
          </a:p>
          <a:p>
            <a:r>
              <a:rPr lang="en-US"/>
              <a:t>Those benefits should be measured during the pilot and incorporated into the business case before a full deployment decision.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Compliance was considered as part of the solution design rather than as a separate final check.</a:t>
            </a:r>
          </a:p>
          <a:p>
            <a:r>
              <a:rPr lang="en-US"/>
              <a:t/>
            </a:r>
          </a:p>
          <a:p>
            <a:r>
              <a:rPr lang="en-US"/>
              <a:t>Under the current intended purpose, the Crew Change Risk Copilot is assessed as a non-high-risk AI system. It supports operational prioritisation but does not autonomously make employment, immigration or other legally significant decisions about individuals.</a:t>
            </a:r>
          </a:p>
          <a:p>
            <a:r>
              <a:rPr lang="en-US"/>
              <a:t/>
            </a:r>
          </a:p>
          <a:p>
            <a:r>
              <a:rPr lang="en-US"/>
              <a:t>The main EU AI Act focus is therefore transparency and proportionate governance. Users should understand that they are interacting with an AI-supported system and that the generated briefing is decision support rather than a final operational decision.</a:t>
            </a:r>
          </a:p>
          <a:p>
            <a:r>
              <a:rPr lang="en-US"/>
              <a:t/>
            </a:r>
          </a:p>
          <a:p>
            <a:r>
              <a:rPr lang="en-US"/>
              <a:t>From a GDPR perspective, there is an important distinction between the current project and a future production deployment. The current MVP uses synthetic and public data. A production system could, however, involve identifiable crew and travel information.</a:t>
            </a:r>
          </a:p>
          <a:p>
            <a:r>
              <a:rPr lang="en-US"/>
              <a:t/>
            </a:r>
          </a:p>
          <a:p>
            <a:r>
              <a:rPr lang="en-US"/>
              <a:t>That is why the proposed architecture includes data minimisation, pseudonymisation where possible, access controls, retention and deletion controls, and assessment of third-party and cross-border processing.</a:t>
            </a:r>
          </a:p>
          <a:p>
            <a:r>
              <a:rPr lang="en-US"/>
              <a:t/>
            </a:r>
          </a:p>
          <a:p>
            <a:r>
              <a:rPr lang="en-US"/>
              <a:t>Most importantly, the operating model remains human-in-the-loop: the AI analyses and explains, but the Crew Manager reviews and makes the operational decision.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recommended path forward is phased rather than attempting to move directly from a proof of concept into production.</a:t>
            </a:r>
          </a:p>
          <a:p>
            <a:r>
              <a:rPr lang="en-US"/>
              <a:t/>
            </a:r>
          </a:p>
          <a:p>
            <a:r>
              <a:rPr lang="en-US"/>
              <a:t>The first stage has already been completed: the core concept was validated through the proof of concept.</a:t>
            </a:r>
          </a:p>
          <a:p>
            <a:r>
              <a:rPr lang="en-US"/>
              <a:t/>
            </a:r>
          </a:p>
          <a:p>
            <a:r>
              <a:rPr lang="en-US"/>
              <a:t>The next stage is MVP development using a more robust hybrid architecture. Python would be better suited for complex data processing, schema validation, batch processing and testing. LangGraph could support AI workflow orchestration and human-in-the-loop processes.</a:t>
            </a:r>
          </a:p>
          <a:p>
            <a:r>
              <a:rPr lang="en-US"/>
              <a:t/>
            </a:r>
          </a:p>
          <a:p>
            <a:r>
              <a:rPr lang="en-US"/>
              <a:t>However, this does not mean abandoning n8n. Low-code tools can still provide value for selected integrations, API connections, notifications and simpler automation tasks.</a:t>
            </a:r>
          </a:p>
          <a:p>
            <a:r>
              <a:rPr lang="en-US"/>
              <a:t/>
            </a:r>
          </a:p>
          <a:p>
            <a:r>
              <a:rPr lang="en-US"/>
              <a:t>The objective is therefore not to select one technology for everything, but to use the most appropriate technology for each part of the solution.</a:t>
            </a:r>
          </a:p>
          <a:p>
            <a:r>
              <a:rPr lang="en-US"/>
              <a:t/>
            </a:r>
          </a:p>
          <a:p>
            <a:r>
              <a:rPr lang="en-US"/>
              <a:t>Once the MVP is stable, a controlled pilot should validate technical reliability, operational usefulness, user adoption and the assumptions behind the business case.</a:t>
            </a:r>
          </a:p>
          <a:p>
            <a:r>
              <a:rPr lang="en-US"/>
              <a:t/>
            </a:r>
          </a:p>
          <a:p>
            <a:r>
              <a:rPr lang="en-US"/>
              <a:t>Only then should a decision be made on wider-scale deployment.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conclude, the Crew Change Risk Copilot has progressed from an initial AI opportunity into a validated concept with a clear implementation path.</a:t>
            </a:r>
          </a:p>
          <a:p>
            <a:r>
              <a:rPr lang="en-US"/>
              <a:t/>
            </a:r>
          </a:p>
          <a:p>
            <a:r>
              <a:rPr lang="en-US"/>
              <a:t>First, the proof of concept demonstrated that operational information can be combined with deterministic risk logic and AI interpretation to produce an explainable briefing for human review.</a:t>
            </a:r>
          </a:p>
          <a:p>
            <a:r>
              <a:rPr lang="en-US"/>
              <a:t/>
            </a:r>
          </a:p>
          <a:p>
            <a:r>
              <a:rPr lang="en-US"/>
              <a:t>Second, the initial business case is promising. The financial model is deliberately conservative and highlights the importance of validating the operational benefits with real data.</a:t>
            </a:r>
          </a:p>
          <a:p>
            <a:r>
              <a:rPr lang="en-US"/>
              <a:t/>
            </a:r>
          </a:p>
          <a:p>
            <a:r>
              <a:rPr lang="en-US"/>
              <a:t>Third, the implementation work provided an important technical insight: scaling the solution requires a more robust architecture, while low-code tools such as n8n can still provide value for selected integrations and automation.</a:t>
            </a:r>
          </a:p>
          <a:p>
            <a:r>
              <a:rPr lang="en-US"/>
              <a:t/>
            </a:r>
          </a:p>
          <a:p>
            <a:r>
              <a:rPr lang="en-US"/>
              <a:t>My recommendation is therefore to proceed with a focused MVP implementation followed by a controlled pilot.</a:t>
            </a:r>
          </a:p>
          <a:p>
            <a:r>
              <a:rPr lang="en-US"/>
              <a:t/>
            </a:r>
          </a:p>
          <a:p>
            <a:r>
              <a:rPr lang="en-US"/>
              <a:t>The objective is not to automate operational decision-making. It is to validate whether AI can reliably help Crew Managers focus their attention on the cases that matter most.</a:t>
            </a:r>
          </a:p>
          <a:p>
            <a:r>
              <a:rPr lang="en-US"/>
              <a:t/>
            </a:r>
          </a:p>
          <a:p>
            <a:r>
              <a:rPr lang="en-US"/>
              <a:t>AI should support operational judgement, not replace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grpSp>
        <p:nvGrpSpPr>
          <p:cNvPr name="Group 2" id="2"/>
          <p:cNvGrpSpPr/>
          <p:nvPr/>
        </p:nvGrpSpPr>
        <p:grpSpPr>
          <a:xfrm rot="0">
            <a:off x="7069264" y="6075565"/>
            <a:ext cx="4186647" cy="68637"/>
            <a:chOff x="0" y="0"/>
            <a:chExt cx="5582196" cy="91516"/>
          </a:xfrm>
        </p:grpSpPr>
        <p:sp>
          <p:nvSpPr>
            <p:cNvPr name="Freeform 3" id="3"/>
            <p:cNvSpPr/>
            <p:nvPr/>
          </p:nvSpPr>
          <p:spPr>
            <a:xfrm flipH="false" flipV="false" rot="0">
              <a:off x="0" y="0"/>
              <a:ext cx="5582158" cy="91567"/>
            </a:xfrm>
            <a:custGeom>
              <a:avLst/>
              <a:gdLst/>
              <a:ahLst/>
              <a:cxnLst/>
              <a:rect r="r" b="b" t="t" l="l"/>
              <a:pathLst>
                <a:path h="91567" w="5582158">
                  <a:moveTo>
                    <a:pt x="0" y="0"/>
                  </a:moveTo>
                  <a:lnTo>
                    <a:pt x="5582158" y="0"/>
                  </a:lnTo>
                  <a:lnTo>
                    <a:pt x="5582158" y="91567"/>
                  </a:lnTo>
                  <a:lnTo>
                    <a:pt x="0" y="91567"/>
                  </a:lnTo>
                  <a:close/>
                </a:path>
              </a:pathLst>
            </a:custGeom>
            <a:solidFill>
              <a:srgbClr val="2B2C30"/>
            </a:solidFill>
          </p:spPr>
        </p:sp>
      </p:grpSp>
      <p:sp>
        <p:nvSpPr>
          <p:cNvPr name="Freeform 4" id="4"/>
          <p:cNvSpPr/>
          <p:nvPr/>
        </p:nvSpPr>
        <p:spPr>
          <a:xfrm flipH="false" flipV="false" rot="0">
            <a:off x="6605359" y="1294199"/>
            <a:ext cx="5114457" cy="1902996"/>
          </a:xfrm>
          <a:custGeom>
            <a:avLst/>
            <a:gdLst/>
            <a:ahLst/>
            <a:cxnLst/>
            <a:rect r="r" b="b" t="t" l="l"/>
            <a:pathLst>
              <a:path h="1902996" w="5114457">
                <a:moveTo>
                  <a:pt x="0" y="0"/>
                </a:moveTo>
                <a:lnTo>
                  <a:pt x="5114458" y="0"/>
                </a:lnTo>
                <a:lnTo>
                  <a:pt x="5114458" y="1902996"/>
                </a:lnTo>
                <a:lnTo>
                  <a:pt x="0" y="1902996"/>
                </a:lnTo>
                <a:lnTo>
                  <a:pt x="0" y="0"/>
                </a:lnTo>
                <a:close/>
              </a:path>
            </a:pathLst>
          </a:custGeom>
          <a:blipFill>
            <a:blip r:embed="rId3"/>
            <a:stretch>
              <a:fillRect l="0" t="0" r="0" b="0"/>
            </a:stretch>
          </a:blipFill>
        </p:spPr>
      </p:sp>
      <p:sp>
        <p:nvSpPr>
          <p:cNvPr name="TextBox 5" id="5"/>
          <p:cNvSpPr txBox="true"/>
          <p:nvPr/>
        </p:nvSpPr>
        <p:spPr>
          <a:xfrm rot="0">
            <a:off x="1464116" y="3778220"/>
            <a:ext cx="15328316" cy="781050"/>
          </a:xfrm>
          <a:prstGeom prst="rect">
            <a:avLst/>
          </a:prstGeom>
        </p:spPr>
        <p:txBody>
          <a:bodyPr anchor="t" rtlCol="false" tIns="0" lIns="0" bIns="0" rIns="0">
            <a:spAutoFit/>
          </a:bodyPr>
          <a:lstStyle/>
          <a:p>
            <a:pPr algn="ctr">
              <a:lnSpc>
                <a:spcPts val="6124"/>
              </a:lnSpc>
            </a:pPr>
            <a:r>
              <a:rPr lang="en-US" b="true" sz="5103" spc="1158">
                <a:solidFill>
                  <a:srgbClr val="2B2C30"/>
                </a:solidFill>
                <a:latin typeface="Public Sans Bold"/>
                <a:ea typeface="Public Sans Bold"/>
                <a:cs typeface="Public Sans Bold"/>
                <a:sym typeface="Public Sans Bold"/>
              </a:rPr>
              <a:t>CREW CHANGE RISK COPILOT</a:t>
            </a:r>
          </a:p>
        </p:txBody>
      </p:sp>
      <p:sp>
        <p:nvSpPr>
          <p:cNvPr name="TextBox 6" id="6"/>
          <p:cNvSpPr txBox="true"/>
          <p:nvPr/>
        </p:nvSpPr>
        <p:spPr>
          <a:xfrm rot="0">
            <a:off x="1601381" y="5004097"/>
            <a:ext cx="15053786" cy="476250"/>
          </a:xfrm>
          <a:prstGeom prst="rect">
            <a:avLst/>
          </a:prstGeom>
        </p:spPr>
        <p:txBody>
          <a:bodyPr anchor="t" rtlCol="false" tIns="0" lIns="0" bIns="0" rIns="0">
            <a:spAutoFit/>
          </a:bodyPr>
          <a:lstStyle/>
          <a:p>
            <a:pPr algn="ctr">
              <a:lnSpc>
                <a:spcPts val="3602"/>
              </a:lnSpc>
            </a:pPr>
            <a:r>
              <a:rPr lang="en-US" b="true" sz="3002" spc="15">
                <a:solidFill>
                  <a:srgbClr val="2B2C30"/>
                </a:solidFill>
                <a:latin typeface="Public Sans Bold"/>
                <a:ea typeface="Public Sans Bold"/>
                <a:cs typeface="Public Sans Bold"/>
                <a:sym typeface="Public Sans Bold"/>
              </a:rPr>
              <a:t>AI-Supported Decision Support for Smarter Crew Change Operations</a:t>
            </a:r>
          </a:p>
        </p:txBody>
      </p:sp>
      <p:sp>
        <p:nvSpPr>
          <p:cNvPr name="TextBox 7" id="7"/>
          <p:cNvSpPr txBox="true"/>
          <p:nvPr/>
        </p:nvSpPr>
        <p:spPr>
          <a:xfrm rot="0">
            <a:off x="1601381" y="6592201"/>
            <a:ext cx="15053786" cy="419100"/>
          </a:xfrm>
          <a:prstGeom prst="rect">
            <a:avLst/>
          </a:prstGeom>
        </p:spPr>
        <p:txBody>
          <a:bodyPr anchor="t" rtlCol="false" tIns="0" lIns="0" bIns="0" rIns="0">
            <a:spAutoFit/>
          </a:bodyPr>
          <a:lstStyle/>
          <a:p>
            <a:pPr algn="ctr">
              <a:lnSpc>
                <a:spcPts val="3242"/>
              </a:lnSpc>
            </a:pPr>
            <a:r>
              <a:rPr lang="en-US" sz="2702">
                <a:solidFill>
                  <a:srgbClr val="2B2C30"/>
                </a:solidFill>
                <a:latin typeface="Public Sans"/>
                <a:ea typeface="Public Sans"/>
                <a:cs typeface="Public Sans"/>
                <a:sym typeface="Public Sans"/>
              </a:rPr>
              <a:t>From Validated PoC to MVP Architecture &amp; Pilot Strategy</a:t>
            </a:r>
          </a:p>
        </p:txBody>
      </p:sp>
      <p:sp>
        <p:nvSpPr>
          <p:cNvPr name="TextBox 8" id="8"/>
          <p:cNvSpPr txBox="true"/>
          <p:nvPr/>
        </p:nvSpPr>
        <p:spPr>
          <a:xfrm rot="0">
            <a:off x="1601381" y="7233199"/>
            <a:ext cx="15053786" cy="962025"/>
          </a:xfrm>
          <a:prstGeom prst="rect">
            <a:avLst/>
          </a:prstGeom>
        </p:spPr>
        <p:txBody>
          <a:bodyPr anchor="t" rtlCol="false" tIns="0" lIns="0" bIns="0" rIns="0">
            <a:spAutoFit/>
          </a:bodyPr>
          <a:lstStyle/>
          <a:p>
            <a:pPr algn="ctr">
              <a:lnSpc>
                <a:spcPts val="2521"/>
              </a:lnSpc>
            </a:pPr>
            <a:r>
              <a:rPr lang="en-US" sz="2101">
                <a:solidFill>
                  <a:srgbClr val="2B2C30"/>
                </a:solidFill>
                <a:latin typeface="Public Sans"/>
                <a:ea typeface="Public Sans"/>
                <a:cs typeface="Public Sans"/>
                <a:sym typeface="Public Sans"/>
              </a:rPr>
              <a:t>Andreas Papachristophorou</a:t>
            </a:r>
          </a:p>
          <a:p>
            <a:pPr algn="ctr">
              <a:lnSpc>
                <a:spcPts val="2521"/>
              </a:lnSpc>
            </a:pPr>
            <a:r>
              <a:rPr lang="en-US" sz="2101">
                <a:solidFill>
                  <a:srgbClr val="2B2C30"/>
                </a:solidFill>
                <a:latin typeface="Public Sans"/>
                <a:ea typeface="Public Sans"/>
                <a:cs typeface="Public Sans"/>
                <a:sym typeface="Public Sans"/>
              </a:rPr>
              <a:t>AI Consulting &amp; Integration Capstone</a:t>
            </a:r>
          </a:p>
          <a:p>
            <a:pPr algn="ctr">
              <a:lnSpc>
                <a:spcPts val="2521"/>
              </a:lnSpc>
            </a:pPr>
            <a:r>
              <a:rPr lang="en-US" sz="2101">
                <a:solidFill>
                  <a:srgbClr val="2B2C30"/>
                </a:solidFill>
                <a:latin typeface="Public Sans"/>
                <a:ea typeface="Public Sans"/>
                <a:cs typeface="Public Sans"/>
                <a:sym typeface="Public Sans"/>
              </a:rPr>
              <a:t>Ironhack | 2026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52312" y="653901"/>
            <a:ext cx="17084278" cy="409575"/>
          </a:xfrm>
          <a:prstGeom prst="rect">
            <a:avLst/>
          </a:prstGeom>
        </p:spPr>
        <p:txBody>
          <a:bodyPr anchor="t" rtlCol="false" tIns="0" lIns="0" bIns="0" rIns="0">
            <a:spAutoFit/>
          </a:bodyPr>
          <a:lstStyle/>
          <a:p>
            <a:pPr algn="l">
              <a:lnSpc>
                <a:spcPts val="3171"/>
              </a:lnSpc>
            </a:pPr>
            <a:r>
              <a:rPr lang="en-US" b="true" sz="2643" spc="599">
                <a:solidFill>
                  <a:srgbClr val="2B2C30"/>
                </a:solidFill>
                <a:latin typeface="Public Sans Bold"/>
                <a:ea typeface="Public Sans Bold"/>
                <a:cs typeface="Public Sans Bold"/>
                <a:sym typeface="Public Sans Bold"/>
              </a:rPr>
              <a:t>CREW CHANGE OPERATIONS ARE COMPLEX — BUT ATTENTION IS LIMITED</a:t>
            </a:r>
          </a:p>
        </p:txBody>
      </p:sp>
      <p:grpSp>
        <p:nvGrpSpPr>
          <p:cNvPr name="Group 3" id="3"/>
          <p:cNvGrpSpPr/>
          <p:nvPr/>
        </p:nvGrpSpPr>
        <p:grpSpPr>
          <a:xfrm rot="0">
            <a:off x="960872" y="1509941"/>
            <a:ext cx="1509941" cy="68637"/>
            <a:chOff x="0" y="0"/>
            <a:chExt cx="2013255" cy="91516"/>
          </a:xfrm>
        </p:grpSpPr>
        <p:sp>
          <p:nvSpPr>
            <p:cNvPr name="Freeform 4" id="4"/>
            <p:cNvSpPr/>
            <p:nvPr/>
          </p:nvSpPr>
          <p:spPr>
            <a:xfrm flipH="false" flipV="false" rot="0">
              <a:off x="0" y="0"/>
              <a:ext cx="2013204" cy="91567"/>
            </a:xfrm>
            <a:custGeom>
              <a:avLst/>
              <a:gdLst/>
              <a:ahLst/>
              <a:cxnLst/>
              <a:rect r="r" b="b" t="t" l="l"/>
              <a:pathLst>
                <a:path h="91567" w="2013204">
                  <a:moveTo>
                    <a:pt x="0" y="0"/>
                  </a:moveTo>
                  <a:lnTo>
                    <a:pt x="2013204" y="0"/>
                  </a:lnTo>
                  <a:lnTo>
                    <a:pt x="2013204" y="91567"/>
                  </a:lnTo>
                  <a:lnTo>
                    <a:pt x="0" y="91567"/>
                  </a:lnTo>
                  <a:close/>
                </a:path>
              </a:pathLst>
            </a:custGeom>
            <a:solidFill>
              <a:srgbClr val="2B2C30"/>
            </a:solidFill>
          </p:spPr>
        </p:sp>
      </p:grpSp>
      <p:grpSp>
        <p:nvGrpSpPr>
          <p:cNvPr name="Group 5" id="5"/>
          <p:cNvGrpSpPr/>
          <p:nvPr/>
        </p:nvGrpSpPr>
        <p:grpSpPr>
          <a:xfrm rot="0">
            <a:off x="1022356" y="2257758"/>
            <a:ext cx="3789150" cy="1730140"/>
            <a:chOff x="0" y="0"/>
            <a:chExt cx="5052200" cy="2306853"/>
          </a:xfrm>
        </p:grpSpPr>
        <p:sp>
          <p:nvSpPr>
            <p:cNvPr name="Freeform 6" id="6"/>
            <p:cNvSpPr/>
            <p:nvPr/>
          </p:nvSpPr>
          <p:spPr>
            <a:xfrm flipH="false" flipV="false" rot="0">
              <a:off x="0" y="0"/>
              <a:ext cx="5052187" cy="2306828"/>
            </a:xfrm>
            <a:custGeom>
              <a:avLst/>
              <a:gdLst/>
              <a:ahLst/>
              <a:cxnLst/>
              <a:rect r="r" b="b" t="t" l="l"/>
              <a:pathLst>
                <a:path h="2306828" w="5052187">
                  <a:moveTo>
                    <a:pt x="0" y="384429"/>
                  </a:moveTo>
                  <a:cubicBezTo>
                    <a:pt x="0" y="172085"/>
                    <a:pt x="172085" y="0"/>
                    <a:pt x="384429" y="0"/>
                  </a:cubicBezTo>
                  <a:lnTo>
                    <a:pt x="4667758" y="0"/>
                  </a:lnTo>
                  <a:cubicBezTo>
                    <a:pt x="4880102" y="0"/>
                    <a:pt x="5052187" y="172085"/>
                    <a:pt x="5052187" y="384429"/>
                  </a:cubicBezTo>
                  <a:lnTo>
                    <a:pt x="5052187" y="1922399"/>
                  </a:lnTo>
                  <a:cubicBezTo>
                    <a:pt x="5052187" y="2134743"/>
                    <a:pt x="4880102" y="2306828"/>
                    <a:pt x="4667758" y="2306828"/>
                  </a:cubicBezTo>
                  <a:lnTo>
                    <a:pt x="384429" y="2306828"/>
                  </a:lnTo>
                  <a:cubicBezTo>
                    <a:pt x="172085" y="2306828"/>
                    <a:pt x="0" y="2134743"/>
                    <a:pt x="0" y="1922399"/>
                  </a:cubicBezTo>
                  <a:close/>
                </a:path>
              </a:pathLst>
            </a:custGeom>
            <a:solidFill>
              <a:srgbClr val="2B2C30"/>
            </a:solidFill>
            <a:ln w="14299" cap="sq">
              <a:solidFill>
                <a:srgbClr val="D2D8DE"/>
              </a:solidFill>
              <a:prstDash val="solid"/>
              <a:miter/>
            </a:ln>
          </p:spPr>
        </p:sp>
      </p:grpSp>
      <p:grpSp>
        <p:nvGrpSpPr>
          <p:cNvPr name="Group 7" id="7"/>
          <p:cNvGrpSpPr/>
          <p:nvPr/>
        </p:nvGrpSpPr>
        <p:grpSpPr>
          <a:xfrm rot="0">
            <a:off x="1029500" y="2264912"/>
            <a:ext cx="96088" cy="1715843"/>
            <a:chOff x="0" y="0"/>
            <a:chExt cx="128118" cy="2287791"/>
          </a:xfrm>
        </p:grpSpPr>
        <p:sp>
          <p:nvSpPr>
            <p:cNvPr name="Freeform 8" id="8"/>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EFEEE7"/>
            </a:solidFill>
          </p:spPr>
        </p:sp>
      </p:grpSp>
      <p:sp>
        <p:nvSpPr>
          <p:cNvPr name="TextBox 9" id="9"/>
          <p:cNvSpPr txBox="true"/>
          <p:nvPr/>
        </p:nvSpPr>
        <p:spPr>
          <a:xfrm rot="0">
            <a:off x="1422930" y="2548185"/>
            <a:ext cx="3111532" cy="371475"/>
          </a:xfrm>
          <a:prstGeom prst="rect">
            <a:avLst/>
          </a:prstGeom>
        </p:spPr>
        <p:txBody>
          <a:bodyPr anchor="t" rtlCol="false" tIns="0" lIns="0" bIns="0" rIns="0">
            <a:spAutoFit/>
          </a:bodyPr>
          <a:lstStyle/>
          <a:p>
            <a:pPr algn="l">
              <a:lnSpc>
                <a:spcPts val="2882"/>
              </a:lnSpc>
            </a:pPr>
            <a:r>
              <a:rPr lang="en-US" b="true" sz="2401" spc="12">
                <a:solidFill>
                  <a:srgbClr val="EFEEE7"/>
                </a:solidFill>
                <a:latin typeface="Public Sans Bold"/>
                <a:ea typeface="Public Sans Bold"/>
                <a:cs typeface="Public Sans Bold"/>
                <a:sym typeface="Public Sans Bold"/>
              </a:rPr>
              <a:t>Vessel Schedule</a:t>
            </a:r>
          </a:p>
        </p:txBody>
      </p:sp>
      <p:sp>
        <p:nvSpPr>
          <p:cNvPr name="TextBox 10" id="10"/>
          <p:cNvSpPr txBox="true"/>
          <p:nvPr/>
        </p:nvSpPr>
        <p:spPr>
          <a:xfrm rot="0">
            <a:off x="1422930" y="3289430"/>
            <a:ext cx="3070355" cy="257175"/>
          </a:xfrm>
          <a:prstGeom prst="rect">
            <a:avLst/>
          </a:prstGeom>
        </p:spPr>
        <p:txBody>
          <a:bodyPr anchor="t" rtlCol="false" tIns="0" lIns="0" bIns="0" rIns="0">
            <a:spAutoFit/>
          </a:bodyPr>
          <a:lstStyle/>
          <a:p>
            <a:pPr algn="l">
              <a:lnSpc>
                <a:spcPts val="1981"/>
              </a:lnSpc>
            </a:pPr>
            <a:r>
              <a:rPr lang="en-US" sz="1651">
                <a:solidFill>
                  <a:srgbClr val="EFEEE7"/>
                </a:solidFill>
                <a:latin typeface="Public Sans"/>
                <a:ea typeface="Public Sans"/>
                <a:cs typeface="Public Sans"/>
                <a:sym typeface="Public Sans"/>
              </a:rPr>
              <a:t>Operational timing</a:t>
            </a:r>
          </a:p>
        </p:txBody>
      </p:sp>
      <p:grpSp>
        <p:nvGrpSpPr>
          <p:cNvPr name="Group 11" id="11"/>
          <p:cNvGrpSpPr/>
          <p:nvPr/>
        </p:nvGrpSpPr>
        <p:grpSpPr>
          <a:xfrm rot="0">
            <a:off x="5277641" y="2257758"/>
            <a:ext cx="3789150" cy="1730140"/>
            <a:chOff x="0" y="0"/>
            <a:chExt cx="5052200" cy="2306853"/>
          </a:xfrm>
        </p:grpSpPr>
        <p:sp>
          <p:nvSpPr>
            <p:cNvPr name="Freeform 12" id="12"/>
            <p:cNvSpPr/>
            <p:nvPr/>
          </p:nvSpPr>
          <p:spPr>
            <a:xfrm flipH="false" flipV="false" rot="0">
              <a:off x="0" y="0"/>
              <a:ext cx="5052187" cy="2306828"/>
            </a:xfrm>
            <a:custGeom>
              <a:avLst/>
              <a:gdLst/>
              <a:ahLst/>
              <a:cxnLst/>
              <a:rect r="r" b="b" t="t" l="l"/>
              <a:pathLst>
                <a:path h="2306828" w="5052187">
                  <a:moveTo>
                    <a:pt x="0" y="384429"/>
                  </a:moveTo>
                  <a:cubicBezTo>
                    <a:pt x="0" y="172085"/>
                    <a:pt x="172085" y="0"/>
                    <a:pt x="384429" y="0"/>
                  </a:cubicBezTo>
                  <a:lnTo>
                    <a:pt x="4667758" y="0"/>
                  </a:lnTo>
                  <a:cubicBezTo>
                    <a:pt x="4880102" y="0"/>
                    <a:pt x="5052187" y="172085"/>
                    <a:pt x="5052187" y="384429"/>
                  </a:cubicBezTo>
                  <a:lnTo>
                    <a:pt x="5052187" y="1922399"/>
                  </a:lnTo>
                  <a:cubicBezTo>
                    <a:pt x="5052187" y="2134743"/>
                    <a:pt x="4880102" y="2306828"/>
                    <a:pt x="4667758" y="2306828"/>
                  </a:cubicBezTo>
                  <a:lnTo>
                    <a:pt x="384429" y="2306828"/>
                  </a:lnTo>
                  <a:cubicBezTo>
                    <a:pt x="172085" y="2306828"/>
                    <a:pt x="0" y="2134743"/>
                    <a:pt x="0" y="1922399"/>
                  </a:cubicBezTo>
                  <a:close/>
                </a:path>
              </a:pathLst>
            </a:custGeom>
            <a:solidFill>
              <a:srgbClr val="2B2C30"/>
            </a:solidFill>
            <a:ln w="14299" cap="sq">
              <a:solidFill>
                <a:srgbClr val="D2D8DE"/>
              </a:solidFill>
              <a:prstDash val="solid"/>
              <a:miter/>
            </a:ln>
          </p:spPr>
        </p:sp>
      </p:grpSp>
      <p:grpSp>
        <p:nvGrpSpPr>
          <p:cNvPr name="Group 13" id="13"/>
          <p:cNvGrpSpPr/>
          <p:nvPr/>
        </p:nvGrpSpPr>
        <p:grpSpPr>
          <a:xfrm rot="0">
            <a:off x="5284784" y="2264912"/>
            <a:ext cx="96088" cy="1715843"/>
            <a:chOff x="0" y="0"/>
            <a:chExt cx="128118" cy="2287791"/>
          </a:xfrm>
        </p:grpSpPr>
        <p:sp>
          <p:nvSpPr>
            <p:cNvPr name="Freeform 14" id="14"/>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EFEEE7"/>
            </a:solidFill>
          </p:spPr>
        </p:sp>
      </p:grpSp>
      <p:sp>
        <p:nvSpPr>
          <p:cNvPr name="TextBox 15" id="15"/>
          <p:cNvSpPr txBox="true"/>
          <p:nvPr/>
        </p:nvSpPr>
        <p:spPr>
          <a:xfrm rot="0">
            <a:off x="5678214" y="2548185"/>
            <a:ext cx="3111532" cy="371475"/>
          </a:xfrm>
          <a:prstGeom prst="rect">
            <a:avLst/>
          </a:prstGeom>
        </p:spPr>
        <p:txBody>
          <a:bodyPr anchor="t" rtlCol="false" tIns="0" lIns="0" bIns="0" rIns="0">
            <a:spAutoFit/>
          </a:bodyPr>
          <a:lstStyle/>
          <a:p>
            <a:pPr algn="l">
              <a:lnSpc>
                <a:spcPts val="2882"/>
              </a:lnSpc>
            </a:pPr>
            <a:r>
              <a:rPr lang="en-US" b="true" sz="2401" spc="12">
                <a:solidFill>
                  <a:srgbClr val="EFEEE7"/>
                </a:solidFill>
                <a:latin typeface="Public Sans Bold"/>
                <a:ea typeface="Public Sans Bold"/>
                <a:cs typeface="Public Sans Bold"/>
                <a:sym typeface="Public Sans Bold"/>
              </a:rPr>
              <a:t>Crew Readiness</a:t>
            </a:r>
          </a:p>
        </p:txBody>
      </p:sp>
      <p:sp>
        <p:nvSpPr>
          <p:cNvPr name="TextBox 16" id="16"/>
          <p:cNvSpPr txBox="true"/>
          <p:nvPr/>
        </p:nvSpPr>
        <p:spPr>
          <a:xfrm rot="0">
            <a:off x="5678214" y="3289430"/>
            <a:ext cx="3070355" cy="257175"/>
          </a:xfrm>
          <a:prstGeom prst="rect">
            <a:avLst/>
          </a:prstGeom>
        </p:spPr>
        <p:txBody>
          <a:bodyPr anchor="t" rtlCol="false" tIns="0" lIns="0" bIns="0" rIns="0">
            <a:spAutoFit/>
          </a:bodyPr>
          <a:lstStyle/>
          <a:p>
            <a:pPr algn="l">
              <a:lnSpc>
                <a:spcPts val="1981"/>
              </a:lnSpc>
            </a:pPr>
            <a:r>
              <a:rPr lang="en-US" sz="1651">
                <a:solidFill>
                  <a:srgbClr val="EFEEE7"/>
                </a:solidFill>
                <a:latin typeface="Public Sans"/>
                <a:ea typeface="Public Sans"/>
                <a:cs typeface="Public Sans"/>
                <a:sym typeface="Public Sans"/>
              </a:rPr>
              <a:t>Availability and readiness</a:t>
            </a:r>
          </a:p>
        </p:txBody>
      </p:sp>
      <p:grpSp>
        <p:nvGrpSpPr>
          <p:cNvPr name="Group 17" id="17"/>
          <p:cNvGrpSpPr/>
          <p:nvPr/>
        </p:nvGrpSpPr>
        <p:grpSpPr>
          <a:xfrm rot="0">
            <a:off x="9532925" y="2257758"/>
            <a:ext cx="3789150" cy="1730140"/>
            <a:chOff x="0" y="0"/>
            <a:chExt cx="5052200" cy="2306853"/>
          </a:xfrm>
        </p:grpSpPr>
        <p:sp>
          <p:nvSpPr>
            <p:cNvPr name="Freeform 18" id="18"/>
            <p:cNvSpPr/>
            <p:nvPr/>
          </p:nvSpPr>
          <p:spPr>
            <a:xfrm flipH="false" flipV="false" rot="0">
              <a:off x="0" y="0"/>
              <a:ext cx="5052187" cy="2306828"/>
            </a:xfrm>
            <a:custGeom>
              <a:avLst/>
              <a:gdLst/>
              <a:ahLst/>
              <a:cxnLst/>
              <a:rect r="r" b="b" t="t" l="l"/>
              <a:pathLst>
                <a:path h="2306828" w="5052187">
                  <a:moveTo>
                    <a:pt x="0" y="384429"/>
                  </a:moveTo>
                  <a:cubicBezTo>
                    <a:pt x="0" y="172085"/>
                    <a:pt x="172085" y="0"/>
                    <a:pt x="384429" y="0"/>
                  </a:cubicBezTo>
                  <a:lnTo>
                    <a:pt x="4667758" y="0"/>
                  </a:lnTo>
                  <a:cubicBezTo>
                    <a:pt x="4880102" y="0"/>
                    <a:pt x="5052187" y="172085"/>
                    <a:pt x="5052187" y="384429"/>
                  </a:cubicBezTo>
                  <a:lnTo>
                    <a:pt x="5052187" y="1922399"/>
                  </a:lnTo>
                  <a:cubicBezTo>
                    <a:pt x="5052187" y="2134743"/>
                    <a:pt x="4880102" y="2306828"/>
                    <a:pt x="4667758" y="2306828"/>
                  </a:cubicBezTo>
                  <a:lnTo>
                    <a:pt x="384429" y="2306828"/>
                  </a:lnTo>
                  <a:cubicBezTo>
                    <a:pt x="172085" y="2306828"/>
                    <a:pt x="0" y="2134743"/>
                    <a:pt x="0" y="1922399"/>
                  </a:cubicBezTo>
                  <a:close/>
                </a:path>
              </a:pathLst>
            </a:custGeom>
            <a:solidFill>
              <a:srgbClr val="2B2C30"/>
            </a:solidFill>
            <a:ln w="14299" cap="sq">
              <a:solidFill>
                <a:srgbClr val="D2D8DE"/>
              </a:solidFill>
              <a:prstDash val="solid"/>
              <a:miter/>
            </a:ln>
          </p:spPr>
        </p:sp>
      </p:grpSp>
      <p:grpSp>
        <p:nvGrpSpPr>
          <p:cNvPr name="Group 19" id="19"/>
          <p:cNvGrpSpPr/>
          <p:nvPr/>
        </p:nvGrpSpPr>
        <p:grpSpPr>
          <a:xfrm rot="0">
            <a:off x="9540069" y="2264912"/>
            <a:ext cx="96088" cy="1715843"/>
            <a:chOff x="0" y="0"/>
            <a:chExt cx="128118" cy="2287791"/>
          </a:xfrm>
        </p:grpSpPr>
        <p:sp>
          <p:nvSpPr>
            <p:cNvPr name="Freeform 20" id="20"/>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EFEEE7"/>
            </a:solidFill>
          </p:spPr>
        </p:sp>
      </p:grpSp>
      <p:sp>
        <p:nvSpPr>
          <p:cNvPr name="TextBox 21" id="21"/>
          <p:cNvSpPr txBox="true"/>
          <p:nvPr/>
        </p:nvSpPr>
        <p:spPr>
          <a:xfrm rot="0">
            <a:off x="9933499" y="2548185"/>
            <a:ext cx="3111532" cy="361950"/>
          </a:xfrm>
          <a:prstGeom prst="rect">
            <a:avLst/>
          </a:prstGeom>
        </p:spPr>
        <p:txBody>
          <a:bodyPr anchor="t" rtlCol="false" tIns="0" lIns="0" bIns="0" rIns="0">
            <a:spAutoFit/>
          </a:bodyPr>
          <a:lstStyle/>
          <a:p>
            <a:pPr algn="l">
              <a:lnSpc>
                <a:spcPts val="2846"/>
              </a:lnSpc>
            </a:pPr>
            <a:r>
              <a:rPr lang="en-US" b="true" sz="2371" spc="11">
                <a:solidFill>
                  <a:srgbClr val="EFEEE7"/>
                </a:solidFill>
                <a:latin typeface="Public Sans Bold"/>
                <a:ea typeface="Public Sans Bold"/>
                <a:cs typeface="Public Sans Bold"/>
                <a:sym typeface="Public Sans Bold"/>
              </a:rPr>
              <a:t>Travel &amp; Connections</a:t>
            </a:r>
          </a:p>
        </p:txBody>
      </p:sp>
      <p:sp>
        <p:nvSpPr>
          <p:cNvPr name="TextBox 22" id="22"/>
          <p:cNvSpPr txBox="true"/>
          <p:nvPr/>
        </p:nvSpPr>
        <p:spPr>
          <a:xfrm rot="0">
            <a:off x="9933499" y="3289430"/>
            <a:ext cx="3070355" cy="257175"/>
          </a:xfrm>
          <a:prstGeom prst="rect">
            <a:avLst/>
          </a:prstGeom>
        </p:spPr>
        <p:txBody>
          <a:bodyPr anchor="t" rtlCol="false" tIns="0" lIns="0" bIns="0" rIns="0">
            <a:spAutoFit/>
          </a:bodyPr>
          <a:lstStyle/>
          <a:p>
            <a:pPr algn="l">
              <a:lnSpc>
                <a:spcPts val="1981"/>
              </a:lnSpc>
            </a:pPr>
            <a:r>
              <a:rPr lang="en-US" sz="1651">
                <a:solidFill>
                  <a:srgbClr val="EFEEE7"/>
                </a:solidFill>
                <a:latin typeface="Public Sans"/>
                <a:ea typeface="Public Sans"/>
                <a:cs typeface="Public Sans"/>
                <a:sym typeface="Public Sans"/>
              </a:rPr>
              <a:t>Flights and connections</a:t>
            </a:r>
          </a:p>
        </p:txBody>
      </p:sp>
      <p:grpSp>
        <p:nvGrpSpPr>
          <p:cNvPr name="Group 23" id="23"/>
          <p:cNvGrpSpPr/>
          <p:nvPr/>
        </p:nvGrpSpPr>
        <p:grpSpPr>
          <a:xfrm rot="0">
            <a:off x="13788209" y="2257758"/>
            <a:ext cx="3789150" cy="1730140"/>
            <a:chOff x="0" y="0"/>
            <a:chExt cx="5052200" cy="2306853"/>
          </a:xfrm>
        </p:grpSpPr>
        <p:sp>
          <p:nvSpPr>
            <p:cNvPr name="Freeform 24" id="24"/>
            <p:cNvSpPr/>
            <p:nvPr/>
          </p:nvSpPr>
          <p:spPr>
            <a:xfrm flipH="false" flipV="false" rot="0">
              <a:off x="0" y="0"/>
              <a:ext cx="5052187" cy="2306828"/>
            </a:xfrm>
            <a:custGeom>
              <a:avLst/>
              <a:gdLst/>
              <a:ahLst/>
              <a:cxnLst/>
              <a:rect r="r" b="b" t="t" l="l"/>
              <a:pathLst>
                <a:path h="2306828" w="5052187">
                  <a:moveTo>
                    <a:pt x="0" y="384429"/>
                  </a:moveTo>
                  <a:cubicBezTo>
                    <a:pt x="0" y="172085"/>
                    <a:pt x="172085" y="0"/>
                    <a:pt x="384429" y="0"/>
                  </a:cubicBezTo>
                  <a:lnTo>
                    <a:pt x="4667758" y="0"/>
                  </a:lnTo>
                  <a:cubicBezTo>
                    <a:pt x="4880102" y="0"/>
                    <a:pt x="5052187" y="172085"/>
                    <a:pt x="5052187" y="384429"/>
                  </a:cubicBezTo>
                  <a:lnTo>
                    <a:pt x="5052187" y="1922399"/>
                  </a:lnTo>
                  <a:cubicBezTo>
                    <a:pt x="5052187" y="2134743"/>
                    <a:pt x="4880102" y="2306828"/>
                    <a:pt x="4667758" y="2306828"/>
                  </a:cubicBezTo>
                  <a:lnTo>
                    <a:pt x="384429" y="2306828"/>
                  </a:lnTo>
                  <a:cubicBezTo>
                    <a:pt x="172085" y="2306828"/>
                    <a:pt x="0" y="2134743"/>
                    <a:pt x="0" y="1922399"/>
                  </a:cubicBezTo>
                  <a:close/>
                </a:path>
              </a:pathLst>
            </a:custGeom>
            <a:solidFill>
              <a:srgbClr val="2B2C30"/>
            </a:solidFill>
            <a:ln w="14299" cap="sq">
              <a:solidFill>
                <a:srgbClr val="D2D8DE"/>
              </a:solidFill>
              <a:prstDash val="solid"/>
              <a:miter/>
            </a:ln>
          </p:spPr>
        </p:sp>
      </p:grpSp>
      <p:grpSp>
        <p:nvGrpSpPr>
          <p:cNvPr name="Group 25" id="25"/>
          <p:cNvGrpSpPr/>
          <p:nvPr/>
        </p:nvGrpSpPr>
        <p:grpSpPr>
          <a:xfrm rot="0">
            <a:off x="13795362" y="2264912"/>
            <a:ext cx="96088" cy="1715843"/>
            <a:chOff x="0" y="0"/>
            <a:chExt cx="128118" cy="2287791"/>
          </a:xfrm>
        </p:grpSpPr>
        <p:sp>
          <p:nvSpPr>
            <p:cNvPr name="Freeform 26" id="26"/>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EFEEE7"/>
            </a:solidFill>
          </p:spPr>
        </p:sp>
      </p:grpSp>
      <p:sp>
        <p:nvSpPr>
          <p:cNvPr name="TextBox 27" id="27"/>
          <p:cNvSpPr txBox="true"/>
          <p:nvPr/>
        </p:nvSpPr>
        <p:spPr>
          <a:xfrm rot="0">
            <a:off x="14188783" y="2548185"/>
            <a:ext cx="3111532" cy="371475"/>
          </a:xfrm>
          <a:prstGeom prst="rect">
            <a:avLst/>
          </a:prstGeom>
        </p:spPr>
        <p:txBody>
          <a:bodyPr anchor="t" rtlCol="false" tIns="0" lIns="0" bIns="0" rIns="0">
            <a:spAutoFit/>
          </a:bodyPr>
          <a:lstStyle/>
          <a:p>
            <a:pPr algn="l">
              <a:lnSpc>
                <a:spcPts val="2882"/>
              </a:lnSpc>
            </a:pPr>
            <a:r>
              <a:rPr lang="en-US" b="true" sz="2401" spc="12">
                <a:solidFill>
                  <a:srgbClr val="EFEEE7"/>
                </a:solidFill>
                <a:latin typeface="Public Sans Bold"/>
                <a:ea typeface="Public Sans Bold"/>
                <a:cs typeface="Public Sans Bold"/>
                <a:sym typeface="Public Sans Bold"/>
              </a:rPr>
              <a:t>External Disruptions</a:t>
            </a:r>
          </a:p>
        </p:txBody>
      </p:sp>
      <p:sp>
        <p:nvSpPr>
          <p:cNvPr name="TextBox 28" id="28"/>
          <p:cNvSpPr txBox="true"/>
          <p:nvPr/>
        </p:nvSpPr>
        <p:spPr>
          <a:xfrm rot="0">
            <a:off x="14188783" y="3289430"/>
            <a:ext cx="3070355" cy="257175"/>
          </a:xfrm>
          <a:prstGeom prst="rect">
            <a:avLst/>
          </a:prstGeom>
        </p:spPr>
        <p:txBody>
          <a:bodyPr anchor="t" rtlCol="false" tIns="0" lIns="0" bIns="0" rIns="0">
            <a:spAutoFit/>
          </a:bodyPr>
          <a:lstStyle/>
          <a:p>
            <a:pPr algn="l">
              <a:lnSpc>
                <a:spcPts val="1981"/>
              </a:lnSpc>
            </a:pPr>
            <a:r>
              <a:rPr lang="en-US" sz="1651">
                <a:solidFill>
                  <a:srgbClr val="EFEEE7"/>
                </a:solidFill>
                <a:latin typeface="Public Sans"/>
                <a:ea typeface="Public Sans"/>
                <a:cs typeface="Public Sans"/>
                <a:sym typeface="Public Sans"/>
              </a:rPr>
              <a:t>Weather and airport context</a:t>
            </a:r>
          </a:p>
        </p:txBody>
      </p:sp>
      <p:sp>
        <p:nvSpPr>
          <p:cNvPr name="TextBox 29" id="29"/>
          <p:cNvSpPr txBox="true"/>
          <p:nvPr/>
        </p:nvSpPr>
        <p:spPr>
          <a:xfrm rot="0">
            <a:off x="2974048" y="4634646"/>
            <a:ext cx="12308443" cy="419100"/>
          </a:xfrm>
          <a:prstGeom prst="rect">
            <a:avLst/>
          </a:prstGeom>
        </p:spPr>
        <p:txBody>
          <a:bodyPr anchor="t" rtlCol="false" tIns="0" lIns="0" bIns="0" rIns="0">
            <a:spAutoFit/>
          </a:bodyPr>
          <a:lstStyle/>
          <a:p>
            <a:pPr algn="ctr">
              <a:lnSpc>
                <a:spcPts val="3242"/>
              </a:lnSpc>
            </a:pPr>
            <a:r>
              <a:rPr lang="en-US" b="true" sz="2702" spc="13">
                <a:solidFill>
                  <a:srgbClr val="2B2C30"/>
                </a:solidFill>
                <a:latin typeface="Public Sans Bold"/>
                <a:ea typeface="Public Sans Bold"/>
                <a:cs typeface="Public Sans Bold"/>
                <a:sym typeface="Public Sans Bold"/>
              </a:rPr>
              <a:t>MULTIPLE INTERCONNECTED SIGNALS</a:t>
            </a:r>
          </a:p>
        </p:txBody>
      </p:sp>
      <p:sp>
        <p:nvSpPr>
          <p:cNvPr name="TextBox 30" id="30"/>
          <p:cNvSpPr txBox="true"/>
          <p:nvPr/>
        </p:nvSpPr>
        <p:spPr>
          <a:xfrm rot="0">
            <a:off x="8824144" y="5279803"/>
            <a:ext cx="608261" cy="600075"/>
          </a:xfrm>
          <a:prstGeom prst="rect">
            <a:avLst/>
          </a:prstGeom>
        </p:spPr>
        <p:txBody>
          <a:bodyPr anchor="t" rtlCol="false" tIns="0" lIns="0" bIns="0" rIns="0">
            <a:spAutoFit/>
          </a:bodyPr>
          <a:lstStyle/>
          <a:p>
            <a:pPr algn="ctr">
              <a:lnSpc>
                <a:spcPts val="4683"/>
              </a:lnSpc>
            </a:pPr>
            <a:r>
              <a:rPr lang="en-US" b="true" sz="3903" spc="885">
                <a:solidFill>
                  <a:srgbClr val="2B2C30"/>
                </a:solidFill>
                <a:latin typeface="Public Sans Bold"/>
                <a:ea typeface="Public Sans Bold"/>
                <a:cs typeface="Public Sans Bold"/>
                <a:sym typeface="Public Sans Bold"/>
              </a:rPr>
              <a:t>↓</a:t>
            </a:r>
          </a:p>
        </p:txBody>
      </p:sp>
      <p:sp>
        <p:nvSpPr>
          <p:cNvPr name="TextBox 31" id="31"/>
          <p:cNvSpPr txBox="true"/>
          <p:nvPr/>
        </p:nvSpPr>
        <p:spPr>
          <a:xfrm rot="0">
            <a:off x="2974048" y="6007322"/>
            <a:ext cx="12308443" cy="495300"/>
          </a:xfrm>
          <a:prstGeom prst="rect">
            <a:avLst/>
          </a:prstGeom>
        </p:spPr>
        <p:txBody>
          <a:bodyPr anchor="t" rtlCol="false" tIns="0" lIns="0" bIns="0" rIns="0">
            <a:spAutoFit/>
          </a:bodyPr>
          <a:lstStyle/>
          <a:p>
            <a:pPr algn="ctr">
              <a:lnSpc>
                <a:spcPts val="3891"/>
              </a:lnSpc>
            </a:pPr>
            <a:r>
              <a:rPr lang="en-US" b="true" sz="3242" spc="736">
                <a:solidFill>
                  <a:srgbClr val="2B2C30"/>
                </a:solidFill>
                <a:latin typeface="Public Sans Bold"/>
                <a:ea typeface="Public Sans Bold"/>
                <a:cs typeface="Public Sans Bold"/>
                <a:sym typeface="Public Sans Bold"/>
              </a:rPr>
              <a:t>WHICH CASES REQUIRE ATTENTION FIRST?</a:t>
            </a:r>
          </a:p>
        </p:txBody>
      </p:sp>
      <p:sp>
        <p:nvSpPr>
          <p:cNvPr name="TextBox 32" id="32"/>
          <p:cNvSpPr txBox="true"/>
          <p:nvPr/>
        </p:nvSpPr>
        <p:spPr>
          <a:xfrm rot="0">
            <a:off x="1738646" y="7242724"/>
            <a:ext cx="14779247" cy="733425"/>
          </a:xfrm>
          <a:prstGeom prst="rect">
            <a:avLst/>
          </a:prstGeom>
        </p:spPr>
        <p:txBody>
          <a:bodyPr anchor="t" rtlCol="false" tIns="0" lIns="0" bIns="0" rIns="0">
            <a:spAutoFit/>
          </a:bodyPr>
          <a:lstStyle/>
          <a:p>
            <a:pPr algn="ctr">
              <a:lnSpc>
                <a:spcPts val="2882"/>
              </a:lnSpc>
            </a:pPr>
            <a:r>
              <a:rPr lang="en-US" sz="2401">
                <a:solidFill>
                  <a:srgbClr val="2B2C30"/>
                </a:solidFill>
                <a:latin typeface="Public Sans"/>
                <a:ea typeface="Public Sans"/>
                <a:cs typeface="Public Sans"/>
                <a:sym typeface="Public Sans"/>
              </a:rPr>
              <a:t>Crew Managers must review multiple upcoming crew-change cases and determine which ones require attention first — often by combining information from different sources.</a:t>
            </a:r>
          </a:p>
        </p:txBody>
      </p:sp>
      <p:sp>
        <p:nvSpPr>
          <p:cNvPr name="TextBox 33" id="33"/>
          <p:cNvSpPr txBox="true"/>
          <p:nvPr/>
        </p:nvSpPr>
        <p:spPr>
          <a:xfrm rot="0">
            <a:off x="1601381" y="8478126"/>
            <a:ext cx="15053786" cy="390525"/>
          </a:xfrm>
          <a:prstGeom prst="rect">
            <a:avLst/>
          </a:prstGeom>
        </p:spPr>
        <p:txBody>
          <a:bodyPr anchor="t" rtlCol="false" tIns="0" lIns="0" bIns="0" rIns="0">
            <a:spAutoFit/>
          </a:bodyPr>
          <a:lstStyle/>
          <a:p>
            <a:pPr algn="ctr">
              <a:lnSpc>
                <a:spcPts val="3062"/>
              </a:lnSpc>
            </a:pPr>
            <a:r>
              <a:rPr lang="en-US" sz="2551">
                <a:solidFill>
                  <a:srgbClr val="2B2C30"/>
                </a:solidFill>
                <a:latin typeface="Public Sans"/>
                <a:ea typeface="Public Sans"/>
                <a:cs typeface="Public Sans"/>
                <a:sym typeface="Public Sans"/>
              </a:rPr>
              <a:t>The challenge is not simply a lack of information — it is knowing where human attention is needed.</a:t>
            </a:r>
          </a:p>
        </p:txBody>
      </p:sp>
      <p:sp>
        <p:nvSpPr>
          <p:cNvPr name="TextBox 34" id="34"/>
          <p:cNvSpPr txBox="true"/>
          <p:nvPr/>
        </p:nvSpPr>
        <p:spPr>
          <a:xfrm rot="0">
            <a:off x="1052312" y="9754714"/>
            <a:ext cx="2058442" cy="209550"/>
          </a:xfrm>
          <a:prstGeom prst="rect">
            <a:avLst/>
          </a:prstGeom>
        </p:spPr>
        <p:txBody>
          <a:bodyPr anchor="t" rtlCol="false" tIns="0" lIns="0" bIns="0" rIns="0">
            <a:spAutoFit/>
          </a:bodyPr>
          <a:lstStyle/>
          <a:p>
            <a:pPr algn="l">
              <a:lnSpc>
                <a:spcPts val="1621"/>
              </a:lnSpc>
            </a:pPr>
            <a:r>
              <a:rPr lang="en-US" sz="1351">
                <a:solidFill>
                  <a:srgbClr val="2B2C30"/>
                </a:solidFill>
                <a:latin typeface="Public Sans"/>
                <a:ea typeface="Public Sans"/>
                <a:cs typeface="Public Sans"/>
                <a:sym typeface="Public Sans"/>
              </a:rPr>
              <a:t>Crew Change Risk Copilot</a:t>
            </a:r>
          </a:p>
        </p:txBody>
      </p:sp>
      <p:sp>
        <p:nvSpPr>
          <p:cNvPr name="TextBox 35" id="35"/>
          <p:cNvSpPr txBox="true"/>
          <p:nvPr/>
        </p:nvSpPr>
        <p:spPr>
          <a:xfrm rot="0">
            <a:off x="17101982" y="9754714"/>
            <a:ext cx="102245" cy="209550"/>
          </a:xfrm>
          <a:prstGeom prst="rect">
            <a:avLst/>
          </a:prstGeom>
        </p:spPr>
        <p:txBody>
          <a:bodyPr anchor="t" rtlCol="false" tIns="0" lIns="0" bIns="0" rIns="0">
            <a:spAutoFit/>
          </a:bodyPr>
          <a:lstStyle/>
          <a:p>
            <a:pPr algn="r">
              <a:lnSpc>
                <a:spcPts val="1621"/>
              </a:lnSpc>
            </a:pPr>
            <a:r>
              <a:rPr lang="en-US" sz="1351">
                <a:solidFill>
                  <a:srgbClr val="2B2C30"/>
                </a:solidFill>
                <a:latin typeface="Public Sans"/>
                <a:ea typeface="Public Sans"/>
                <a:cs typeface="Public Sans"/>
                <a:sym typeface="Public Sans"/>
              </a:rPr>
              <a:t>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52312" y="653901"/>
            <a:ext cx="17108239" cy="495300"/>
          </a:xfrm>
          <a:prstGeom prst="rect">
            <a:avLst/>
          </a:prstGeom>
        </p:spPr>
        <p:txBody>
          <a:bodyPr anchor="t" rtlCol="false" tIns="0" lIns="0" bIns="0" rIns="0">
            <a:spAutoFit/>
          </a:bodyPr>
          <a:lstStyle/>
          <a:p>
            <a:pPr algn="l">
              <a:lnSpc>
                <a:spcPts val="3873"/>
              </a:lnSpc>
            </a:pPr>
            <a:r>
              <a:rPr lang="en-US" b="true" sz="3227" spc="732">
                <a:solidFill>
                  <a:srgbClr val="2B2C30"/>
                </a:solidFill>
                <a:latin typeface="Public Sans Bold"/>
                <a:ea typeface="Public Sans Bold"/>
                <a:cs typeface="Public Sans Bold"/>
                <a:sym typeface="Public Sans Bold"/>
              </a:rPr>
              <a:t>FROM INITIAL CONCEPT TO A CLEAR IMPLEMENTATION PATH</a:t>
            </a:r>
          </a:p>
        </p:txBody>
      </p:sp>
      <p:grpSp>
        <p:nvGrpSpPr>
          <p:cNvPr name="Group 3" id="3"/>
          <p:cNvGrpSpPr/>
          <p:nvPr/>
        </p:nvGrpSpPr>
        <p:grpSpPr>
          <a:xfrm rot="0">
            <a:off x="960872" y="1509941"/>
            <a:ext cx="1509941" cy="68637"/>
            <a:chOff x="0" y="0"/>
            <a:chExt cx="2013255" cy="91516"/>
          </a:xfrm>
        </p:grpSpPr>
        <p:sp>
          <p:nvSpPr>
            <p:cNvPr name="Freeform 4" id="4"/>
            <p:cNvSpPr/>
            <p:nvPr/>
          </p:nvSpPr>
          <p:spPr>
            <a:xfrm flipH="false" flipV="false" rot="0">
              <a:off x="0" y="0"/>
              <a:ext cx="2013204" cy="91567"/>
            </a:xfrm>
            <a:custGeom>
              <a:avLst/>
              <a:gdLst/>
              <a:ahLst/>
              <a:cxnLst/>
              <a:rect r="r" b="b" t="t" l="l"/>
              <a:pathLst>
                <a:path h="91567" w="2013204">
                  <a:moveTo>
                    <a:pt x="0" y="0"/>
                  </a:moveTo>
                  <a:lnTo>
                    <a:pt x="2013204" y="0"/>
                  </a:lnTo>
                  <a:lnTo>
                    <a:pt x="2013204" y="91567"/>
                  </a:lnTo>
                  <a:lnTo>
                    <a:pt x="0" y="91567"/>
                  </a:lnTo>
                  <a:close/>
                </a:path>
              </a:pathLst>
            </a:custGeom>
            <a:solidFill>
              <a:srgbClr val="2B2C30"/>
            </a:solidFill>
          </p:spPr>
        </p:sp>
      </p:grpSp>
      <p:grpSp>
        <p:nvGrpSpPr>
          <p:cNvPr name="Group 5" id="5"/>
          <p:cNvGrpSpPr/>
          <p:nvPr/>
        </p:nvGrpSpPr>
        <p:grpSpPr>
          <a:xfrm rot="0">
            <a:off x="610552" y="2738199"/>
            <a:ext cx="3102807" cy="3377346"/>
            <a:chOff x="0" y="0"/>
            <a:chExt cx="4137076" cy="4503128"/>
          </a:xfrm>
        </p:grpSpPr>
        <p:sp>
          <p:nvSpPr>
            <p:cNvPr name="Freeform 6" id="6"/>
            <p:cNvSpPr/>
            <p:nvPr/>
          </p:nvSpPr>
          <p:spPr>
            <a:xfrm flipH="false" flipV="false" rot="0">
              <a:off x="0" y="0"/>
              <a:ext cx="4137025" cy="4503039"/>
            </a:xfrm>
            <a:custGeom>
              <a:avLst/>
              <a:gdLst/>
              <a:ahLst/>
              <a:cxnLst/>
              <a:rect r="r" b="b" t="t" l="l"/>
              <a:pathLst>
                <a:path h="4503039" w="4137025">
                  <a:moveTo>
                    <a:pt x="0" y="689483"/>
                  </a:moveTo>
                  <a:cubicBezTo>
                    <a:pt x="0" y="308737"/>
                    <a:pt x="308737" y="0"/>
                    <a:pt x="689483" y="0"/>
                  </a:cubicBezTo>
                  <a:lnTo>
                    <a:pt x="3447542" y="0"/>
                  </a:lnTo>
                  <a:cubicBezTo>
                    <a:pt x="3828415" y="0"/>
                    <a:pt x="4137025" y="308737"/>
                    <a:pt x="4137025" y="689483"/>
                  </a:cubicBezTo>
                  <a:lnTo>
                    <a:pt x="4137025" y="3813556"/>
                  </a:lnTo>
                  <a:cubicBezTo>
                    <a:pt x="4137025" y="4194429"/>
                    <a:pt x="3828288" y="4503039"/>
                    <a:pt x="3447542" y="4503039"/>
                  </a:cubicBezTo>
                  <a:lnTo>
                    <a:pt x="689483" y="4503039"/>
                  </a:lnTo>
                  <a:cubicBezTo>
                    <a:pt x="308737" y="4503166"/>
                    <a:pt x="0" y="4194429"/>
                    <a:pt x="0" y="3813556"/>
                  </a:cubicBezTo>
                  <a:close/>
                </a:path>
              </a:pathLst>
            </a:custGeom>
            <a:solidFill>
              <a:srgbClr val="2B2C30"/>
            </a:solidFill>
            <a:ln w="14299" cap="sq">
              <a:solidFill>
                <a:srgbClr val="D2D8DE"/>
              </a:solidFill>
              <a:prstDash val="solid"/>
              <a:miter/>
            </a:ln>
          </p:spPr>
        </p:sp>
      </p:grpSp>
      <p:grpSp>
        <p:nvGrpSpPr>
          <p:cNvPr name="Group 7" id="7"/>
          <p:cNvGrpSpPr/>
          <p:nvPr/>
        </p:nvGrpSpPr>
        <p:grpSpPr>
          <a:xfrm rot="0">
            <a:off x="617706" y="2745343"/>
            <a:ext cx="96088" cy="3363049"/>
            <a:chOff x="0" y="0"/>
            <a:chExt cx="128118" cy="4484065"/>
          </a:xfrm>
        </p:grpSpPr>
        <p:sp>
          <p:nvSpPr>
            <p:cNvPr name="Freeform 8" id="8"/>
            <p:cNvSpPr/>
            <p:nvPr/>
          </p:nvSpPr>
          <p:spPr>
            <a:xfrm flipH="false" flipV="false" rot="0">
              <a:off x="0" y="0"/>
              <a:ext cx="128143" cy="4484116"/>
            </a:xfrm>
            <a:custGeom>
              <a:avLst/>
              <a:gdLst/>
              <a:ahLst/>
              <a:cxnLst/>
              <a:rect r="r" b="b" t="t" l="l"/>
              <a:pathLst>
                <a:path h="4484116" w="128143">
                  <a:moveTo>
                    <a:pt x="0" y="0"/>
                  </a:moveTo>
                  <a:lnTo>
                    <a:pt x="128143" y="0"/>
                  </a:lnTo>
                  <a:lnTo>
                    <a:pt x="128143" y="4484116"/>
                  </a:lnTo>
                  <a:lnTo>
                    <a:pt x="0" y="4484116"/>
                  </a:lnTo>
                  <a:close/>
                </a:path>
              </a:pathLst>
            </a:custGeom>
            <a:solidFill>
              <a:srgbClr val="EFEEE7"/>
            </a:solidFill>
          </p:spPr>
        </p:sp>
      </p:grpSp>
      <p:sp>
        <p:nvSpPr>
          <p:cNvPr name="TextBox 9" id="9"/>
          <p:cNvSpPr txBox="true"/>
          <p:nvPr/>
        </p:nvSpPr>
        <p:spPr>
          <a:xfrm rot="0">
            <a:off x="1011126" y="3019092"/>
            <a:ext cx="2425198" cy="333375"/>
          </a:xfrm>
          <a:prstGeom prst="rect">
            <a:avLst/>
          </a:prstGeom>
        </p:spPr>
        <p:txBody>
          <a:bodyPr anchor="t" rtlCol="false" tIns="0" lIns="0" bIns="0" rIns="0">
            <a:spAutoFit/>
          </a:bodyPr>
          <a:lstStyle/>
          <a:p>
            <a:pPr algn="l">
              <a:lnSpc>
                <a:spcPts val="2521"/>
              </a:lnSpc>
            </a:pPr>
            <a:r>
              <a:rPr lang="en-US" sz="2101">
                <a:solidFill>
                  <a:srgbClr val="EFEEE7"/>
                </a:solidFill>
                <a:latin typeface="Public Sans"/>
                <a:ea typeface="Public Sans"/>
                <a:cs typeface="Public Sans"/>
                <a:sym typeface="Public Sans"/>
              </a:rPr>
              <a:t>1. IDENTIFY</a:t>
            </a:r>
          </a:p>
        </p:txBody>
      </p:sp>
      <p:sp>
        <p:nvSpPr>
          <p:cNvPr name="TextBox 10" id="10"/>
          <p:cNvSpPr txBox="true"/>
          <p:nvPr/>
        </p:nvSpPr>
        <p:spPr>
          <a:xfrm rot="0">
            <a:off x="1011126" y="3769862"/>
            <a:ext cx="2384022" cy="1000125"/>
          </a:xfrm>
          <a:prstGeom prst="rect">
            <a:avLst/>
          </a:prstGeom>
        </p:spPr>
        <p:txBody>
          <a:bodyPr anchor="t" rtlCol="false" tIns="0" lIns="0" bIns="0" rIns="0">
            <a:spAutoFit/>
          </a:bodyPr>
          <a:lstStyle/>
          <a:p>
            <a:pPr algn="l">
              <a:lnSpc>
                <a:spcPts val="1981"/>
              </a:lnSpc>
            </a:pPr>
            <a:r>
              <a:rPr lang="en-US" sz="1651">
                <a:solidFill>
                  <a:srgbClr val="EFEEE7"/>
                </a:solidFill>
                <a:latin typeface="Public Sans"/>
                <a:ea typeface="Public Sans"/>
                <a:cs typeface="Public Sans"/>
                <a:sym typeface="Public Sans"/>
              </a:rPr>
              <a:t>Crew-change operations selected as an AI decision-support opportunity</a:t>
            </a:r>
          </a:p>
        </p:txBody>
      </p:sp>
      <p:sp>
        <p:nvSpPr>
          <p:cNvPr name="TextBox 11" id="11"/>
          <p:cNvSpPr txBox="true"/>
          <p:nvPr/>
        </p:nvSpPr>
        <p:spPr>
          <a:xfrm rot="0">
            <a:off x="3719757" y="4144689"/>
            <a:ext cx="384721" cy="476250"/>
          </a:xfrm>
          <a:prstGeom prst="rect">
            <a:avLst/>
          </a:prstGeom>
        </p:spPr>
        <p:txBody>
          <a:bodyPr anchor="t" rtlCol="false" tIns="0" lIns="0" bIns="0" rIns="0">
            <a:spAutoFit/>
          </a:bodyPr>
          <a:lstStyle/>
          <a:p>
            <a:pPr algn="ctr">
              <a:lnSpc>
                <a:spcPts val="3616"/>
              </a:lnSpc>
            </a:pPr>
            <a:r>
              <a:rPr lang="en-US" b="true" sz="3013" spc="15">
                <a:solidFill>
                  <a:srgbClr val="2B2C30"/>
                </a:solidFill>
                <a:latin typeface="Public Sans Bold"/>
                <a:ea typeface="Public Sans Bold"/>
                <a:cs typeface="Public Sans Bold"/>
                <a:sym typeface="Public Sans Bold"/>
              </a:rPr>
              <a:t>→</a:t>
            </a:r>
          </a:p>
        </p:txBody>
      </p:sp>
      <p:grpSp>
        <p:nvGrpSpPr>
          <p:cNvPr name="Group 12" id="12"/>
          <p:cNvGrpSpPr/>
          <p:nvPr/>
        </p:nvGrpSpPr>
        <p:grpSpPr>
          <a:xfrm rot="0">
            <a:off x="4110866" y="2738199"/>
            <a:ext cx="3102807" cy="3377346"/>
            <a:chOff x="0" y="0"/>
            <a:chExt cx="4137076" cy="4503128"/>
          </a:xfrm>
        </p:grpSpPr>
        <p:sp>
          <p:nvSpPr>
            <p:cNvPr name="Freeform 13" id="13"/>
            <p:cNvSpPr/>
            <p:nvPr/>
          </p:nvSpPr>
          <p:spPr>
            <a:xfrm flipH="false" flipV="false" rot="0">
              <a:off x="0" y="0"/>
              <a:ext cx="4137025" cy="4503039"/>
            </a:xfrm>
            <a:custGeom>
              <a:avLst/>
              <a:gdLst/>
              <a:ahLst/>
              <a:cxnLst/>
              <a:rect r="r" b="b" t="t" l="l"/>
              <a:pathLst>
                <a:path h="4503039" w="4137025">
                  <a:moveTo>
                    <a:pt x="0" y="689483"/>
                  </a:moveTo>
                  <a:cubicBezTo>
                    <a:pt x="0" y="308737"/>
                    <a:pt x="308737" y="0"/>
                    <a:pt x="689483" y="0"/>
                  </a:cubicBezTo>
                  <a:lnTo>
                    <a:pt x="3447542" y="0"/>
                  </a:lnTo>
                  <a:cubicBezTo>
                    <a:pt x="3828415" y="0"/>
                    <a:pt x="4137025" y="308737"/>
                    <a:pt x="4137025" y="689483"/>
                  </a:cubicBezTo>
                  <a:lnTo>
                    <a:pt x="4137025" y="3813556"/>
                  </a:lnTo>
                  <a:cubicBezTo>
                    <a:pt x="4137025" y="4194429"/>
                    <a:pt x="3828288" y="4503039"/>
                    <a:pt x="3447542" y="4503039"/>
                  </a:cubicBezTo>
                  <a:lnTo>
                    <a:pt x="689483" y="4503039"/>
                  </a:lnTo>
                  <a:cubicBezTo>
                    <a:pt x="308737" y="4503166"/>
                    <a:pt x="0" y="4194429"/>
                    <a:pt x="0" y="3813556"/>
                  </a:cubicBezTo>
                  <a:close/>
                </a:path>
              </a:pathLst>
            </a:custGeom>
            <a:solidFill>
              <a:srgbClr val="2B2C30"/>
            </a:solidFill>
            <a:ln w="14299" cap="sq">
              <a:solidFill>
                <a:srgbClr val="D2D8DE"/>
              </a:solidFill>
              <a:prstDash val="solid"/>
              <a:miter/>
            </a:ln>
          </p:spPr>
        </p:sp>
      </p:grpSp>
      <p:grpSp>
        <p:nvGrpSpPr>
          <p:cNvPr name="Group 14" id="14"/>
          <p:cNvGrpSpPr/>
          <p:nvPr/>
        </p:nvGrpSpPr>
        <p:grpSpPr>
          <a:xfrm rot="0">
            <a:off x="4118019" y="2745343"/>
            <a:ext cx="96088" cy="3363049"/>
            <a:chOff x="0" y="0"/>
            <a:chExt cx="128118" cy="4484065"/>
          </a:xfrm>
        </p:grpSpPr>
        <p:sp>
          <p:nvSpPr>
            <p:cNvPr name="Freeform 15" id="15"/>
            <p:cNvSpPr/>
            <p:nvPr/>
          </p:nvSpPr>
          <p:spPr>
            <a:xfrm flipH="false" flipV="false" rot="0">
              <a:off x="0" y="0"/>
              <a:ext cx="128143" cy="4484116"/>
            </a:xfrm>
            <a:custGeom>
              <a:avLst/>
              <a:gdLst/>
              <a:ahLst/>
              <a:cxnLst/>
              <a:rect r="r" b="b" t="t" l="l"/>
              <a:pathLst>
                <a:path h="4484116" w="128143">
                  <a:moveTo>
                    <a:pt x="0" y="0"/>
                  </a:moveTo>
                  <a:lnTo>
                    <a:pt x="128143" y="0"/>
                  </a:lnTo>
                  <a:lnTo>
                    <a:pt x="128143" y="4484116"/>
                  </a:lnTo>
                  <a:lnTo>
                    <a:pt x="0" y="4484116"/>
                  </a:lnTo>
                  <a:close/>
                </a:path>
              </a:pathLst>
            </a:custGeom>
            <a:solidFill>
              <a:srgbClr val="EFEEE7"/>
            </a:solidFill>
          </p:spPr>
        </p:sp>
      </p:grpSp>
      <p:sp>
        <p:nvSpPr>
          <p:cNvPr name="TextBox 16" id="16"/>
          <p:cNvSpPr txBox="true"/>
          <p:nvPr/>
        </p:nvSpPr>
        <p:spPr>
          <a:xfrm rot="0">
            <a:off x="4511450" y="3019092"/>
            <a:ext cx="2425198" cy="333375"/>
          </a:xfrm>
          <a:prstGeom prst="rect">
            <a:avLst/>
          </a:prstGeom>
        </p:spPr>
        <p:txBody>
          <a:bodyPr anchor="t" rtlCol="false" tIns="0" lIns="0" bIns="0" rIns="0">
            <a:spAutoFit/>
          </a:bodyPr>
          <a:lstStyle/>
          <a:p>
            <a:pPr algn="l">
              <a:lnSpc>
                <a:spcPts val="2521"/>
              </a:lnSpc>
            </a:pPr>
            <a:r>
              <a:rPr lang="en-US" sz="2101">
                <a:solidFill>
                  <a:srgbClr val="EFEEE7"/>
                </a:solidFill>
                <a:latin typeface="Public Sans"/>
                <a:ea typeface="Public Sans"/>
                <a:cs typeface="Public Sans"/>
                <a:sym typeface="Public Sans"/>
              </a:rPr>
              <a:t>2. VALIDATE</a:t>
            </a:r>
          </a:p>
        </p:txBody>
      </p:sp>
      <p:sp>
        <p:nvSpPr>
          <p:cNvPr name="TextBox 17" id="17"/>
          <p:cNvSpPr txBox="true"/>
          <p:nvPr/>
        </p:nvSpPr>
        <p:spPr>
          <a:xfrm rot="0">
            <a:off x="4511450" y="3769862"/>
            <a:ext cx="2384022" cy="1000125"/>
          </a:xfrm>
          <a:prstGeom prst="rect">
            <a:avLst/>
          </a:prstGeom>
        </p:spPr>
        <p:txBody>
          <a:bodyPr anchor="t" rtlCol="false" tIns="0" lIns="0" bIns="0" rIns="0">
            <a:spAutoFit/>
          </a:bodyPr>
          <a:lstStyle/>
          <a:p>
            <a:pPr algn="l">
              <a:lnSpc>
                <a:spcPts val="1981"/>
              </a:lnSpc>
            </a:pPr>
            <a:r>
              <a:rPr lang="en-US" sz="1651">
                <a:solidFill>
                  <a:srgbClr val="EFEEE7"/>
                </a:solidFill>
                <a:latin typeface="Public Sans"/>
                <a:ea typeface="Public Sans"/>
                <a:cs typeface="Public Sans"/>
                <a:sym typeface="Public Sans"/>
              </a:rPr>
              <a:t>Proof of Concept demonstrated risk assessment + AI interpretation</a:t>
            </a:r>
          </a:p>
        </p:txBody>
      </p:sp>
      <p:sp>
        <p:nvSpPr>
          <p:cNvPr name="TextBox 18" id="18"/>
          <p:cNvSpPr txBox="true"/>
          <p:nvPr/>
        </p:nvSpPr>
        <p:spPr>
          <a:xfrm rot="0">
            <a:off x="7220071" y="4144689"/>
            <a:ext cx="384721" cy="476250"/>
          </a:xfrm>
          <a:prstGeom prst="rect">
            <a:avLst/>
          </a:prstGeom>
        </p:spPr>
        <p:txBody>
          <a:bodyPr anchor="t" rtlCol="false" tIns="0" lIns="0" bIns="0" rIns="0">
            <a:spAutoFit/>
          </a:bodyPr>
          <a:lstStyle/>
          <a:p>
            <a:pPr algn="ctr">
              <a:lnSpc>
                <a:spcPts val="3616"/>
              </a:lnSpc>
            </a:pPr>
            <a:r>
              <a:rPr lang="en-US" b="true" sz="3013" spc="15">
                <a:solidFill>
                  <a:srgbClr val="2B2C30"/>
                </a:solidFill>
                <a:latin typeface="Public Sans Bold"/>
                <a:ea typeface="Public Sans Bold"/>
                <a:cs typeface="Public Sans Bold"/>
                <a:sym typeface="Public Sans Bold"/>
              </a:rPr>
              <a:t>→</a:t>
            </a:r>
          </a:p>
        </p:txBody>
      </p:sp>
      <p:grpSp>
        <p:nvGrpSpPr>
          <p:cNvPr name="Group 19" id="19"/>
          <p:cNvGrpSpPr/>
          <p:nvPr/>
        </p:nvGrpSpPr>
        <p:grpSpPr>
          <a:xfrm rot="0">
            <a:off x="7611180" y="2738199"/>
            <a:ext cx="3102807" cy="3377346"/>
            <a:chOff x="0" y="0"/>
            <a:chExt cx="4137076" cy="4503128"/>
          </a:xfrm>
        </p:grpSpPr>
        <p:sp>
          <p:nvSpPr>
            <p:cNvPr name="Freeform 20" id="20"/>
            <p:cNvSpPr/>
            <p:nvPr/>
          </p:nvSpPr>
          <p:spPr>
            <a:xfrm flipH="false" flipV="false" rot="0">
              <a:off x="0" y="0"/>
              <a:ext cx="4137025" cy="4503039"/>
            </a:xfrm>
            <a:custGeom>
              <a:avLst/>
              <a:gdLst/>
              <a:ahLst/>
              <a:cxnLst/>
              <a:rect r="r" b="b" t="t" l="l"/>
              <a:pathLst>
                <a:path h="4503039" w="4137025">
                  <a:moveTo>
                    <a:pt x="0" y="689483"/>
                  </a:moveTo>
                  <a:cubicBezTo>
                    <a:pt x="0" y="308737"/>
                    <a:pt x="308737" y="0"/>
                    <a:pt x="689483" y="0"/>
                  </a:cubicBezTo>
                  <a:lnTo>
                    <a:pt x="3447542" y="0"/>
                  </a:lnTo>
                  <a:cubicBezTo>
                    <a:pt x="3828415" y="0"/>
                    <a:pt x="4137025" y="308737"/>
                    <a:pt x="4137025" y="689483"/>
                  </a:cubicBezTo>
                  <a:lnTo>
                    <a:pt x="4137025" y="3813556"/>
                  </a:lnTo>
                  <a:cubicBezTo>
                    <a:pt x="4137025" y="4194429"/>
                    <a:pt x="3828288" y="4503039"/>
                    <a:pt x="3447542" y="4503039"/>
                  </a:cubicBezTo>
                  <a:lnTo>
                    <a:pt x="689483" y="4503039"/>
                  </a:lnTo>
                  <a:cubicBezTo>
                    <a:pt x="308737" y="4503166"/>
                    <a:pt x="0" y="4194429"/>
                    <a:pt x="0" y="3813556"/>
                  </a:cubicBezTo>
                  <a:close/>
                </a:path>
              </a:pathLst>
            </a:custGeom>
            <a:solidFill>
              <a:srgbClr val="2B2C30"/>
            </a:solidFill>
            <a:ln w="14299" cap="sq">
              <a:solidFill>
                <a:srgbClr val="D2D8DE"/>
              </a:solidFill>
              <a:prstDash val="solid"/>
              <a:miter/>
            </a:ln>
          </p:spPr>
        </p:sp>
      </p:grpSp>
      <p:grpSp>
        <p:nvGrpSpPr>
          <p:cNvPr name="Group 21" id="21"/>
          <p:cNvGrpSpPr/>
          <p:nvPr/>
        </p:nvGrpSpPr>
        <p:grpSpPr>
          <a:xfrm rot="0">
            <a:off x="7618333" y="2745343"/>
            <a:ext cx="96088" cy="3363049"/>
            <a:chOff x="0" y="0"/>
            <a:chExt cx="128118" cy="4484065"/>
          </a:xfrm>
        </p:grpSpPr>
        <p:sp>
          <p:nvSpPr>
            <p:cNvPr name="Freeform 22" id="22"/>
            <p:cNvSpPr/>
            <p:nvPr/>
          </p:nvSpPr>
          <p:spPr>
            <a:xfrm flipH="false" flipV="false" rot="0">
              <a:off x="0" y="0"/>
              <a:ext cx="128143" cy="4484116"/>
            </a:xfrm>
            <a:custGeom>
              <a:avLst/>
              <a:gdLst/>
              <a:ahLst/>
              <a:cxnLst/>
              <a:rect r="r" b="b" t="t" l="l"/>
              <a:pathLst>
                <a:path h="4484116" w="128143">
                  <a:moveTo>
                    <a:pt x="0" y="0"/>
                  </a:moveTo>
                  <a:lnTo>
                    <a:pt x="128143" y="0"/>
                  </a:lnTo>
                  <a:lnTo>
                    <a:pt x="128143" y="4484116"/>
                  </a:lnTo>
                  <a:lnTo>
                    <a:pt x="0" y="4484116"/>
                  </a:lnTo>
                  <a:close/>
                </a:path>
              </a:pathLst>
            </a:custGeom>
            <a:solidFill>
              <a:srgbClr val="EFEEE7"/>
            </a:solidFill>
          </p:spPr>
        </p:sp>
      </p:grpSp>
      <p:sp>
        <p:nvSpPr>
          <p:cNvPr name="TextBox 23" id="23"/>
          <p:cNvSpPr txBox="true"/>
          <p:nvPr/>
        </p:nvSpPr>
        <p:spPr>
          <a:xfrm rot="0">
            <a:off x="8011763" y="3019092"/>
            <a:ext cx="2425198" cy="333375"/>
          </a:xfrm>
          <a:prstGeom prst="rect">
            <a:avLst/>
          </a:prstGeom>
        </p:spPr>
        <p:txBody>
          <a:bodyPr anchor="t" rtlCol="false" tIns="0" lIns="0" bIns="0" rIns="0">
            <a:spAutoFit/>
          </a:bodyPr>
          <a:lstStyle/>
          <a:p>
            <a:pPr algn="l">
              <a:lnSpc>
                <a:spcPts val="2521"/>
              </a:lnSpc>
            </a:pPr>
            <a:r>
              <a:rPr lang="en-US" sz="2101">
                <a:solidFill>
                  <a:srgbClr val="EFEEE7"/>
                </a:solidFill>
                <a:latin typeface="Public Sans"/>
                <a:ea typeface="Public Sans"/>
                <a:cs typeface="Public Sans"/>
                <a:sym typeface="Public Sans"/>
              </a:rPr>
              <a:t>3. TEST</a:t>
            </a:r>
          </a:p>
        </p:txBody>
      </p:sp>
      <p:sp>
        <p:nvSpPr>
          <p:cNvPr name="TextBox 24" id="24"/>
          <p:cNvSpPr txBox="true"/>
          <p:nvPr/>
        </p:nvSpPr>
        <p:spPr>
          <a:xfrm rot="0">
            <a:off x="8011763" y="3769862"/>
            <a:ext cx="2384022" cy="695325"/>
          </a:xfrm>
          <a:prstGeom prst="rect">
            <a:avLst/>
          </a:prstGeom>
        </p:spPr>
        <p:txBody>
          <a:bodyPr anchor="t" rtlCol="false" tIns="0" lIns="0" bIns="0" rIns="0">
            <a:spAutoFit/>
          </a:bodyPr>
          <a:lstStyle/>
          <a:p>
            <a:pPr algn="l">
              <a:lnSpc>
                <a:spcPts val="1800"/>
              </a:lnSpc>
            </a:pPr>
            <a:r>
              <a:rPr lang="en-US" sz="1500">
                <a:solidFill>
                  <a:srgbClr val="EFEEE7"/>
                </a:solidFill>
                <a:latin typeface="Public Sans"/>
                <a:ea typeface="Public Sans"/>
                <a:cs typeface="Public Sans"/>
                <a:sym typeface="Public Sans"/>
              </a:rPr>
              <a:t>Explored a multi-case, management-by-exception workflow</a:t>
            </a:r>
          </a:p>
        </p:txBody>
      </p:sp>
      <p:sp>
        <p:nvSpPr>
          <p:cNvPr name="TextBox 25" id="25"/>
          <p:cNvSpPr txBox="true"/>
          <p:nvPr/>
        </p:nvSpPr>
        <p:spPr>
          <a:xfrm rot="0">
            <a:off x="10720385" y="4144689"/>
            <a:ext cx="384721" cy="476250"/>
          </a:xfrm>
          <a:prstGeom prst="rect">
            <a:avLst/>
          </a:prstGeom>
        </p:spPr>
        <p:txBody>
          <a:bodyPr anchor="t" rtlCol="false" tIns="0" lIns="0" bIns="0" rIns="0">
            <a:spAutoFit/>
          </a:bodyPr>
          <a:lstStyle/>
          <a:p>
            <a:pPr algn="ctr">
              <a:lnSpc>
                <a:spcPts val="3616"/>
              </a:lnSpc>
            </a:pPr>
            <a:r>
              <a:rPr lang="en-US" b="true" sz="3013" spc="15">
                <a:solidFill>
                  <a:srgbClr val="2B2C30"/>
                </a:solidFill>
                <a:latin typeface="Public Sans Bold"/>
                <a:ea typeface="Public Sans Bold"/>
                <a:cs typeface="Public Sans Bold"/>
                <a:sym typeface="Public Sans Bold"/>
              </a:rPr>
              <a:t>→</a:t>
            </a:r>
          </a:p>
        </p:txBody>
      </p:sp>
      <p:grpSp>
        <p:nvGrpSpPr>
          <p:cNvPr name="Group 26" id="26"/>
          <p:cNvGrpSpPr/>
          <p:nvPr/>
        </p:nvGrpSpPr>
        <p:grpSpPr>
          <a:xfrm rot="0">
            <a:off x="11111494" y="2738199"/>
            <a:ext cx="3102807" cy="3377346"/>
            <a:chOff x="0" y="0"/>
            <a:chExt cx="4137076" cy="4503128"/>
          </a:xfrm>
        </p:grpSpPr>
        <p:sp>
          <p:nvSpPr>
            <p:cNvPr name="Freeform 27" id="27"/>
            <p:cNvSpPr/>
            <p:nvPr/>
          </p:nvSpPr>
          <p:spPr>
            <a:xfrm flipH="false" flipV="false" rot="0">
              <a:off x="0" y="0"/>
              <a:ext cx="4137025" cy="4503039"/>
            </a:xfrm>
            <a:custGeom>
              <a:avLst/>
              <a:gdLst/>
              <a:ahLst/>
              <a:cxnLst/>
              <a:rect r="r" b="b" t="t" l="l"/>
              <a:pathLst>
                <a:path h="4503039" w="4137025">
                  <a:moveTo>
                    <a:pt x="0" y="689483"/>
                  </a:moveTo>
                  <a:cubicBezTo>
                    <a:pt x="0" y="308737"/>
                    <a:pt x="308737" y="0"/>
                    <a:pt x="689483" y="0"/>
                  </a:cubicBezTo>
                  <a:lnTo>
                    <a:pt x="3447542" y="0"/>
                  </a:lnTo>
                  <a:cubicBezTo>
                    <a:pt x="3828415" y="0"/>
                    <a:pt x="4137025" y="308737"/>
                    <a:pt x="4137025" y="689483"/>
                  </a:cubicBezTo>
                  <a:lnTo>
                    <a:pt x="4137025" y="3813556"/>
                  </a:lnTo>
                  <a:cubicBezTo>
                    <a:pt x="4137025" y="4194429"/>
                    <a:pt x="3828288" y="4503039"/>
                    <a:pt x="3447542" y="4503039"/>
                  </a:cubicBezTo>
                  <a:lnTo>
                    <a:pt x="689483" y="4503039"/>
                  </a:lnTo>
                  <a:cubicBezTo>
                    <a:pt x="308737" y="4503166"/>
                    <a:pt x="0" y="4194429"/>
                    <a:pt x="0" y="3813556"/>
                  </a:cubicBezTo>
                  <a:close/>
                </a:path>
              </a:pathLst>
            </a:custGeom>
            <a:solidFill>
              <a:srgbClr val="2B2C30"/>
            </a:solidFill>
            <a:ln w="14299" cap="sq">
              <a:solidFill>
                <a:srgbClr val="D2D8DE"/>
              </a:solidFill>
              <a:prstDash val="solid"/>
              <a:miter/>
            </a:ln>
          </p:spPr>
        </p:sp>
      </p:grpSp>
      <p:grpSp>
        <p:nvGrpSpPr>
          <p:cNvPr name="Group 28" id="28"/>
          <p:cNvGrpSpPr/>
          <p:nvPr/>
        </p:nvGrpSpPr>
        <p:grpSpPr>
          <a:xfrm rot="0">
            <a:off x="11118647" y="2745343"/>
            <a:ext cx="96088" cy="3363049"/>
            <a:chOff x="0" y="0"/>
            <a:chExt cx="128118" cy="4484065"/>
          </a:xfrm>
        </p:grpSpPr>
        <p:sp>
          <p:nvSpPr>
            <p:cNvPr name="Freeform 29" id="29"/>
            <p:cNvSpPr/>
            <p:nvPr/>
          </p:nvSpPr>
          <p:spPr>
            <a:xfrm flipH="false" flipV="false" rot="0">
              <a:off x="0" y="0"/>
              <a:ext cx="128143" cy="4484116"/>
            </a:xfrm>
            <a:custGeom>
              <a:avLst/>
              <a:gdLst/>
              <a:ahLst/>
              <a:cxnLst/>
              <a:rect r="r" b="b" t="t" l="l"/>
              <a:pathLst>
                <a:path h="4484116" w="128143">
                  <a:moveTo>
                    <a:pt x="0" y="0"/>
                  </a:moveTo>
                  <a:lnTo>
                    <a:pt x="128143" y="0"/>
                  </a:lnTo>
                  <a:lnTo>
                    <a:pt x="128143" y="4484116"/>
                  </a:lnTo>
                  <a:lnTo>
                    <a:pt x="0" y="4484116"/>
                  </a:lnTo>
                  <a:close/>
                </a:path>
              </a:pathLst>
            </a:custGeom>
            <a:solidFill>
              <a:srgbClr val="EFEEE7"/>
            </a:solidFill>
          </p:spPr>
        </p:sp>
      </p:grpSp>
      <p:sp>
        <p:nvSpPr>
          <p:cNvPr name="TextBox 30" id="30"/>
          <p:cNvSpPr txBox="true"/>
          <p:nvPr/>
        </p:nvSpPr>
        <p:spPr>
          <a:xfrm rot="0">
            <a:off x="11512077" y="3028617"/>
            <a:ext cx="2425198" cy="323850"/>
          </a:xfrm>
          <a:prstGeom prst="rect">
            <a:avLst/>
          </a:prstGeom>
        </p:spPr>
        <p:txBody>
          <a:bodyPr anchor="t" rtlCol="false" tIns="0" lIns="0" bIns="0" rIns="0">
            <a:spAutoFit/>
          </a:bodyPr>
          <a:lstStyle/>
          <a:p>
            <a:pPr algn="l">
              <a:lnSpc>
                <a:spcPts val="2490"/>
              </a:lnSpc>
            </a:pPr>
            <a:r>
              <a:rPr lang="en-US" sz="2075">
                <a:solidFill>
                  <a:srgbClr val="EFEEE7"/>
                </a:solidFill>
                <a:latin typeface="Public Sans"/>
                <a:ea typeface="Public Sans"/>
                <a:cs typeface="Public Sans"/>
                <a:sym typeface="Public Sans"/>
              </a:rPr>
              <a:t>4. LEARN &amp; REFINE</a:t>
            </a:r>
          </a:p>
        </p:txBody>
      </p:sp>
      <p:sp>
        <p:nvSpPr>
          <p:cNvPr name="TextBox 31" id="31"/>
          <p:cNvSpPr txBox="true"/>
          <p:nvPr/>
        </p:nvSpPr>
        <p:spPr>
          <a:xfrm rot="0">
            <a:off x="11512077" y="3769862"/>
            <a:ext cx="2384022" cy="1000125"/>
          </a:xfrm>
          <a:prstGeom prst="rect">
            <a:avLst/>
          </a:prstGeom>
        </p:spPr>
        <p:txBody>
          <a:bodyPr anchor="t" rtlCol="false" tIns="0" lIns="0" bIns="0" rIns="0">
            <a:spAutoFit/>
          </a:bodyPr>
          <a:lstStyle/>
          <a:p>
            <a:pPr algn="l">
              <a:lnSpc>
                <a:spcPts val="1981"/>
              </a:lnSpc>
            </a:pPr>
            <a:r>
              <a:rPr lang="en-US" sz="1651">
                <a:solidFill>
                  <a:srgbClr val="EFEEE7"/>
                </a:solidFill>
                <a:latin typeface="Public Sans"/>
                <a:ea typeface="Public Sans"/>
                <a:cs typeface="Public Sans"/>
                <a:sym typeface="Public Sans"/>
              </a:rPr>
              <a:t>Identified technical requirements for reliable batch processing</a:t>
            </a:r>
          </a:p>
        </p:txBody>
      </p:sp>
      <p:sp>
        <p:nvSpPr>
          <p:cNvPr name="TextBox 32" id="32"/>
          <p:cNvSpPr txBox="true"/>
          <p:nvPr/>
        </p:nvSpPr>
        <p:spPr>
          <a:xfrm rot="0">
            <a:off x="14220698" y="4144689"/>
            <a:ext cx="384721" cy="476250"/>
          </a:xfrm>
          <a:prstGeom prst="rect">
            <a:avLst/>
          </a:prstGeom>
        </p:spPr>
        <p:txBody>
          <a:bodyPr anchor="t" rtlCol="false" tIns="0" lIns="0" bIns="0" rIns="0">
            <a:spAutoFit/>
          </a:bodyPr>
          <a:lstStyle/>
          <a:p>
            <a:pPr algn="ctr">
              <a:lnSpc>
                <a:spcPts val="3616"/>
              </a:lnSpc>
            </a:pPr>
            <a:r>
              <a:rPr lang="en-US" b="true" sz="3013" spc="15">
                <a:solidFill>
                  <a:srgbClr val="2B2C30"/>
                </a:solidFill>
                <a:latin typeface="Public Sans Bold"/>
                <a:ea typeface="Public Sans Bold"/>
                <a:cs typeface="Public Sans Bold"/>
                <a:sym typeface="Public Sans Bold"/>
              </a:rPr>
              <a:t>→</a:t>
            </a:r>
          </a:p>
        </p:txBody>
      </p:sp>
      <p:grpSp>
        <p:nvGrpSpPr>
          <p:cNvPr name="Group 33" id="33"/>
          <p:cNvGrpSpPr/>
          <p:nvPr/>
        </p:nvGrpSpPr>
        <p:grpSpPr>
          <a:xfrm rot="0">
            <a:off x="14611807" y="2738199"/>
            <a:ext cx="3102807" cy="3377346"/>
            <a:chOff x="0" y="0"/>
            <a:chExt cx="4137076" cy="4503128"/>
          </a:xfrm>
        </p:grpSpPr>
        <p:sp>
          <p:nvSpPr>
            <p:cNvPr name="Freeform 34" id="34"/>
            <p:cNvSpPr/>
            <p:nvPr/>
          </p:nvSpPr>
          <p:spPr>
            <a:xfrm flipH="false" flipV="false" rot="0">
              <a:off x="0" y="0"/>
              <a:ext cx="4137025" cy="4503039"/>
            </a:xfrm>
            <a:custGeom>
              <a:avLst/>
              <a:gdLst/>
              <a:ahLst/>
              <a:cxnLst/>
              <a:rect r="r" b="b" t="t" l="l"/>
              <a:pathLst>
                <a:path h="4503039" w="4137025">
                  <a:moveTo>
                    <a:pt x="0" y="689483"/>
                  </a:moveTo>
                  <a:cubicBezTo>
                    <a:pt x="0" y="308737"/>
                    <a:pt x="308737" y="0"/>
                    <a:pt x="689483" y="0"/>
                  </a:cubicBezTo>
                  <a:lnTo>
                    <a:pt x="3447542" y="0"/>
                  </a:lnTo>
                  <a:cubicBezTo>
                    <a:pt x="3828415" y="0"/>
                    <a:pt x="4137025" y="308737"/>
                    <a:pt x="4137025" y="689483"/>
                  </a:cubicBezTo>
                  <a:lnTo>
                    <a:pt x="4137025" y="3813556"/>
                  </a:lnTo>
                  <a:cubicBezTo>
                    <a:pt x="4137025" y="4194429"/>
                    <a:pt x="3828288" y="4503039"/>
                    <a:pt x="3447542" y="4503039"/>
                  </a:cubicBezTo>
                  <a:lnTo>
                    <a:pt x="689483" y="4503039"/>
                  </a:lnTo>
                  <a:cubicBezTo>
                    <a:pt x="308737" y="4503166"/>
                    <a:pt x="0" y="4194429"/>
                    <a:pt x="0" y="3813556"/>
                  </a:cubicBezTo>
                  <a:close/>
                </a:path>
              </a:pathLst>
            </a:custGeom>
            <a:solidFill>
              <a:srgbClr val="2B2C30"/>
            </a:solidFill>
            <a:ln w="14299" cap="sq">
              <a:solidFill>
                <a:srgbClr val="D2D8DE"/>
              </a:solidFill>
              <a:prstDash val="solid"/>
              <a:miter/>
            </a:ln>
          </p:spPr>
        </p:sp>
      </p:grpSp>
      <p:grpSp>
        <p:nvGrpSpPr>
          <p:cNvPr name="Group 35" id="35"/>
          <p:cNvGrpSpPr/>
          <p:nvPr/>
        </p:nvGrpSpPr>
        <p:grpSpPr>
          <a:xfrm rot="0">
            <a:off x="14618960" y="2745343"/>
            <a:ext cx="96088" cy="3363049"/>
            <a:chOff x="0" y="0"/>
            <a:chExt cx="128118" cy="4484065"/>
          </a:xfrm>
        </p:grpSpPr>
        <p:sp>
          <p:nvSpPr>
            <p:cNvPr name="Freeform 36" id="36"/>
            <p:cNvSpPr/>
            <p:nvPr/>
          </p:nvSpPr>
          <p:spPr>
            <a:xfrm flipH="false" flipV="false" rot="0">
              <a:off x="0" y="0"/>
              <a:ext cx="128143" cy="4484116"/>
            </a:xfrm>
            <a:custGeom>
              <a:avLst/>
              <a:gdLst/>
              <a:ahLst/>
              <a:cxnLst/>
              <a:rect r="r" b="b" t="t" l="l"/>
              <a:pathLst>
                <a:path h="4484116" w="128143">
                  <a:moveTo>
                    <a:pt x="0" y="0"/>
                  </a:moveTo>
                  <a:lnTo>
                    <a:pt x="128143" y="0"/>
                  </a:lnTo>
                  <a:lnTo>
                    <a:pt x="128143" y="4484116"/>
                  </a:lnTo>
                  <a:lnTo>
                    <a:pt x="0" y="4484116"/>
                  </a:lnTo>
                  <a:close/>
                </a:path>
              </a:pathLst>
            </a:custGeom>
            <a:solidFill>
              <a:srgbClr val="EFEEE7"/>
            </a:solidFill>
          </p:spPr>
        </p:sp>
      </p:grpSp>
      <p:sp>
        <p:nvSpPr>
          <p:cNvPr name="TextBox 37" id="37"/>
          <p:cNvSpPr txBox="true"/>
          <p:nvPr/>
        </p:nvSpPr>
        <p:spPr>
          <a:xfrm rot="0">
            <a:off x="15012391" y="3019092"/>
            <a:ext cx="2425198" cy="333375"/>
          </a:xfrm>
          <a:prstGeom prst="rect">
            <a:avLst/>
          </a:prstGeom>
        </p:spPr>
        <p:txBody>
          <a:bodyPr anchor="t" rtlCol="false" tIns="0" lIns="0" bIns="0" rIns="0">
            <a:spAutoFit/>
          </a:bodyPr>
          <a:lstStyle/>
          <a:p>
            <a:pPr algn="l">
              <a:lnSpc>
                <a:spcPts val="2521"/>
              </a:lnSpc>
            </a:pPr>
            <a:r>
              <a:rPr lang="en-US" sz="2101">
                <a:solidFill>
                  <a:srgbClr val="EFEEE7"/>
                </a:solidFill>
                <a:latin typeface="Public Sans"/>
                <a:ea typeface="Public Sans"/>
                <a:cs typeface="Public Sans"/>
                <a:sym typeface="Public Sans"/>
              </a:rPr>
              <a:t>5. PLAN</a:t>
            </a:r>
          </a:p>
        </p:txBody>
      </p:sp>
      <p:sp>
        <p:nvSpPr>
          <p:cNvPr name="TextBox 38" id="38"/>
          <p:cNvSpPr txBox="true"/>
          <p:nvPr/>
        </p:nvSpPr>
        <p:spPr>
          <a:xfrm rot="0">
            <a:off x="15012391" y="3769862"/>
            <a:ext cx="2384022" cy="752475"/>
          </a:xfrm>
          <a:prstGeom prst="rect">
            <a:avLst/>
          </a:prstGeom>
        </p:spPr>
        <p:txBody>
          <a:bodyPr anchor="t" rtlCol="false" tIns="0" lIns="0" bIns="0" rIns="0">
            <a:spAutoFit/>
          </a:bodyPr>
          <a:lstStyle/>
          <a:p>
            <a:pPr algn="l">
              <a:lnSpc>
                <a:spcPts val="1981"/>
              </a:lnSpc>
            </a:pPr>
            <a:r>
              <a:rPr lang="en-US" sz="1651">
                <a:solidFill>
                  <a:srgbClr val="EFEEE7"/>
                </a:solidFill>
                <a:latin typeface="Public Sans"/>
                <a:ea typeface="Public Sans"/>
                <a:cs typeface="Public Sans"/>
                <a:sym typeface="Public Sans"/>
              </a:rPr>
              <a:t>Defined a proposed architecture and controlled pilot strategy</a:t>
            </a:r>
          </a:p>
        </p:txBody>
      </p:sp>
      <p:sp>
        <p:nvSpPr>
          <p:cNvPr name="TextBox 39" id="39"/>
          <p:cNvSpPr txBox="true"/>
          <p:nvPr/>
        </p:nvSpPr>
        <p:spPr>
          <a:xfrm rot="0">
            <a:off x="1601381" y="7654528"/>
            <a:ext cx="15053786" cy="866775"/>
          </a:xfrm>
          <a:prstGeom prst="rect">
            <a:avLst/>
          </a:prstGeom>
        </p:spPr>
        <p:txBody>
          <a:bodyPr anchor="t" rtlCol="false" tIns="0" lIns="0" bIns="0" rIns="0">
            <a:spAutoFit/>
          </a:bodyPr>
          <a:lstStyle/>
          <a:p>
            <a:pPr algn="ctr">
              <a:lnSpc>
                <a:spcPts val="3422"/>
              </a:lnSpc>
            </a:pPr>
            <a:r>
              <a:rPr lang="en-US" b="true" sz="2852" spc="14">
                <a:solidFill>
                  <a:srgbClr val="2B2C30"/>
                </a:solidFill>
                <a:latin typeface="Public Sans Bold"/>
                <a:ea typeface="Public Sans Bold"/>
                <a:cs typeface="Public Sans Bold"/>
                <a:sym typeface="Public Sans Bold"/>
              </a:rPr>
              <a:t>The business problem remained consistent. The technical approach evolved based on practical implementation findings.</a:t>
            </a:r>
          </a:p>
        </p:txBody>
      </p:sp>
      <p:sp>
        <p:nvSpPr>
          <p:cNvPr name="TextBox 40" id="40"/>
          <p:cNvSpPr txBox="true"/>
          <p:nvPr/>
        </p:nvSpPr>
        <p:spPr>
          <a:xfrm rot="0">
            <a:off x="1052312" y="9754714"/>
            <a:ext cx="2058442" cy="209550"/>
          </a:xfrm>
          <a:prstGeom prst="rect">
            <a:avLst/>
          </a:prstGeom>
        </p:spPr>
        <p:txBody>
          <a:bodyPr anchor="t" rtlCol="false" tIns="0" lIns="0" bIns="0" rIns="0">
            <a:spAutoFit/>
          </a:bodyPr>
          <a:lstStyle/>
          <a:p>
            <a:pPr algn="l">
              <a:lnSpc>
                <a:spcPts val="1621"/>
              </a:lnSpc>
            </a:pPr>
            <a:r>
              <a:rPr lang="en-US" sz="1351">
                <a:solidFill>
                  <a:srgbClr val="2B2C30"/>
                </a:solidFill>
                <a:latin typeface="Public Sans"/>
                <a:ea typeface="Public Sans"/>
                <a:cs typeface="Public Sans"/>
                <a:sym typeface="Public Sans"/>
              </a:rPr>
              <a:t>Crew Change Risk Copilot</a:t>
            </a:r>
          </a:p>
        </p:txBody>
      </p:sp>
      <p:sp>
        <p:nvSpPr>
          <p:cNvPr name="TextBox 41" id="41"/>
          <p:cNvSpPr txBox="true"/>
          <p:nvPr/>
        </p:nvSpPr>
        <p:spPr>
          <a:xfrm rot="0">
            <a:off x="17096028" y="9754714"/>
            <a:ext cx="108198" cy="209550"/>
          </a:xfrm>
          <a:prstGeom prst="rect">
            <a:avLst/>
          </a:prstGeom>
        </p:spPr>
        <p:txBody>
          <a:bodyPr anchor="t" rtlCol="false" tIns="0" lIns="0" bIns="0" rIns="0">
            <a:spAutoFit/>
          </a:bodyPr>
          <a:lstStyle/>
          <a:p>
            <a:pPr algn="r">
              <a:lnSpc>
                <a:spcPts val="1621"/>
              </a:lnSpc>
            </a:pPr>
            <a:r>
              <a:rPr lang="en-US" sz="1351">
                <a:solidFill>
                  <a:srgbClr val="2B2C30"/>
                </a:solidFill>
                <a:latin typeface="Public Sans"/>
                <a:ea typeface="Public Sans"/>
                <a:cs typeface="Public Sans"/>
                <a:sym typeface="Public Sans"/>
              </a:rPr>
              <a:t>3</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52312" y="653901"/>
            <a:ext cx="16928009" cy="390525"/>
          </a:xfrm>
          <a:prstGeom prst="rect">
            <a:avLst/>
          </a:prstGeom>
        </p:spPr>
        <p:txBody>
          <a:bodyPr anchor="t" rtlCol="false" tIns="0" lIns="0" bIns="0" rIns="0">
            <a:spAutoFit/>
          </a:bodyPr>
          <a:lstStyle/>
          <a:p>
            <a:pPr algn="l">
              <a:lnSpc>
                <a:spcPts val="3066"/>
              </a:lnSpc>
            </a:pPr>
            <a:r>
              <a:rPr lang="en-US" b="true" sz="2555" spc="580">
                <a:solidFill>
                  <a:srgbClr val="2B2C30"/>
                </a:solidFill>
                <a:latin typeface="Public Sans Bold"/>
                <a:ea typeface="Public Sans Bold"/>
                <a:cs typeface="Public Sans Bold"/>
                <a:sym typeface="Public Sans Bold"/>
              </a:rPr>
              <a:t>CREW CHANGE RISK COPILOT: AI-SUPPORTED MANAGEMENT BY EXCEPTION</a:t>
            </a:r>
          </a:p>
        </p:txBody>
      </p:sp>
      <p:grpSp>
        <p:nvGrpSpPr>
          <p:cNvPr name="Group 3" id="3"/>
          <p:cNvGrpSpPr/>
          <p:nvPr/>
        </p:nvGrpSpPr>
        <p:grpSpPr>
          <a:xfrm rot="0">
            <a:off x="960872" y="1509941"/>
            <a:ext cx="1509941" cy="68637"/>
            <a:chOff x="0" y="0"/>
            <a:chExt cx="2013255" cy="91516"/>
          </a:xfrm>
        </p:grpSpPr>
        <p:sp>
          <p:nvSpPr>
            <p:cNvPr name="Freeform 4" id="4"/>
            <p:cNvSpPr/>
            <p:nvPr/>
          </p:nvSpPr>
          <p:spPr>
            <a:xfrm flipH="false" flipV="false" rot="0">
              <a:off x="0" y="0"/>
              <a:ext cx="2013204" cy="91567"/>
            </a:xfrm>
            <a:custGeom>
              <a:avLst/>
              <a:gdLst/>
              <a:ahLst/>
              <a:cxnLst/>
              <a:rect r="r" b="b" t="t" l="l"/>
              <a:pathLst>
                <a:path h="91567" w="2013204">
                  <a:moveTo>
                    <a:pt x="0" y="0"/>
                  </a:moveTo>
                  <a:lnTo>
                    <a:pt x="2013204" y="0"/>
                  </a:lnTo>
                  <a:lnTo>
                    <a:pt x="2013204" y="91567"/>
                  </a:lnTo>
                  <a:lnTo>
                    <a:pt x="0" y="91567"/>
                  </a:lnTo>
                  <a:close/>
                </a:path>
              </a:pathLst>
            </a:custGeom>
            <a:solidFill>
              <a:srgbClr val="2B2C30"/>
            </a:solidFill>
          </p:spPr>
        </p:sp>
      </p:grpSp>
      <p:grpSp>
        <p:nvGrpSpPr>
          <p:cNvPr name="Group 5" id="5"/>
          <p:cNvGrpSpPr/>
          <p:nvPr/>
        </p:nvGrpSpPr>
        <p:grpSpPr>
          <a:xfrm rot="0">
            <a:off x="610552" y="2738199"/>
            <a:ext cx="3857777" cy="3651885"/>
            <a:chOff x="0" y="0"/>
            <a:chExt cx="5143703" cy="4869180"/>
          </a:xfrm>
        </p:grpSpPr>
        <p:sp>
          <p:nvSpPr>
            <p:cNvPr name="Freeform 6" id="6"/>
            <p:cNvSpPr/>
            <p:nvPr/>
          </p:nvSpPr>
          <p:spPr>
            <a:xfrm flipH="false" flipV="false" rot="0">
              <a:off x="0" y="0"/>
              <a:ext cx="5143754" cy="4869180"/>
            </a:xfrm>
            <a:custGeom>
              <a:avLst/>
              <a:gdLst/>
              <a:ahLst/>
              <a:cxnLst/>
              <a:rect r="r" b="b" t="t" l="l"/>
              <a:pathLst>
                <a:path h="4869180" w="5143754">
                  <a:moveTo>
                    <a:pt x="0" y="811530"/>
                  </a:moveTo>
                  <a:cubicBezTo>
                    <a:pt x="0" y="363347"/>
                    <a:pt x="363347" y="0"/>
                    <a:pt x="811530" y="0"/>
                  </a:cubicBezTo>
                  <a:lnTo>
                    <a:pt x="4332224" y="0"/>
                  </a:lnTo>
                  <a:cubicBezTo>
                    <a:pt x="4780407" y="0"/>
                    <a:pt x="5143754" y="363347"/>
                    <a:pt x="5143754" y="811530"/>
                  </a:cubicBezTo>
                  <a:lnTo>
                    <a:pt x="5143754" y="4057650"/>
                  </a:lnTo>
                  <a:cubicBezTo>
                    <a:pt x="5143754" y="4505833"/>
                    <a:pt x="4780407" y="4869180"/>
                    <a:pt x="4332224" y="4869180"/>
                  </a:cubicBezTo>
                  <a:lnTo>
                    <a:pt x="811530" y="4869180"/>
                  </a:lnTo>
                  <a:cubicBezTo>
                    <a:pt x="363347" y="4869180"/>
                    <a:pt x="0" y="4505833"/>
                    <a:pt x="0" y="4057650"/>
                  </a:cubicBezTo>
                  <a:close/>
                </a:path>
              </a:pathLst>
            </a:custGeom>
            <a:solidFill>
              <a:srgbClr val="2B2C30"/>
            </a:solidFill>
            <a:ln w="14299" cap="sq">
              <a:solidFill>
                <a:srgbClr val="D2D8DE"/>
              </a:solidFill>
              <a:prstDash val="solid"/>
              <a:miter/>
            </a:ln>
          </p:spPr>
        </p:sp>
      </p:grpSp>
      <p:grpSp>
        <p:nvGrpSpPr>
          <p:cNvPr name="Group 7" id="7"/>
          <p:cNvGrpSpPr/>
          <p:nvPr/>
        </p:nvGrpSpPr>
        <p:grpSpPr>
          <a:xfrm rot="0">
            <a:off x="617706" y="2745343"/>
            <a:ext cx="96088" cy="3637578"/>
            <a:chOff x="0" y="0"/>
            <a:chExt cx="128118" cy="4850105"/>
          </a:xfrm>
        </p:grpSpPr>
        <p:sp>
          <p:nvSpPr>
            <p:cNvPr name="Freeform 8" id="8"/>
            <p:cNvSpPr/>
            <p:nvPr/>
          </p:nvSpPr>
          <p:spPr>
            <a:xfrm flipH="false" flipV="false" rot="0">
              <a:off x="0" y="0"/>
              <a:ext cx="128143" cy="4850130"/>
            </a:xfrm>
            <a:custGeom>
              <a:avLst/>
              <a:gdLst/>
              <a:ahLst/>
              <a:cxnLst/>
              <a:rect r="r" b="b" t="t" l="l"/>
              <a:pathLst>
                <a:path h="4850130" w="128143">
                  <a:moveTo>
                    <a:pt x="0" y="0"/>
                  </a:moveTo>
                  <a:lnTo>
                    <a:pt x="128143" y="0"/>
                  </a:lnTo>
                  <a:lnTo>
                    <a:pt x="128143" y="4850130"/>
                  </a:lnTo>
                  <a:lnTo>
                    <a:pt x="0" y="4850130"/>
                  </a:lnTo>
                  <a:close/>
                </a:path>
              </a:pathLst>
            </a:custGeom>
            <a:solidFill>
              <a:srgbClr val="EFEEE7"/>
            </a:solidFill>
          </p:spPr>
        </p:sp>
      </p:grpSp>
      <p:sp>
        <p:nvSpPr>
          <p:cNvPr name="TextBox 9" id="9"/>
          <p:cNvSpPr txBox="true"/>
          <p:nvPr/>
        </p:nvSpPr>
        <p:spPr>
          <a:xfrm rot="0">
            <a:off x="1011126" y="3028617"/>
            <a:ext cx="3180169" cy="523875"/>
          </a:xfrm>
          <a:prstGeom prst="rect">
            <a:avLst/>
          </a:prstGeom>
        </p:spPr>
        <p:txBody>
          <a:bodyPr anchor="t" rtlCol="false" tIns="0" lIns="0" bIns="0" rIns="0">
            <a:spAutoFit/>
          </a:bodyPr>
          <a:lstStyle/>
          <a:p>
            <a:pPr algn="l">
              <a:lnSpc>
                <a:spcPts val="2094"/>
              </a:lnSpc>
            </a:pPr>
            <a:r>
              <a:rPr lang="en-US" b="true" sz="1745" spc="8">
                <a:solidFill>
                  <a:srgbClr val="EFEEE7"/>
                </a:solidFill>
                <a:latin typeface="Public Sans Bold"/>
                <a:ea typeface="Public Sans Bold"/>
                <a:cs typeface="Public Sans Bold"/>
                <a:sym typeface="Public Sans Bold"/>
              </a:rPr>
              <a:t>OPERATIONAL &amp; EXTERNAL DATA</a:t>
            </a:r>
          </a:p>
        </p:txBody>
      </p:sp>
      <p:sp>
        <p:nvSpPr>
          <p:cNvPr name="TextBox 10" id="10"/>
          <p:cNvSpPr txBox="true"/>
          <p:nvPr/>
        </p:nvSpPr>
        <p:spPr>
          <a:xfrm rot="0">
            <a:off x="1011126" y="3779387"/>
            <a:ext cx="3138983" cy="1066800"/>
          </a:xfrm>
          <a:prstGeom prst="rect">
            <a:avLst/>
          </a:prstGeom>
        </p:spPr>
        <p:txBody>
          <a:bodyPr anchor="t" rtlCol="false" tIns="0" lIns="0" bIns="0" rIns="0">
            <a:spAutoFit/>
          </a:bodyPr>
          <a:lstStyle/>
          <a:p>
            <a:pPr algn="l">
              <a:lnSpc>
                <a:spcPts val="2161"/>
              </a:lnSpc>
            </a:pPr>
            <a:r>
              <a:rPr lang="en-US" sz="1801">
                <a:solidFill>
                  <a:srgbClr val="EFEEE7"/>
                </a:solidFill>
                <a:latin typeface="Public Sans"/>
                <a:ea typeface="Public Sans"/>
                <a:cs typeface="Public Sans"/>
                <a:sym typeface="Public Sans"/>
              </a:rPr>
              <a:t>Crew Change Records</a:t>
            </a:r>
          </a:p>
          <a:p>
            <a:pPr algn="l">
              <a:lnSpc>
                <a:spcPts val="2161"/>
              </a:lnSpc>
            </a:pPr>
            <a:r>
              <a:rPr lang="en-US" sz="1801">
                <a:solidFill>
                  <a:srgbClr val="EFEEE7"/>
                </a:solidFill>
                <a:latin typeface="Public Sans"/>
                <a:ea typeface="Public Sans"/>
                <a:cs typeface="Public Sans"/>
                <a:sym typeface="Public Sans"/>
              </a:rPr>
              <a:t>Airport Information</a:t>
            </a:r>
          </a:p>
          <a:p>
            <a:pPr algn="l">
              <a:lnSpc>
                <a:spcPts val="2161"/>
              </a:lnSpc>
            </a:pPr>
            <a:r>
              <a:rPr lang="en-US" sz="1801">
                <a:solidFill>
                  <a:srgbClr val="EFEEE7"/>
                </a:solidFill>
                <a:latin typeface="Public Sans"/>
                <a:ea typeface="Public Sans"/>
                <a:cs typeface="Public Sans"/>
                <a:sym typeface="Public Sans"/>
              </a:rPr>
              <a:t>Weather / External Context</a:t>
            </a:r>
          </a:p>
          <a:p>
            <a:pPr algn="l">
              <a:lnSpc>
                <a:spcPts val="2161"/>
              </a:lnSpc>
            </a:pPr>
            <a:r>
              <a:rPr lang="en-US" sz="1801">
                <a:solidFill>
                  <a:srgbClr val="EFEEE7"/>
                </a:solidFill>
                <a:latin typeface="Public Sans"/>
                <a:ea typeface="Public Sans"/>
                <a:cs typeface="Public Sans"/>
                <a:sym typeface="Public Sans"/>
              </a:rPr>
              <a:t>Vessel Information</a:t>
            </a:r>
          </a:p>
        </p:txBody>
      </p:sp>
      <p:sp>
        <p:nvSpPr>
          <p:cNvPr name="TextBox 11" id="11"/>
          <p:cNvSpPr txBox="true"/>
          <p:nvPr/>
        </p:nvSpPr>
        <p:spPr>
          <a:xfrm rot="0">
            <a:off x="4542046" y="4331837"/>
            <a:ext cx="469702" cy="476250"/>
          </a:xfrm>
          <a:prstGeom prst="rect">
            <a:avLst/>
          </a:prstGeom>
        </p:spPr>
        <p:txBody>
          <a:bodyPr anchor="t" rtlCol="false" tIns="0" lIns="0" bIns="0" rIns="0">
            <a:spAutoFit/>
          </a:bodyPr>
          <a:lstStyle/>
          <a:p>
            <a:pPr algn="ctr">
              <a:lnSpc>
                <a:spcPts val="3616"/>
              </a:lnSpc>
            </a:pPr>
            <a:r>
              <a:rPr lang="en-US" b="true" sz="3013" spc="684">
                <a:solidFill>
                  <a:srgbClr val="2B2C30"/>
                </a:solidFill>
                <a:latin typeface="Public Sans Bold"/>
                <a:ea typeface="Public Sans Bold"/>
                <a:cs typeface="Public Sans Bold"/>
                <a:sym typeface="Public Sans Bold"/>
              </a:rPr>
              <a:t>→</a:t>
            </a:r>
          </a:p>
        </p:txBody>
      </p:sp>
      <p:grpSp>
        <p:nvGrpSpPr>
          <p:cNvPr name="Group 12" id="12"/>
          <p:cNvGrpSpPr/>
          <p:nvPr/>
        </p:nvGrpSpPr>
        <p:grpSpPr>
          <a:xfrm rot="0">
            <a:off x="5003102" y="2738199"/>
            <a:ext cx="3857777" cy="3651885"/>
            <a:chOff x="0" y="0"/>
            <a:chExt cx="5143703" cy="4869180"/>
          </a:xfrm>
        </p:grpSpPr>
        <p:sp>
          <p:nvSpPr>
            <p:cNvPr name="Freeform 13" id="13"/>
            <p:cNvSpPr/>
            <p:nvPr/>
          </p:nvSpPr>
          <p:spPr>
            <a:xfrm flipH="false" flipV="false" rot="0">
              <a:off x="0" y="0"/>
              <a:ext cx="5143754" cy="4869180"/>
            </a:xfrm>
            <a:custGeom>
              <a:avLst/>
              <a:gdLst/>
              <a:ahLst/>
              <a:cxnLst/>
              <a:rect r="r" b="b" t="t" l="l"/>
              <a:pathLst>
                <a:path h="4869180" w="5143754">
                  <a:moveTo>
                    <a:pt x="0" y="811530"/>
                  </a:moveTo>
                  <a:cubicBezTo>
                    <a:pt x="0" y="363347"/>
                    <a:pt x="363347" y="0"/>
                    <a:pt x="811530" y="0"/>
                  </a:cubicBezTo>
                  <a:lnTo>
                    <a:pt x="4332224" y="0"/>
                  </a:lnTo>
                  <a:cubicBezTo>
                    <a:pt x="4780407" y="0"/>
                    <a:pt x="5143754" y="363347"/>
                    <a:pt x="5143754" y="811530"/>
                  </a:cubicBezTo>
                  <a:lnTo>
                    <a:pt x="5143754" y="4057650"/>
                  </a:lnTo>
                  <a:cubicBezTo>
                    <a:pt x="5143754" y="4505833"/>
                    <a:pt x="4780407" y="4869180"/>
                    <a:pt x="4332224" y="4869180"/>
                  </a:cubicBezTo>
                  <a:lnTo>
                    <a:pt x="811530" y="4869180"/>
                  </a:lnTo>
                  <a:cubicBezTo>
                    <a:pt x="363347" y="4869180"/>
                    <a:pt x="0" y="4505833"/>
                    <a:pt x="0" y="4057650"/>
                  </a:cubicBezTo>
                  <a:close/>
                </a:path>
              </a:pathLst>
            </a:custGeom>
            <a:solidFill>
              <a:srgbClr val="2B2C30"/>
            </a:solidFill>
            <a:ln w="14299" cap="sq">
              <a:solidFill>
                <a:srgbClr val="D2D8DE"/>
              </a:solidFill>
              <a:prstDash val="solid"/>
              <a:miter/>
            </a:ln>
          </p:spPr>
        </p:sp>
      </p:grpSp>
      <p:grpSp>
        <p:nvGrpSpPr>
          <p:cNvPr name="Group 14" id="14"/>
          <p:cNvGrpSpPr/>
          <p:nvPr/>
        </p:nvGrpSpPr>
        <p:grpSpPr>
          <a:xfrm rot="0">
            <a:off x="5010255" y="2745343"/>
            <a:ext cx="96088" cy="3637578"/>
            <a:chOff x="0" y="0"/>
            <a:chExt cx="128118" cy="4850105"/>
          </a:xfrm>
        </p:grpSpPr>
        <p:sp>
          <p:nvSpPr>
            <p:cNvPr name="Freeform 15" id="15"/>
            <p:cNvSpPr/>
            <p:nvPr/>
          </p:nvSpPr>
          <p:spPr>
            <a:xfrm flipH="false" flipV="false" rot="0">
              <a:off x="0" y="0"/>
              <a:ext cx="128143" cy="4850130"/>
            </a:xfrm>
            <a:custGeom>
              <a:avLst/>
              <a:gdLst/>
              <a:ahLst/>
              <a:cxnLst/>
              <a:rect r="r" b="b" t="t" l="l"/>
              <a:pathLst>
                <a:path h="4850130" w="128143">
                  <a:moveTo>
                    <a:pt x="0" y="0"/>
                  </a:moveTo>
                  <a:lnTo>
                    <a:pt x="128143" y="0"/>
                  </a:lnTo>
                  <a:lnTo>
                    <a:pt x="128143" y="4850130"/>
                  </a:lnTo>
                  <a:lnTo>
                    <a:pt x="0" y="4850130"/>
                  </a:lnTo>
                  <a:close/>
                </a:path>
              </a:pathLst>
            </a:custGeom>
            <a:solidFill>
              <a:srgbClr val="EFEEE7"/>
            </a:solidFill>
          </p:spPr>
        </p:sp>
      </p:grpSp>
      <p:sp>
        <p:nvSpPr>
          <p:cNvPr name="TextBox 16" id="16"/>
          <p:cNvSpPr txBox="true"/>
          <p:nvPr/>
        </p:nvSpPr>
        <p:spPr>
          <a:xfrm rot="0">
            <a:off x="5403685" y="3019092"/>
            <a:ext cx="3180169" cy="333375"/>
          </a:xfrm>
          <a:prstGeom prst="rect">
            <a:avLst/>
          </a:prstGeom>
        </p:spPr>
        <p:txBody>
          <a:bodyPr anchor="t" rtlCol="false" tIns="0" lIns="0" bIns="0" rIns="0">
            <a:spAutoFit/>
          </a:bodyPr>
          <a:lstStyle/>
          <a:p>
            <a:pPr algn="l">
              <a:lnSpc>
                <a:spcPts val="2521"/>
              </a:lnSpc>
            </a:pPr>
            <a:r>
              <a:rPr lang="en-US" b="true" sz="2101" spc="10">
                <a:solidFill>
                  <a:srgbClr val="EFEEE7"/>
                </a:solidFill>
                <a:latin typeface="Public Sans Bold"/>
                <a:ea typeface="Public Sans Bold"/>
                <a:cs typeface="Public Sans Bold"/>
                <a:sym typeface="Public Sans Bold"/>
              </a:rPr>
              <a:t>RISK ASSESSMENT</a:t>
            </a:r>
          </a:p>
        </p:txBody>
      </p:sp>
      <p:sp>
        <p:nvSpPr>
          <p:cNvPr name="TextBox 17" id="17"/>
          <p:cNvSpPr txBox="true"/>
          <p:nvPr/>
        </p:nvSpPr>
        <p:spPr>
          <a:xfrm rot="0">
            <a:off x="5403685" y="3779387"/>
            <a:ext cx="3138983" cy="1066800"/>
          </a:xfrm>
          <a:prstGeom prst="rect">
            <a:avLst/>
          </a:prstGeom>
        </p:spPr>
        <p:txBody>
          <a:bodyPr anchor="t" rtlCol="false" tIns="0" lIns="0" bIns="0" rIns="0">
            <a:spAutoFit/>
          </a:bodyPr>
          <a:lstStyle/>
          <a:p>
            <a:pPr algn="l">
              <a:lnSpc>
                <a:spcPts val="2161"/>
              </a:lnSpc>
            </a:pPr>
            <a:r>
              <a:rPr lang="en-US" sz="1801">
                <a:solidFill>
                  <a:srgbClr val="EFEEE7"/>
                </a:solidFill>
                <a:latin typeface="Public Sans"/>
                <a:ea typeface="Public Sans"/>
                <a:cs typeface="Public Sans"/>
                <a:sym typeface="Public Sans"/>
              </a:rPr>
              <a:t>Deterministic Business Rules</a:t>
            </a:r>
          </a:p>
          <a:p>
            <a:pPr algn="l">
              <a:lnSpc>
                <a:spcPts val="2161"/>
              </a:lnSpc>
            </a:pPr>
            <a:r>
              <a:rPr lang="en-US" sz="1801">
                <a:solidFill>
                  <a:srgbClr val="EFEEE7"/>
                </a:solidFill>
                <a:latin typeface="Public Sans"/>
                <a:ea typeface="Public Sans"/>
                <a:cs typeface="Public Sans"/>
                <a:sym typeface="Public Sans"/>
              </a:rPr>
              <a:t>• Calculate risk score</a:t>
            </a:r>
          </a:p>
          <a:p>
            <a:pPr algn="l">
              <a:lnSpc>
                <a:spcPts val="2161"/>
              </a:lnSpc>
            </a:pPr>
            <a:r>
              <a:rPr lang="en-US" sz="1801">
                <a:solidFill>
                  <a:srgbClr val="EFEEE7"/>
                </a:solidFill>
                <a:latin typeface="Public Sans"/>
                <a:ea typeface="Public Sans"/>
                <a:cs typeface="Public Sans"/>
                <a:sym typeface="Public Sans"/>
              </a:rPr>
              <a:t>• Identify risk drivers</a:t>
            </a:r>
          </a:p>
          <a:p>
            <a:pPr algn="l">
              <a:lnSpc>
                <a:spcPts val="2161"/>
              </a:lnSpc>
            </a:pPr>
            <a:r>
              <a:rPr lang="en-US" sz="1801">
                <a:solidFill>
                  <a:srgbClr val="EFEEE7"/>
                </a:solidFill>
                <a:latin typeface="Public Sans"/>
                <a:ea typeface="Public Sans"/>
                <a:cs typeface="Public Sans"/>
                <a:sym typeface="Public Sans"/>
              </a:rPr>
              <a:t>• Classify risk level</a:t>
            </a:r>
          </a:p>
        </p:txBody>
      </p:sp>
      <p:sp>
        <p:nvSpPr>
          <p:cNvPr name="TextBox 18" id="18"/>
          <p:cNvSpPr txBox="true"/>
          <p:nvPr/>
        </p:nvSpPr>
        <p:spPr>
          <a:xfrm rot="0">
            <a:off x="8909149" y="4281954"/>
            <a:ext cx="469702" cy="476250"/>
          </a:xfrm>
          <a:prstGeom prst="rect">
            <a:avLst/>
          </a:prstGeom>
        </p:spPr>
        <p:txBody>
          <a:bodyPr anchor="t" rtlCol="false" tIns="0" lIns="0" bIns="0" rIns="0">
            <a:spAutoFit/>
          </a:bodyPr>
          <a:lstStyle/>
          <a:p>
            <a:pPr algn="ctr">
              <a:lnSpc>
                <a:spcPts val="3616"/>
              </a:lnSpc>
            </a:pPr>
            <a:r>
              <a:rPr lang="en-US" b="true" sz="3013" spc="684">
                <a:solidFill>
                  <a:srgbClr val="2B2C30"/>
                </a:solidFill>
                <a:latin typeface="Public Sans Bold"/>
                <a:ea typeface="Public Sans Bold"/>
                <a:cs typeface="Public Sans Bold"/>
                <a:sym typeface="Public Sans Bold"/>
              </a:rPr>
              <a:t>→</a:t>
            </a:r>
          </a:p>
        </p:txBody>
      </p:sp>
      <p:grpSp>
        <p:nvGrpSpPr>
          <p:cNvPr name="Group 19" id="19"/>
          <p:cNvGrpSpPr/>
          <p:nvPr/>
        </p:nvGrpSpPr>
        <p:grpSpPr>
          <a:xfrm rot="0">
            <a:off x="9395660" y="2738199"/>
            <a:ext cx="3857777" cy="3651885"/>
            <a:chOff x="0" y="0"/>
            <a:chExt cx="5143703" cy="4869180"/>
          </a:xfrm>
        </p:grpSpPr>
        <p:sp>
          <p:nvSpPr>
            <p:cNvPr name="Freeform 20" id="20"/>
            <p:cNvSpPr/>
            <p:nvPr/>
          </p:nvSpPr>
          <p:spPr>
            <a:xfrm flipH="false" flipV="false" rot="0">
              <a:off x="0" y="0"/>
              <a:ext cx="5143754" cy="4869180"/>
            </a:xfrm>
            <a:custGeom>
              <a:avLst/>
              <a:gdLst/>
              <a:ahLst/>
              <a:cxnLst/>
              <a:rect r="r" b="b" t="t" l="l"/>
              <a:pathLst>
                <a:path h="4869180" w="5143754">
                  <a:moveTo>
                    <a:pt x="0" y="811530"/>
                  </a:moveTo>
                  <a:cubicBezTo>
                    <a:pt x="0" y="363347"/>
                    <a:pt x="363347" y="0"/>
                    <a:pt x="811530" y="0"/>
                  </a:cubicBezTo>
                  <a:lnTo>
                    <a:pt x="4332224" y="0"/>
                  </a:lnTo>
                  <a:cubicBezTo>
                    <a:pt x="4780407" y="0"/>
                    <a:pt x="5143754" y="363347"/>
                    <a:pt x="5143754" y="811530"/>
                  </a:cubicBezTo>
                  <a:lnTo>
                    <a:pt x="5143754" y="4057650"/>
                  </a:lnTo>
                  <a:cubicBezTo>
                    <a:pt x="5143754" y="4505833"/>
                    <a:pt x="4780407" y="4869180"/>
                    <a:pt x="4332224" y="4869180"/>
                  </a:cubicBezTo>
                  <a:lnTo>
                    <a:pt x="811530" y="4869180"/>
                  </a:lnTo>
                  <a:cubicBezTo>
                    <a:pt x="363347" y="4869180"/>
                    <a:pt x="0" y="4505833"/>
                    <a:pt x="0" y="4057650"/>
                  </a:cubicBezTo>
                  <a:close/>
                </a:path>
              </a:pathLst>
            </a:custGeom>
            <a:solidFill>
              <a:srgbClr val="2B2C30"/>
            </a:solidFill>
            <a:ln w="14299" cap="sq">
              <a:solidFill>
                <a:srgbClr val="D2D8DE"/>
              </a:solidFill>
              <a:prstDash val="solid"/>
              <a:miter/>
            </a:ln>
          </p:spPr>
        </p:sp>
      </p:grpSp>
      <p:grpSp>
        <p:nvGrpSpPr>
          <p:cNvPr name="Group 21" id="21"/>
          <p:cNvGrpSpPr/>
          <p:nvPr/>
        </p:nvGrpSpPr>
        <p:grpSpPr>
          <a:xfrm rot="0">
            <a:off x="9402804" y="2745343"/>
            <a:ext cx="96088" cy="3637578"/>
            <a:chOff x="0" y="0"/>
            <a:chExt cx="128118" cy="4850105"/>
          </a:xfrm>
        </p:grpSpPr>
        <p:sp>
          <p:nvSpPr>
            <p:cNvPr name="Freeform 22" id="22"/>
            <p:cNvSpPr/>
            <p:nvPr/>
          </p:nvSpPr>
          <p:spPr>
            <a:xfrm flipH="false" flipV="false" rot="0">
              <a:off x="0" y="0"/>
              <a:ext cx="128143" cy="4850130"/>
            </a:xfrm>
            <a:custGeom>
              <a:avLst/>
              <a:gdLst/>
              <a:ahLst/>
              <a:cxnLst/>
              <a:rect r="r" b="b" t="t" l="l"/>
              <a:pathLst>
                <a:path h="4850130" w="128143">
                  <a:moveTo>
                    <a:pt x="0" y="0"/>
                  </a:moveTo>
                  <a:lnTo>
                    <a:pt x="128143" y="0"/>
                  </a:lnTo>
                  <a:lnTo>
                    <a:pt x="128143" y="4850130"/>
                  </a:lnTo>
                  <a:lnTo>
                    <a:pt x="0" y="4850130"/>
                  </a:lnTo>
                  <a:close/>
                </a:path>
              </a:pathLst>
            </a:custGeom>
            <a:solidFill>
              <a:srgbClr val="EFEEE7"/>
            </a:solidFill>
          </p:spPr>
        </p:sp>
      </p:grpSp>
      <p:sp>
        <p:nvSpPr>
          <p:cNvPr name="TextBox 23" id="23"/>
          <p:cNvSpPr txBox="true"/>
          <p:nvPr/>
        </p:nvSpPr>
        <p:spPr>
          <a:xfrm rot="0">
            <a:off x="9796234" y="3019092"/>
            <a:ext cx="3180169" cy="333375"/>
          </a:xfrm>
          <a:prstGeom prst="rect">
            <a:avLst/>
          </a:prstGeom>
        </p:spPr>
        <p:txBody>
          <a:bodyPr anchor="t" rtlCol="false" tIns="0" lIns="0" bIns="0" rIns="0">
            <a:spAutoFit/>
          </a:bodyPr>
          <a:lstStyle/>
          <a:p>
            <a:pPr algn="l">
              <a:lnSpc>
                <a:spcPts val="2521"/>
              </a:lnSpc>
            </a:pPr>
            <a:r>
              <a:rPr lang="en-US" b="true" sz="2101" spc="10">
                <a:solidFill>
                  <a:srgbClr val="EFEEE7"/>
                </a:solidFill>
                <a:latin typeface="Public Sans Bold"/>
                <a:ea typeface="Public Sans Bold"/>
                <a:cs typeface="Public Sans Bold"/>
                <a:sym typeface="Public Sans Bold"/>
              </a:rPr>
              <a:t>AI INTERPRETATION</a:t>
            </a:r>
          </a:p>
        </p:txBody>
      </p:sp>
      <p:sp>
        <p:nvSpPr>
          <p:cNvPr name="TextBox 24" id="24"/>
          <p:cNvSpPr txBox="true"/>
          <p:nvPr/>
        </p:nvSpPr>
        <p:spPr>
          <a:xfrm rot="0">
            <a:off x="9796234" y="3779387"/>
            <a:ext cx="3138983" cy="1066800"/>
          </a:xfrm>
          <a:prstGeom prst="rect">
            <a:avLst/>
          </a:prstGeom>
        </p:spPr>
        <p:txBody>
          <a:bodyPr anchor="t" rtlCol="false" tIns="0" lIns="0" bIns="0" rIns="0">
            <a:spAutoFit/>
          </a:bodyPr>
          <a:lstStyle/>
          <a:p>
            <a:pPr algn="l">
              <a:lnSpc>
                <a:spcPts val="2161"/>
              </a:lnSpc>
            </a:pPr>
            <a:r>
              <a:rPr lang="en-US" sz="1801">
                <a:solidFill>
                  <a:srgbClr val="EFEEE7"/>
                </a:solidFill>
                <a:latin typeface="Public Sans"/>
                <a:ea typeface="Public Sans"/>
                <a:cs typeface="Public Sans"/>
                <a:sym typeface="Public Sans"/>
              </a:rPr>
              <a:t>• Explain contributing factors</a:t>
            </a:r>
          </a:p>
          <a:p>
            <a:pPr algn="l">
              <a:lnSpc>
                <a:spcPts val="2161"/>
              </a:lnSpc>
            </a:pPr>
            <a:r>
              <a:rPr lang="en-US" sz="1801">
                <a:solidFill>
                  <a:srgbClr val="EFEEE7"/>
                </a:solidFill>
                <a:latin typeface="Public Sans"/>
                <a:ea typeface="Public Sans"/>
                <a:cs typeface="Public Sans"/>
                <a:sym typeface="Public Sans"/>
              </a:rPr>
              <a:t>• Generate concise briefing</a:t>
            </a:r>
          </a:p>
          <a:p>
            <a:pPr algn="l">
              <a:lnSpc>
                <a:spcPts val="2161"/>
              </a:lnSpc>
            </a:pPr>
            <a:r>
              <a:rPr lang="en-US" sz="1801">
                <a:solidFill>
                  <a:srgbClr val="EFEEE7"/>
                </a:solidFill>
                <a:latin typeface="Public Sans"/>
                <a:ea typeface="Public Sans"/>
                <a:cs typeface="Public Sans"/>
                <a:sym typeface="Public Sans"/>
              </a:rPr>
              <a:t>• Suggest areas for consideration</a:t>
            </a:r>
          </a:p>
        </p:txBody>
      </p:sp>
      <p:sp>
        <p:nvSpPr>
          <p:cNvPr name="TextBox 25" id="25"/>
          <p:cNvSpPr txBox="true"/>
          <p:nvPr/>
        </p:nvSpPr>
        <p:spPr>
          <a:xfrm rot="0">
            <a:off x="13327149" y="4312491"/>
            <a:ext cx="469702" cy="476250"/>
          </a:xfrm>
          <a:prstGeom prst="rect">
            <a:avLst/>
          </a:prstGeom>
        </p:spPr>
        <p:txBody>
          <a:bodyPr anchor="t" rtlCol="false" tIns="0" lIns="0" bIns="0" rIns="0">
            <a:spAutoFit/>
          </a:bodyPr>
          <a:lstStyle/>
          <a:p>
            <a:pPr algn="ctr">
              <a:lnSpc>
                <a:spcPts val="3616"/>
              </a:lnSpc>
            </a:pPr>
            <a:r>
              <a:rPr lang="en-US" b="true" sz="3013" spc="684">
                <a:solidFill>
                  <a:srgbClr val="2B2C30"/>
                </a:solidFill>
                <a:latin typeface="Public Sans Bold"/>
                <a:ea typeface="Public Sans Bold"/>
                <a:cs typeface="Public Sans Bold"/>
                <a:sym typeface="Public Sans Bold"/>
              </a:rPr>
              <a:t>→</a:t>
            </a:r>
          </a:p>
        </p:txBody>
      </p:sp>
      <p:grpSp>
        <p:nvGrpSpPr>
          <p:cNvPr name="Group 26" id="26"/>
          <p:cNvGrpSpPr/>
          <p:nvPr/>
        </p:nvGrpSpPr>
        <p:grpSpPr>
          <a:xfrm rot="0">
            <a:off x="13788209" y="2738199"/>
            <a:ext cx="3857777" cy="3651885"/>
            <a:chOff x="0" y="0"/>
            <a:chExt cx="5143703" cy="4869180"/>
          </a:xfrm>
        </p:grpSpPr>
        <p:sp>
          <p:nvSpPr>
            <p:cNvPr name="Freeform 27" id="27"/>
            <p:cNvSpPr/>
            <p:nvPr/>
          </p:nvSpPr>
          <p:spPr>
            <a:xfrm flipH="false" flipV="false" rot="0">
              <a:off x="0" y="0"/>
              <a:ext cx="5143754" cy="4869180"/>
            </a:xfrm>
            <a:custGeom>
              <a:avLst/>
              <a:gdLst/>
              <a:ahLst/>
              <a:cxnLst/>
              <a:rect r="r" b="b" t="t" l="l"/>
              <a:pathLst>
                <a:path h="4869180" w="5143754">
                  <a:moveTo>
                    <a:pt x="0" y="811530"/>
                  </a:moveTo>
                  <a:cubicBezTo>
                    <a:pt x="0" y="363347"/>
                    <a:pt x="363347" y="0"/>
                    <a:pt x="811530" y="0"/>
                  </a:cubicBezTo>
                  <a:lnTo>
                    <a:pt x="4332224" y="0"/>
                  </a:lnTo>
                  <a:cubicBezTo>
                    <a:pt x="4780407" y="0"/>
                    <a:pt x="5143754" y="363347"/>
                    <a:pt x="5143754" y="811530"/>
                  </a:cubicBezTo>
                  <a:lnTo>
                    <a:pt x="5143754" y="4057650"/>
                  </a:lnTo>
                  <a:cubicBezTo>
                    <a:pt x="5143754" y="4505833"/>
                    <a:pt x="4780407" y="4869180"/>
                    <a:pt x="4332224" y="4869180"/>
                  </a:cubicBezTo>
                  <a:lnTo>
                    <a:pt x="811530" y="4869180"/>
                  </a:lnTo>
                  <a:cubicBezTo>
                    <a:pt x="363347" y="4869180"/>
                    <a:pt x="0" y="4505833"/>
                    <a:pt x="0" y="4057650"/>
                  </a:cubicBezTo>
                  <a:close/>
                </a:path>
              </a:pathLst>
            </a:custGeom>
            <a:solidFill>
              <a:srgbClr val="2B2C30"/>
            </a:solidFill>
            <a:ln w="14299" cap="sq">
              <a:solidFill>
                <a:srgbClr val="D2D8DE"/>
              </a:solidFill>
              <a:prstDash val="solid"/>
              <a:miter/>
            </a:ln>
          </p:spPr>
        </p:sp>
      </p:grpSp>
      <p:grpSp>
        <p:nvGrpSpPr>
          <p:cNvPr name="Group 28" id="28"/>
          <p:cNvGrpSpPr/>
          <p:nvPr/>
        </p:nvGrpSpPr>
        <p:grpSpPr>
          <a:xfrm rot="0">
            <a:off x="13795362" y="2745343"/>
            <a:ext cx="96088" cy="3637578"/>
            <a:chOff x="0" y="0"/>
            <a:chExt cx="128118" cy="4850105"/>
          </a:xfrm>
        </p:grpSpPr>
        <p:sp>
          <p:nvSpPr>
            <p:cNvPr name="Freeform 29" id="29"/>
            <p:cNvSpPr/>
            <p:nvPr/>
          </p:nvSpPr>
          <p:spPr>
            <a:xfrm flipH="false" flipV="false" rot="0">
              <a:off x="0" y="0"/>
              <a:ext cx="128143" cy="4850130"/>
            </a:xfrm>
            <a:custGeom>
              <a:avLst/>
              <a:gdLst/>
              <a:ahLst/>
              <a:cxnLst/>
              <a:rect r="r" b="b" t="t" l="l"/>
              <a:pathLst>
                <a:path h="4850130" w="128143">
                  <a:moveTo>
                    <a:pt x="0" y="0"/>
                  </a:moveTo>
                  <a:lnTo>
                    <a:pt x="128143" y="0"/>
                  </a:lnTo>
                  <a:lnTo>
                    <a:pt x="128143" y="4850130"/>
                  </a:lnTo>
                  <a:lnTo>
                    <a:pt x="0" y="4850130"/>
                  </a:lnTo>
                  <a:close/>
                </a:path>
              </a:pathLst>
            </a:custGeom>
            <a:solidFill>
              <a:srgbClr val="EFEEE7"/>
            </a:solidFill>
          </p:spPr>
        </p:sp>
      </p:grpSp>
      <p:sp>
        <p:nvSpPr>
          <p:cNvPr name="TextBox 30" id="30"/>
          <p:cNvSpPr txBox="true"/>
          <p:nvPr/>
        </p:nvSpPr>
        <p:spPr>
          <a:xfrm rot="0">
            <a:off x="14188783" y="3019092"/>
            <a:ext cx="3180169" cy="333375"/>
          </a:xfrm>
          <a:prstGeom prst="rect">
            <a:avLst/>
          </a:prstGeom>
        </p:spPr>
        <p:txBody>
          <a:bodyPr anchor="t" rtlCol="false" tIns="0" lIns="0" bIns="0" rIns="0">
            <a:spAutoFit/>
          </a:bodyPr>
          <a:lstStyle/>
          <a:p>
            <a:pPr algn="l">
              <a:lnSpc>
                <a:spcPts val="2521"/>
              </a:lnSpc>
            </a:pPr>
            <a:r>
              <a:rPr lang="en-US" b="true" sz="2101" spc="10">
                <a:solidFill>
                  <a:srgbClr val="EFEEE7"/>
                </a:solidFill>
                <a:latin typeface="Public Sans Bold"/>
                <a:ea typeface="Public Sans Bold"/>
                <a:cs typeface="Public Sans Bold"/>
                <a:sym typeface="Public Sans Bold"/>
              </a:rPr>
              <a:t>HUMAN REVIEW</a:t>
            </a:r>
          </a:p>
        </p:txBody>
      </p:sp>
      <p:sp>
        <p:nvSpPr>
          <p:cNvPr name="TextBox 31" id="31"/>
          <p:cNvSpPr txBox="true"/>
          <p:nvPr/>
        </p:nvSpPr>
        <p:spPr>
          <a:xfrm rot="0">
            <a:off x="14188783" y="3779387"/>
            <a:ext cx="3138983" cy="800100"/>
          </a:xfrm>
          <a:prstGeom prst="rect">
            <a:avLst/>
          </a:prstGeom>
        </p:spPr>
        <p:txBody>
          <a:bodyPr anchor="t" rtlCol="false" tIns="0" lIns="0" bIns="0" rIns="0">
            <a:spAutoFit/>
          </a:bodyPr>
          <a:lstStyle/>
          <a:p>
            <a:pPr algn="l">
              <a:lnSpc>
                <a:spcPts val="2161"/>
              </a:lnSpc>
            </a:pPr>
            <a:r>
              <a:rPr lang="en-US" sz="1801">
                <a:solidFill>
                  <a:srgbClr val="EFEEE7"/>
                </a:solidFill>
                <a:latin typeface="Public Sans"/>
                <a:ea typeface="Public Sans"/>
                <a:cs typeface="Public Sans"/>
                <a:sym typeface="Public Sans"/>
              </a:rPr>
              <a:t>Crew Manager</a:t>
            </a:r>
          </a:p>
          <a:p>
            <a:pPr algn="l">
              <a:lnSpc>
                <a:spcPts val="2161"/>
              </a:lnSpc>
            </a:pPr>
            <a:r>
              <a:rPr lang="en-US" sz="1801">
                <a:solidFill>
                  <a:srgbClr val="EFEEE7"/>
                </a:solidFill>
                <a:latin typeface="Public Sans"/>
                <a:ea typeface="Public Sans"/>
                <a:cs typeface="Public Sans"/>
                <a:sym typeface="Public Sans"/>
              </a:rPr>
              <a:t>Reviews → Validates → Decides → Acts</a:t>
            </a:r>
          </a:p>
        </p:txBody>
      </p:sp>
      <p:sp>
        <p:nvSpPr>
          <p:cNvPr name="TextBox 32" id="32"/>
          <p:cNvSpPr txBox="true"/>
          <p:nvPr/>
        </p:nvSpPr>
        <p:spPr>
          <a:xfrm rot="0">
            <a:off x="1464116" y="7379989"/>
            <a:ext cx="4072404" cy="390525"/>
          </a:xfrm>
          <a:prstGeom prst="rect">
            <a:avLst/>
          </a:prstGeom>
        </p:spPr>
        <p:txBody>
          <a:bodyPr anchor="t" rtlCol="false" tIns="0" lIns="0" bIns="0" rIns="0">
            <a:spAutoFit/>
          </a:bodyPr>
          <a:lstStyle/>
          <a:p>
            <a:pPr algn="ctr">
              <a:lnSpc>
                <a:spcPts val="3062"/>
              </a:lnSpc>
            </a:pPr>
            <a:r>
              <a:rPr lang="en-US" b="true" sz="2551" spc="12">
                <a:solidFill>
                  <a:srgbClr val="2B2C30"/>
                </a:solidFill>
                <a:latin typeface="Public Sans Bold"/>
                <a:ea typeface="Public Sans Bold"/>
                <a:cs typeface="Public Sans Bold"/>
                <a:sym typeface="Public Sans Bold"/>
              </a:rPr>
              <a:t>IDENTIFY</a:t>
            </a:r>
          </a:p>
        </p:txBody>
      </p:sp>
      <p:sp>
        <p:nvSpPr>
          <p:cNvPr name="TextBox 33" id="33"/>
          <p:cNvSpPr txBox="true"/>
          <p:nvPr/>
        </p:nvSpPr>
        <p:spPr>
          <a:xfrm rot="0">
            <a:off x="1189577" y="8075857"/>
            <a:ext cx="4621473" cy="266700"/>
          </a:xfrm>
          <a:prstGeom prst="rect">
            <a:avLst/>
          </a:prstGeom>
        </p:spPr>
        <p:txBody>
          <a:bodyPr anchor="t" rtlCol="false" tIns="0" lIns="0" bIns="0" rIns="0">
            <a:spAutoFit/>
          </a:bodyPr>
          <a:lstStyle/>
          <a:p>
            <a:pPr algn="ctr">
              <a:lnSpc>
                <a:spcPts val="2161"/>
              </a:lnSpc>
            </a:pPr>
            <a:r>
              <a:rPr lang="en-US" sz="1801">
                <a:solidFill>
                  <a:srgbClr val="2B2C30"/>
                </a:solidFill>
                <a:latin typeface="Public Sans"/>
                <a:ea typeface="Public Sans"/>
                <a:cs typeface="Public Sans"/>
                <a:sym typeface="Public Sans"/>
              </a:rPr>
              <a:t>Potential cases requiring attention</a:t>
            </a:r>
          </a:p>
        </p:txBody>
      </p:sp>
      <p:sp>
        <p:nvSpPr>
          <p:cNvPr name="TextBox 34" id="34"/>
          <p:cNvSpPr txBox="true"/>
          <p:nvPr/>
        </p:nvSpPr>
        <p:spPr>
          <a:xfrm rot="0">
            <a:off x="7092067" y="7379989"/>
            <a:ext cx="4072404" cy="390525"/>
          </a:xfrm>
          <a:prstGeom prst="rect">
            <a:avLst/>
          </a:prstGeom>
        </p:spPr>
        <p:txBody>
          <a:bodyPr anchor="t" rtlCol="false" tIns="0" lIns="0" bIns="0" rIns="0">
            <a:spAutoFit/>
          </a:bodyPr>
          <a:lstStyle/>
          <a:p>
            <a:pPr algn="ctr">
              <a:lnSpc>
                <a:spcPts val="3062"/>
              </a:lnSpc>
            </a:pPr>
            <a:r>
              <a:rPr lang="en-US" b="true" sz="2551" spc="12">
                <a:solidFill>
                  <a:srgbClr val="2B2C30"/>
                </a:solidFill>
                <a:latin typeface="Public Sans Bold"/>
                <a:ea typeface="Public Sans Bold"/>
                <a:cs typeface="Public Sans Bold"/>
                <a:sym typeface="Public Sans Bold"/>
              </a:rPr>
              <a:t>EXPLAIN</a:t>
            </a:r>
          </a:p>
        </p:txBody>
      </p:sp>
      <p:sp>
        <p:nvSpPr>
          <p:cNvPr name="TextBox 35" id="35"/>
          <p:cNvSpPr txBox="true"/>
          <p:nvPr/>
        </p:nvSpPr>
        <p:spPr>
          <a:xfrm rot="0">
            <a:off x="6817538" y="8075857"/>
            <a:ext cx="4621473" cy="266700"/>
          </a:xfrm>
          <a:prstGeom prst="rect">
            <a:avLst/>
          </a:prstGeom>
        </p:spPr>
        <p:txBody>
          <a:bodyPr anchor="t" rtlCol="false" tIns="0" lIns="0" bIns="0" rIns="0">
            <a:spAutoFit/>
          </a:bodyPr>
          <a:lstStyle/>
          <a:p>
            <a:pPr algn="ctr">
              <a:lnSpc>
                <a:spcPts val="2161"/>
              </a:lnSpc>
            </a:pPr>
            <a:r>
              <a:rPr lang="en-US" sz="1801">
                <a:solidFill>
                  <a:srgbClr val="2B2C30"/>
                </a:solidFill>
                <a:latin typeface="Public Sans"/>
                <a:ea typeface="Public Sans"/>
                <a:cs typeface="Public Sans"/>
                <a:sym typeface="Public Sans"/>
              </a:rPr>
              <a:t>Factors contributing to the risk</a:t>
            </a:r>
          </a:p>
        </p:txBody>
      </p:sp>
      <p:sp>
        <p:nvSpPr>
          <p:cNvPr name="TextBox 36" id="36"/>
          <p:cNvSpPr txBox="true"/>
          <p:nvPr/>
        </p:nvSpPr>
        <p:spPr>
          <a:xfrm rot="0">
            <a:off x="12720028" y="7379989"/>
            <a:ext cx="4072404" cy="390525"/>
          </a:xfrm>
          <a:prstGeom prst="rect">
            <a:avLst/>
          </a:prstGeom>
        </p:spPr>
        <p:txBody>
          <a:bodyPr anchor="t" rtlCol="false" tIns="0" lIns="0" bIns="0" rIns="0">
            <a:spAutoFit/>
          </a:bodyPr>
          <a:lstStyle/>
          <a:p>
            <a:pPr algn="ctr">
              <a:lnSpc>
                <a:spcPts val="3062"/>
              </a:lnSpc>
            </a:pPr>
            <a:r>
              <a:rPr lang="en-US" b="true" sz="2551" spc="12">
                <a:solidFill>
                  <a:srgbClr val="2B2C30"/>
                </a:solidFill>
                <a:latin typeface="Public Sans Bold"/>
                <a:ea typeface="Public Sans Bold"/>
                <a:cs typeface="Public Sans Bold"/>
                <a:sym typeface="Public Sans Bold"/>
              </a:rPr>
              <a:t>SUPPORT</a:t>
            </a:r>
          </a:p>
        </p:txBody>
      </p:sp>
      <p:sp>
        <p:nvSpPr>
          <p:cNvPr name="TextBox 37" id="37"/>
          <p:cNvSpPr txBox="true"/>
          <p:nvPr/>
        </p:nvSpPr>
        <p:spPr>
          <a:xfrm rot="0">
            <a:off x="12445489" y="8075857"/>
            <a:ext cx="4621473" cy="533400"/>
          </a:xfrm>
          <a:prstGeom prst="rect">
            <a:avLst/>
          </a:prstGeom>
        </p:spPr>
        <p:txBody>
          <a:bodyPr anchor="t" rtlCol="false" tIns="0" lIns="0" bIns="0" rIns="0">
            <a:spAutoFit/>
          </a:bodyPr>
          <a:lstStyle/>
          <a:p>
            <a:pPr algn="ctr">
              <a:lnSpc>
                <a:spcPts val="2161"/>
              </a:lnSpc>
            </a:pPr>
            <a:r>
              <a:rPr lang="en-US" sz="1801">
                <a:solidFill>
                  <a:srgbClr val="2B2C30"/>
                </a:solidFill>
                <a:latin typeface="Public Sans"/>
                <a:ea typeface="Public Sans"/>
                <a:cs typeface="Public Sans"/>
                <a:sym typeface="Public Sans"/>
              </a:rPr>
              <a:t>Human judgement — not autonomous decisions</a:t>
            </a:r>
          </a:p>
        </p:txBody>
      </p:sp>
      <p:sp>
        <p:nvSpPr>
          <p:cNvPr name="TextBox 38" id="38"/>
          <p:cNvSpPr txBox="true"/>
          <p:nvPr/>
        </p:nvSpPr>
        <p:spPr>
          <a:xfrm rot="0">
            <a:off x="1052312" y="9754714"/>
            <a:ext cx="2058442" cy="209550"/>
          </a:xfrm>
          <a:prstGeom prst="rect">
            <a:avLst/>
          </a:prstGeom>
        </p:spPr>
        <p:txBody>
          <a:bodyPr anchor="t" rtlCol="false" tIns="0" lIns="0" bIns="0" rIns="0">
            <a:spAutoFit/>
          </a:bodyPr>
          <a:lstStyle/>
          <a:p>
            <a:pPr algn="l">
              <a:lnSpc>
                <a:spcPts val="1621"/>
              </a:lnSpc>
            </a:pPr>
            <a:r>
              <a:rPr lang="en-US" sz="1351">
                <a:solidFill>
                  <a:srgbClr val="2B2C30"/>
                </a:solidFill>
                <a:latin typeface="Public Sans"/>
                <a:ea typeface="Public Sans"/>
                <a:cs typeface="Public Sans"/>
                <a:sym typeface="Public Sans"/>
              </a:rPr>
              <a:t>Crew Change Risk Copilot</a:t>
            </a:r>
          </a:p>
        </p:txBody>
      </p:sp>
      <p:sp>
        <p:nvSpPr>
          <p:cNvPr name="TextBox 39" id="39"/>
          <p:cNvSpPr txBox="true"/>
          <p:nvPr/>
        </p:nvSpPr>
        <p:spPr>
          <a:xfrm rot="0">
            <a:off x="17096326" y="9754714"/>
            <a:ext cx="107900" cy="209550"/>
          </a:xfrm>
          <a:prstGeom prst="rect">
            <a:avLst/>
          </a:prstGeom>
        </p:spPr>
        <p:txBody>
          <a:bodyPr anchor="t" rtlCol="false" tIns="0" lIns="0" bIns="0" rIns="0">
            <a:spAutoFit/>
          </a:bodyPr>
          <a:lstStyle/>
          <a:p>
            <a:pPr algn="r">
              <a:lnSpc>
                <a:spcPts val="1621"/>
              </a:lnSpc>
            </a:pPr>
            <a:r>
              <a:rPr lang="en-US" sz="1351">
                <a:solidFill>
                  <a:srgbClr val="2B2C30"/>
                </a:solidFill>
                <a:latin typeface="Public Sans"/>
                <a:ea typeface="Public Sans"/>
                <a:cs typeface="Public Sans"/>
                <a:sym typeface="Public Sans"/>
              </a:rPr>
              <a:t>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52312" y="653901"/>
            <a:ext cx="17075051" cy="533400"/>
          </a:xfrm>
          <a:prstGeom prst="rect">
            <a:avLst/>
          </a:prstGeom>
        </p:spPr>
        <p:txBody>
          <a:bodyPr anchor="t" rtlCol="false" tIns="0" lIns="0" bIns="0" rIns="0">
            <a:spAutoFit/>
          </a:bodyPr>
          <a:lstStyle/>
          <a:p>
            <a:pPr algn="l">
              <a:lnSpc>
                <a:spcPts val="4188"/>
              </a:lnSpc>
            </a:pPr>
            <a:r>
              <a:rPr lang="en-US" b="true" sz="3490" spc="792">
                <a:solidFill>
                  <a:srgbClr val="2B2C30"/>
                </a:solidFill>
                <a:latin typeface="Public Sans Bold"/>
                <a:ea typeface="Public Sans Bold"/>
                <a:cs typeface="Public Sans Bold"/>
                <a:sym typeface="Public Sans Bold"/>
              </a:rPr>
              <a:t>PROOF OF CONCEPT: VALIDATING THE CORE WORKFLOW</a:t>
            </a:r>
          </a:p>
        </p:txBody>
      </p:sp>
      <p:grpSp>
        <p:nvGrpSpPr>
          <p:cNvPr name="Group 3" id="3"/>
          <p:cNvGrpSpPr/>
          <p:nvPr/>
        </p:nvGrpSpPr>
        <p:grpSpPr>
          <a:xfrm rot="0">
            <a:off x="960872" y="1509941"/>
            <a:ext cx="1509941" cy="68637"/>
            <a:chOff x="0" y="0"/>
            <a:chExt cx="2013255" cy="91516"/>
          </a:xfrm>
        </p:grpSpPr>
        <p:sp>
          <p:nvSpPr>
            <p:cNvPr name="Freeform 4" id="4"/>
            <p:cNvSpPr/>
            <p:nvPr/>
          </p:nvSpPr>
          <p:spPr>
            <a:xfrm flipH="false" flipV="false" rot="0">
              <a:off x="0" y="0"/>
              <a:ext cx="2013204" cy="91567"/>
            </a:xfrm>
            <a:custGeom>
              <a:avLst/>
              <a:gdLst/>
              <a:ahLst/>
              <a:cxnLst/>
              <a:rect r="r" b="b" t="t" l="l"/>
              <a:pathLst>
                <a:path h="91567" w="2013204">
                  <a:moveTo>
                    <a:pt x="0" y="0"/>
                  </a:moveTo>
                  <a:lnTo>
                    <a:pt x="2013204" y="0"/>
                  </a:lnTo>
                  <a:lnTo>
                    <a:pt x="2013204" y="91567"/>
                  </a:lnTo>
                  <a:lnTo>
                    <a:pt x="0" y="91567"/>
                  </a:lnTo>
                  <a:close/>
                </a:path>
              </a:pathLst>
            </a:custGeom>
            <a:solidFill>
              <a:srgbClr val="2B2C30"/>
            </a:solidFill>
          </p:spPr>
        </p:sp>
      </p:grpSp>
      <p:grpSp>
        <p:nvGrpSpPr>
          <p:cNvPr name="Group 5" id="5"/>
          <p:cNvGrpSpPr/>
          <p:nvPr/>
        </p:nvGrpSpPr>
        <p:grpSpPr>
          <a:xfrm rot="0">
            <a:off x="610552" y="2463660"/>
            <a:ext cx="3034179" cy="2004670"/>
            <a:chOff x="0" y="0"/>
            <a:chExt cx="4045572" cy="2672893"/>
          </a:xfrm>
        </p:grpSpPr>
        <p:sp>
          <p:nvSpPr>
            <p:cNvPr name="Freeform 6" id="6"/>
            <p:cNvSpPr/>
            <p:nvPr/>
          </p:nvSpPr>
          <p:spPr>
            <a:xfrm flipH="false" flipV="false" rot="0">
              <a:off x="0" y="0"/>
              <a:ext cx="4045585" cy="2672969"/>
            </a:xfrm>
            <a:custGeom>
              <a:avLst/>
              <a:gdLst/>
              <a:ahLst/>
              <a:cxnLst/>
              <a:rect r="r" b="b" t="t" l="l"/>
              <a:pathLst>
                <a:path h="2672969" w="4045585">
                  <a:moveTo>
                    <a:pt x="0" y="445516"/>
                  </a:moveTo>
                  <a:cubicBezTo>
                    <a:pt x="0" y="199517"/>
                    <a:pt x="199517" y="0"/>
                    <a:pt x="445516" y="0"/>
                  </a:cubicBezTo>
                  <a:lnTo>
                    <a:pt x="3600069" y="0"/>
                  </a:lnTo>
                  <a:cubicBezTo>
                    <a:pt x="3846068" y="0"/>
                    <a:pt x="4045585" y="199517"/>
                    <a:pt x="4045585" y="445516"/>
                  </a:cubicBezTo>
                  <a:lnTo>
                    <a:pt x="4045585" y="2227453"/>
                  </a:lnTo>
                  <a:cubicBezTo>
                    <a:pt x="4045585" y="2473452"/>
                    <a:pt x="3846068" y="2672969"/>
                    <a:pt x="3600069" y="2672969"/>
                  </a:cubicBezTo>
                  <a:lnTo>
                    <a:pt x="445516" y="2672969"/>
                  </a:lnTo>
                  <a:cubicBezTo>
                    <a:pt x="199517" y="2672842"/>
                    <a:pt x="0" y="2473452"/>
                    <a:pt x="0" y="2227453"/>
                  </a:cubicBezTo>
                  <a:close/>
                </a:path>
              </a:pathLst>
            </a:custGeom>
            <a:solidFill>
              <a:srgbClr val="2B2C30"/>
            </a:solidFill>
            <a:ln w="14299" cap="sq">
              <a:solidFill>
                <a:srgbClr val="D2D8DE"/>
              </a:solidFill>
              <a:prstDash val="solid"/>
              <a:miter/>
            </a:ln>
          </p:spPr>
        </p:sp>
      </p:grpSp>
      <p:grpSp>
        <p:nvGrpSpPr>
          <p:cNvPr name="Group 7" id="7"/>
          <p:cNvGrpSpPr/>
          <p:nvPr/>
        </p:nvGrpSpPr>
        <p:grpSpPr>
          <a:xfrm rot="0">
            <a:off x="617706" y="2470814"/>
            <a:ext cx="96088" cy="1990373"/>
            <a:chOff x="0" y="0"/>
            <a:chExt cx="128118" cy="2653830"/>
          </a:xfrm>
        </p:grpSpPr>
        <p:sp>
          <p:nvSpPr>
            <p:cNvPr name="Freeform 8" id="8"/>
            <p:cNvSpPr/>
            <p:nvPr/>
          </p:nvSpPr>
          <p:spPr>
            <a:xfrm flipH="false" flipV="false" rot="0">
              <a:off x="0" y="0"/>
              <a:ext cx="128143" cy="2653792"/>
            </a:xfrm>
            <a:custGeom>
              <a:avLst/>
              <a:gdLst/>
              <a:ahLst/>
              <a:cxnLst/>
              <a:rect r="r" b="b" t="t" l="l"/>
              <a:pathLst>
                <a:path h="2653792" w="128143">
                  <a:moveTo>
                    <a:pt x="0" y="0"/>
                  </a:moveTo>
                  <a:lnTo>
                    <a:pt x="128143" y="0"/>
                  </a:lnTo>
                  <a:lnTo>
                    <a:pt x="128143" y="2653792"/>
                  </a:lnTo>
                  <a:lnTo>
                    <a:pt x="0" y="2653792"/>
                  </a:lnTo>
                  <a:close/>
                </a:path>
              </a:pathLst>
            </a:custGeom>
            <a:solidFill>
              <a:srgbClr val="EFEEE7"/>
            </a:solidFill>
          </p:spPr>
        </p:sp>
      </p:grpSp>
      <p:sp>
        <p:nvSpPr>
          <p:cNvPr name="TextBox 9" id="9"/>
          <p:cNvSpPr txBox="true"/>
          <p:nvPr/>
        </p:nvSpPr>
        <p:spPr>
          <a:xfrm rot="0">
            <a:off x="1011126" y="2754087"/>
            <a:ext cx="2356561" cy="523875"/>
          </a:xfrm>
          <a:prstGeom prst="rect">
            <a:avLst/>
          </a:prstGeom>
        </p:spPr>
        <p:txBody>
          <a:bodyPr anchor="t" rtlCol="false" tIns="0" lIns="0" bIns="0" rIns="0">
            <a:spAutoFit/>
          </a:bodyPr>
          <a:lstStyle/>
          <a:p>
            <a:pPr algn="l">
              <a:lnSpc>
                <a:spcPts val="2075"/>
              </a:lnSpc>
            </a:pPr>
            <a:r>
              <a:rPr lang="en-US" b="true" sz="1729" spc="8">
                <a:solidFill>
                  <a:srgbClr val="EFEEE7"/>
                </a:solidFill>
                <a:latin typeface="Public Sans Bold"/>
                <a:ea typeface="Public Sans Bold"/>
                <a:cs typeface="Public Sans Bold"/>
                <a:sym typeface="Public Sans Bold"/>
              </a:rPr>
              <a:t>Crew Change</a:t>
            </a:r>
          </a:p>
          <a:p>
            <a:pPr algn="l">
              <a:lnSpc>
                <a:spcPts val="2075"/>
              </a:lnSpc>
            </a:pPr>
            <a:r>
              <a:rPr lang="en-US" b="true" sz="1729" spc="8">
                <a:solidFill>
                  <a:srgbClr val="EFEEE7"/>
                </a:solidFill>
                <a:latin typeface="Public Sans Bold"/>
                <a:ea typeface="Public Sans Bold"/>
                <a:cs typeface="Public Sans Bold"/>
                <a:sym typeface="Public Sans Bold"/>
              </a:rPr>
              <a:t>Record</a:t>
            </a:r>
          </a:p>
        </p:txBody>
      </p:sp>
      <p:sp>
        <p:nvSpPr>
          <p:cNvPr name="TextBox 10" id="10"/>
          <p:cNvSpPr txBox="true"/>
          <p:nvPr/>
        </p:nvSpPr>
        <p:spPr>
          <a:xfrm rot="0">
            <a:off x="3601767" y="3211268"/>
            <a:ext cx="469702" cy="476250"/>
          </a:xfrm>
          <a:prstGeom prst="rect">
            <a:avLst/>
          </a:prstGeom>
        </p:spPr>
        <p:txBody>
          <a:bodyPr anchor="t" rtlCol="false" tIns="0" lIns="0" bIns="0" rIns="0">
            <a:spAutoFit/>
          </a:bodyPr>
          <a:lstStyle/>
          <a:p>
            <a:pPr algn="ctr">
              <a:lnSpc>
                <a:spcPts val="3616"/>
              </a:lnSpc>
            </a:pPr>
            <a:r>
              <a:rPr lang="en-US" b="true" sz="3013" spc="684">
                <a:solidFill>
                  <a:srgbClr val="2B2C30"/>
                </a:solidFill>
                <a:latin typeface="Public Sans Bold"/>
                <a:ea typeface="Public Sans Bold"/>
                <a:cs typeface="Public Sans Bold"/>
                <a:sym typeface="Public Sans Bold"/>
              </a:rPr>
              <a:t>→</a:t>
            </a:r>
          </a:p>
        </p:txBody>
      </p:sp>
      <p:grpSp>
        <p:nvGrpSpPr>
          <p:cNvPr name="Group 11" id="11"/>
          <p:cNvGrpSpPr/>
          <p:nvPr/>
        </p:nvGrpSpPr>
        <p:grpSpPr>
          <a:xfrm rot="0">
            <a:off x="4110866" y="2463660"/>
            <a:ext cx="3034179" cy="2004670"/>
            <a:chOff x="0" y="0"/>
            <a:chExt cx="4045572" cy="2672893"/>
          </a:xfrm>
        </p:grpSpPr>
        <p:sp>
          <p:nvSpPr>
            <p:cNvPr name="Freeform 12" id="12"/>
            <p:cNvSpPr/>
            <p:nvPr/>
          </p:nvSpPr>
          <p:spPr>
            <a:xfrm flipH="false" flipV="false" rot="0">
              <a:off x="0" y="0"/>
              <a:ext cx="4045585" cy="2672969"/>
            </a:xfrm>
            <a:custGeom>
              <a:avLst/>
              <a:gdLst/>
              <a:ahLst/>
              <a:cxnLst/>
              <a:rect r="r" b="b" t="t" l="l"/>
              <a:pathLst>
                <a:path h="2672969" w="4045585">
                  <a:moveTo>
                    <a:pt x="0" y="445516"/>
                  </a:moveTo>
                  <a:cubicBezTo>
                    <a:pt x="0" y="199517"/>
                    <a:pt x="199517" y="0"/>
                    <a:pt x="445516" y="0"/>
                  </a:cubicBezTo>
                  <a:lnTo>
                    <a:pt x="3600069" y="0"/>
                  </a:lnTo>
                  <a:cubicBezTo>
                    <a:pt x="3846068" y="0"/>
                    <a:pt x="4045585" y="199517"/>
                    <a:pt x="4045585" y="445516"/>
                  </a:cubicBezTo>
                  <a:lnTo>
                    <a:pt x="4045585" y="2227453"/>
                  </a:lnTo>
                  <a:cubicBezTo>
                    <a:pt x="4045585" y="2473452"/>
                    <a:pt x="3846068" y="2672969"/>
                    <a:pt x="3600069" y="2672969"/>
                  </a:cubicBezTo>
                  <a:lnTo>
                    <a:pt x="445516" y="2672969"/>
                  </a:lnTo>
                  <a:cubicBezTo>
                    <a:pt x="199517" y="2672842"/>
                    <a:pt x="0" y="2473452"/>
                    <a:pt x="0" y="2227453"/>
                  </a:cubicBezTo>
                  <a:close/>
                </a:path>
              </a:pathLst>
            </a:custGeom>
            <a:solidFill>
              <a:srgbClr val="2B2C30"/>
            </a:solidFill>
            <a:ln w="14299" cap="sq">
              <a:solidFill>
                <a:srgbClr val="D2D8DE"/>
              </a:solidFill>
              <a:prstDash val="solid"/>
              <a:miter/>
            </a:ln>
          </p:spPr>
        </p:sp>
      </p:grpSp>
      <p:grpSp>
        <p:nvGrpSpPr>
          <p:cNvPr name="Group 13" id="13"/>
          <p:cNvGrpSpPr/>
          <p:nvPr/>
        </p:nvGrpSpPr>
        <p:grpSpPr>
          <a:xfrm rot="0">
            <a:off x="4118019" y="2470814"/>
            <a:ext cx="96088" cy="1990373"/>
            <a:chOff x="0" y="0"/>
            <a:chExt cx="128118" cy="2653830"/>
          </a:xfrm>
        </p:grpSpPr>
        <p:sp>
          <p:nvSpPr>
            <p:cNvPr name="Freeform 14" id="14"/>
            <p:cNvSpPr/>
            <p:nvPr/>
          </p:nvSpPr>
          <p:spPr>
            <a:xfrm flipH="false" flipV="false" rot="0">
              <a:off x="0" y="0"/>
              <a:ext cx="128143" cy="2653792"/>
            </a:xfrm>
            <a:custGeom>
              <a:avLst/>
              <a:gdLst/>
              <a:ahLst/>
              <a:cxnLst/>
              <a:rect r="r" b="b" t="t" l="l"/>
              <a:pathLst>
                <a:path h="2653792" w="128143">
                  <a:moveTo>
                    <a:pt x="0" y="0"/>
                  </a:moveTo>
                  <a:lnTo>
                    <a:pt x="128143" y="0"/>
                  </a:lnTo>
                  <a:lnTo>
                    <a:pt x="128143" y="2653792"/>
                  </a:lnTo>
                  <a:lnTo>
                    <a:pt x="0" y="2653792"/>
                  </a:lnTo>
                  <a:close/>
                </a:path>
              </a:pathLst>
            </a:custGeom>
            <a:solidFill>
              <a:srgbClr val="EFEEE7"/>
            </a:solidFill>
          </p:spPr>
        </p:sp>
      </p:grpSp>
      <p:sp>
        <p:nvSpPr>
          <p:cNvPr name="TextBox 15" id="15"/>
          <p:cNvSpPr txBox="true"/>
          <p:nvPr/>
        </p:nvSpPr>
        <p:spPr>
          <a:xfrm rot="0">
            <a:off x="4511450" y="2754087"/>
            <a:ext cx="2356561" cy="390525"/>
          </a:xfrm>
          <a:prstGeom prst="rect">
            <a:avLst/>
          </a:prstGeom>
        </p:spPr>
        <p:txBody>
          <a:bodyPr anchor="t" rtlCol="false" tIns="0" lIns="0" bIns="0" rIns="0">
            <a:spAutoFit/>
          </a:bodyPr>
          <a:lstStyle/>
          <a:p>
            <a:pPr algn="l">
              <a:lnSpc>
                <a:spcPts val="1554"/>
              </a:lnSpc>
            </a:pPr>
            <a:r>
              <a:rPr lang="en-US" b="true" sz="1295" spc="6">
                <a:solidFill>
                  <a:srgbClr val="EFEEE7"/>
                </a:solidFill>
                <a:latin typeface="Public Sans Bold"/>
                <a:ea typeface="Public Sans Bold"/>
                <a:cs typeface="Public Sans Bold"/>
                <a:sym typeface="Public Sans Bold"/>
              </a:rPr>
              <a:t>External Operational Context</a:t>
            </a:r>
          </a:p>
          <a:p>
            <a:pPr algn="l">
              <a:lnSpc>
                <a:spcPts val="1554"/>
              </a:lnSpc>
            </a:pPr>
            <a:r>
              <a:rPr lang="en-US" b="true" sz="1295" spc="6">
                <a:solidFill>
                  <a:srgbClr val="EFEEE7"/>
                </a:solidFill>
                <a:latin typeface="Public Sans Bold"/>
                <a:ea typeface="Public Sans Bold"/>
                <a:cs typeface="Public Sans Bold"/>
                <a:sym typeface="Public Sans Bold"/>
              </a:rPr>
              <a:t>Airport + Weather</a:t>
            </a:r>
          </a:p>
        </p:txBody>
      </p:sp>
      <p:sp>
        <p:nvSpPr>
          <p:cNvPr name="TextBox 16" id="16"/>
          <p:cNvSpPr txBox="true"/>
          <p:nvPr/>
        </p:nvSpPr>
        <p:spPr>
          <a:xfrm rot="0">
            <a:off x="7102081" y="3211268"/>
            <a:ext cx="469702" cy="476250"/>
          </a:xfrm>
          <a:prstGeom prst="rect">
            <a:avLst/>
          </a:prstGeom>
        </p:spPr>
        <p:txBody>
          <a:bodyPr anchor="t" rtlCol="false" tIns="0" lIns="0" bIns="0" rIns="0">
            <a:spAutoFit/>
          </a:bodyPr>
          <a:lstStyle/>
          <a:p>
            <a:pPr algn="ctr">
              <a:lnSpc>
                <a:spcPts val="3616"/>
              </a:lnSpc>
            </a:pPr>
            <a:r>
              <a:rPr lang="en-US" b="true" sz="3013" spc="684">
                <a:solidFill>
                  <a:srgbClr val="2B2C30"/>
                </a:solidFill>
                <a:latin typeface="Public Sans Bold"/>
                <a:ea typeface="Public Sans Bold"/>
                <a:cs typeface="Public Sans Bold"/>
                <a:sym typeface="Public Sans Bold"/>
              </a:rPr>
              <a:t>→</a:t>
            </a:r>
          </a:p>
        </p:txBody>
      </p:sp>
      <p:grpSp>
        <p:nvGrpSpPr>
          <p:cNvPr name="Group 17" id="17"/>
          <p:cNvGrpSpPr/>
          <p:nvPr/>
        </p:nvGrpSpPr>
        <p:grpSpPr>
          <a:xfrm rot="0">
            <a:off x="7611180" y="2463660"/>
            <a:ext cx="3034179" cy="2004670"/>
            <a:chOff x="0" y="0"/>
            <a:chExt cx="4045572" cy="2672893"/>
          </a:xfrm>
        </p:grpSpPr>
        <p:sp>
          <p:nvSpPr>
            <p:cNvPr name="Freeform 18" id="18"/>
            <p:cNvSpPr/>
            <p:nvPr/>
          </p:nvSpPr>
          <p:spPr>
            <a:xfrm flipH="false" flipV="false" rot="0">
              <a:off x="0" y="0"/>
              <a:ext cx="4045585" cy="2672969"/>
            </a:xfrm>
            <a:custGeom>
              <a:avLst/>
              <a:gdLst/>
              <a:ahLst/>
              <a:cxnLst/>
              <a:rect r="r" b="b" t="t" l="l"/>
              <a:pathLst>
                <a:path h="2672969" w="4045585">
                  <a:moveTo>
                    <a:pt x="0" y="445516"/>
                  </a:moveTo>
                  <a:cubicBezTo>
                    <a:pt x="0" y="199517"/>
                    <a:pt x="199517" y="0"/>
                    <a:pt x="445516" y="0"/>
                  </a:cubicBezTo>
                  <a:lnTo>
                    <a:pt x="3600069" y="0"/>
                  </a:lnTo>
                  <a:cubicBezTo>
                    <a:pt x="3846068" y="0"/>
                    <a:pt x="4045585" y="199517"/>
                    <a:pt x="4045585" y="445516"/>
                  </a:cubicBezTo>
                  <a:lnTo>
                    <a:pt x="4045585" y="2227453"/>
                  </a:lnTo>
                  <a:cubicBezTo>
                    <a:pt x="4045585" y="2473452"/>
                    <a:pt x="3846068" y="2672969"/>
                    <a:pt x="3600069" y="2672969"/>
                  </a:cubicBezTo>
                  <a:lnTo>
                    <a:pt x="445516" y="2672969"/>
                  </a:lnTo>
                  <a:cubicBezTo>
                    <a:pt x="199517" y="2672842"/>
                    <a:pt x="0" y="2473452"/>
                    <a:pt x="0" y="2227453"/>
                  </a:cubicBezTo>
                  <a:close/>
                </a:path>
              </a:pathLst>
            </a:custGeom>
            <a:solidFill>
              <a:srgbClr val="2B2C30"/>
            </a:solidFill>
            <a:ln w="14299" cap="sq">
              <a:solidFill>
                <a:srgbClr val="D2D8DE"/>
              </a:solidFill>
              <a:prstDash val="solid"/>
              <a:miter/>
            </a:ln>
          </p:spPr>
        </p:sp>
      </p:grpSp>
      <p:grpSp>
        <p:nvGrpSpPr>
          <p:cNvPr name="Group 19" id="19"/>
          <p:cNvGrpSpPr/>
          <p:nvPr/>
        </p:nvGrpSpPr>
        <p:grpSpPr>
          <a:xfrm rot="0">
            <a:off x="7618333" y="2470814"/>
            <a:ext cx="96088" cy="1990373"/>
            <a:chOff x="0" y="0"/>
            <a:chExt cx="128118" cy="2653830"/>
          </a:xfrm>
        </p:grpSpPr>
        <p:sp>
          <p:nvSpPr>
            <p:cNvPr name="Freeform 20" id="20"/>
            <p:cNvSpPr/>
            <p:nvPr/>
          </p:nvSpPr>
          <p:spPr>
            <a:xfrm flipH="false" flipV="false" rot="0">
              <a:off x="0" y="0"/>
              <a:ext cx="128143" cy="2653792"/>
            </a:xfrm>
            <a:custGeom>
              <a:avLst/>
              <a:gdLst/>
              <a:ahLst/>
              <a:cxnLst/>
              <a:rect r="r" b="b" t="t" l="l"/>
              <a:pathLst>
                <a:path h="2653792" w="128143">
                  <a:moveTo>
                    <a:pt x="0" y="0"/>
                  </a:moveTo>
                  <a:lnTo>
                    <a:pt x="128143" y="0"/>
                  </a:lnTo>
                  <a:lnTo>
                    <a:pt x="128143" y="2653792"/>
                  </a:lnTo>
                  <a:lnTo>
                    <a:pt x="0" y="2653792"/>
                  </a:lnTo>
                  <a:close/>
                </a:path>
              </a:pathLst>
            </a:custGeom>
            <a:solidFill>
              <a:srgbClr val="EFEEE7"/>
            </a:solidFill>
          </p:spPr>
        </p:sp>
      </p:grpSp>
      <p:sp>
        <p:nvSpPr>
          <p:cNvPr name="TextBox 21" id="21"/>
          <p:cNvSpPr txBox="true"/>
          <p:nvPr/>
        </p:nvSpPr>
        <p:spPr>
          <a:xfrm rot="0">
            <a:off x="8011763" y="2754087"/>
            <a:ext cx="2356561" cy="371475"/>
          </a:xfrm>
          <a:prstGeom prst="rect">
            <a:avLst/>
          </a:prstGeom>
        </p:spPr>
        <p:txBody>
          <a:bodyPr anchor="t" rtlCol="false" tIns="0" lIns="0" bIns="0" rIns="0">
            <a:spAutoFit/>
          </a:bodyPr>
          <a:lstStyle/>
          <a:p>
            <a:pPr algn="l">
              <a:lnSpc>
                <a:spcPts val="1488"/>
              </a:lnSpc>
            </a:pPr>
            <a:r>
              <a:rPr lang="en-US" b="true" sz="1240" spc="6">
                <a:solidFill>
                  <a:srgbClr val="EFEEE7"/>
                </a:solidFill>
                <a:latin typeface="Public Sans Bold"/>
                <a:ea typeface="Public Sans Bold"/>
                <a:cs typeface="Public Sans Bold"/>
                <a:sym typeface="Public Sans Bold"/>
              </a:rPr>
              <a:t>Deterministic Risk Assessment</a:t>
            </a:r>
          </a:p>
          <a:p>
            <a:pPr algn="l">
              <a:lnSpc>
                <a:spcPts val="1488"/>
              </a:lnSpc>
            </a:pPr>
            <a:r>
              <a:rPr lang="en-US" b="true" sz="1240" spc="6">
                <a:solidFill>
                  <a:srgbClr val="EFEEE7"/>
                </a:solidFill>
                <a:latin typeface="Public Sans Bold"/>
                <a:ea typeface="Public Sans Bold"/>
                <a:cs typeface="Public Sans Bold"/>
                <a:sym typeface="Public Sans Bold"/>
              </a:rPr>
              <a:t>Risk Score + Drivers</a:t>
            </a:r>
          </a:p>
        </p:txBody>
      </p:sp>
      <p:sp>
        <p:nvSpPr>
          <p:cNvPr name="TextBox 22" id="22"/>
          <p:cNvSpPr txBox="true"/>
          <p:nvPr/>
        </p:nvSpPr>
        <p:spPr>
          <a:xfrm rot="0">
            <a:off x="10602394" y="3211268"/>
            <a:ext cx="469702" cy="476250"/>
          </a:xfrm>
          <a:prstGeom prst="rect">
            <a:avLst/>
          </a:prstGeom>
        </p:spPr>
        <p:txBody>
          <a:bodyPr anchor="t" rtlCol="false" tIns="0" lIns="0" bIns="0" rIns="0">
            <a:spAutoFit/>
          </a:bodyPr>
          <a:lstStyle/>
          <a:p>
            <a:pPr algn="ctr">
              <a:lnSpc>
                <a:spcPts val="3616"/>
              </a:lnSpc>
            </a:pPr>
            <a:r>
              <a:rPr lang="en-US" b="true" sz="3013" spc="684">
                <a:solidFill>
                  <a:srgbClr val="2B2C30"/>
                </a:solidFill>
                <a:latin typeface="Public Sans Bold"/>
                <a:ea typeface="Public Sans Bold"/>
                <a:cs typeface="Public Sans Bold"/>
                <a:sym typeface="Public Sans Bold"/>
              </a:rPr>
              <a:t>→</a:t>
            </a:r>
          </a:p>
        </p:txBody>
      </p:sp>
      <p:grpSp>
        <p:nvGrpSpPr>
          <p:cNvPr name="Group 23" id="23"/>
          <p:cNvGrpSpPr/>
          <p:nvPr/>
        </p:nvGrpSpPr>
        <p:grpSpPr>
          <a:xfrm rot="0">
            <a:off x="11111494" y="2463660"/>
            <a:ext cx="3034179" cy="2004670"/>
            <a:chOff x="0" y="0"/>
            <a:chExt cx="4045572" cy="2672893"/>
          </a:xfrm>
        </p:grpSpPr>
        <p:sp>
          <p:nvSpPr>
            <p:cNvPr name="Freeform 24" id="24"/>
            <p:cNvSpPr/>
            <p:nvPr/>
          </p:nvSpPr>
          <p:spPr>
            <a:xfrm flipH="false" flipV="false" rot="0">
              <a:off x="0" y="0"/>
              <a:ext cx="4045585" cy="2672969"/>
            </a:xfrm>
            <a:custGeom>
              <a:avLst/>
              <a:gdLst/>
              <a:ahLst/>
              <a:cxnLst/>
              <a:rect r="r" b="b" t="t" l="l"/>
              <a:pathLst>
                <a:path h="2672969" w="4045585">
                  <a:moveTo>
                    <a:pt x="0" y="445516"/>
                  </a:moveTo>
                  <a:cubicBezTo>
                    <a:pt x="0" y="199517"/>
                    <a:pt x="199517" y="0"/>
                    <a:pt x="445516" y="0"/>
                  </a:cubicBezTo>
                  <a:lnTo>
                    <a:pt x="3600069" y="0"/>
                  </a:lnTo>
                  <a:cubicBezTo>
                    <a:pt x="3846068" y="0"/>
                    <a:pt x="4045585" y="199517"/>
                    <a:pt x="4045585" y="445516"/>
                  </a:cubicBezTo>
                  <a:lnTo>
                    <a:pt x="4045585" y="2227453"/>
                  </a:lnTo>
                  <a:cubicBezTo>
                    <a:pt x="4045585" y="2473452"/>
                    <a:pt x="3846068" y="2672969"/>
                    <a:pt x="3600069" y="2672969"/>
                  </a:cubicBezTo>
                  <a:lnTo>
                    <a:pt x="445516" y="2672969"/>
                  </a:lnTo>
                  <a:cubicBezTo>
                    <a:pt x="199517" y="2672842"/>
                    <a:pt x="0" y="2473452"/>
                    <a:pt x="0" y="2227453"/>
                  </a:cubicBezTo>
                  <a:close/>
                </a:path>
              </a:pathLst>
            </a:custGeom>
            <a:solidFill>
              <a:srgbClr val="2B2C30"/>
            </a:solidFill>
            <a:ln w="14299" cap="sq">
              <a:solidFill>
                <a:srgbClr val="D2D8DE"/>
              </a:solidFill>
              <a:prstDash val="solid"/>
              <a:miter/>
            </a:ln>
          </p:spPr>
        </p:sp>
      </p:grpSp>
      <p:grpSp>
        <p:nvGrpSpPr>
          <p:cNvPr name="Group 25" id="25"/>
          <p:cNvGrpSpPr/>
          <p:nvPr/>
        </p:nvGrpSpPr>
        <p:grpSpPr>
          <a:xfrm rot="0">
            <a:off x="11118647" y="2470814"/>
            <a:ext cx="96088" cy="1990373"/>
            <a:chOff x="0" y="0"/>
            <a:chExt cx="128118" cy="2653830"/>
          </a:xfrm>
        </p:grpSpPr>
        <p:sp>
          <p:nvSpPr>
            <p:cNvPr name="Freeform 26" id="26"/>
            <p:cNvSpPr/>
            <p:nvPr/>
          </p:nvSpPr>
          <p:spPr>
            <a:xfrm flipH="false" flipV="false" rot="0">
              <a:off x="0" y="0"/>
              <a:ext cx="128143" cy="2653792"/>
            </a:xfrm>
            <a:custGeom>
              <a:avLst/>
              <a:gdLst/>
              <a:ahLst/>
              <a:cxnLst/>
              <a:rect r="r" b="b" t="t" l="l"/>
              <a:pathLst>
                <a:path h="2653792" w="128143">
                  <a:moveTo>
                    <a:pt x="0" y="0"/>
                  </a:moveTo>
                  <a:lnTo>
                    <a:pt x="128143" y="0"/>
                  </a:lnTo>
                  <a:lnTo>
                    <a:pt x="128143" y="2653792"/>
                  </a:lnTo>
                  <a:lnTo>
                    <a:pt x="0" y="2653792"/>
                  </a:lnTo>
                  <a:close/>
                </a:path>
              </a:pathLst>
            </a:custGeom>
            <a:solidFill>
              <a:srgbClr val="EFEEE7"/>
            </a:solidFill>
          </p:spPr>
        </p:sp>
      </p:grpSp>
      <p:sp>
        <p:nvSpPr>
          <p:cNvPr name="TextBox 27" id="27"/>
          <p:cNvSpPr txBox="true"/>
          <p:nvPr/>
        </p:nvSpPr>
        <p:spPr>
          <a:xfrm rot="0">
            <a:off x="11512077" y="2754087"/>
            <a:ext cx="2356561" cy="523875"/>
          </a:xfrm>
          <a:prstGeom prst="rect">
            <a:avLst/>
          </a:prstGeom>
        </p:spPr>
        <p:txBody>
          <a:bodyPr anchor="t" rtlCol="false" tIns="0" lIns="0" bIns="0" rIns="0">
            <a:spAutoFit/>
          </a:bodyPr>
          <a:lstStyle/>
          <a:p>
            <a:pPr algn="l">
              <a:lnSpc>
                <a:spcPts val="2075"/>
              </a:lnSpc>
            </a:pPr>
            <a:r>
              <a:rPr lang="en-US" b="true" sz="1729" spc="8">
                <a:solidFill>
                  <a:srgbClr val="EFEEE7"/>
                </a:solidFill>
                <a:latin typeface="Public Sans Bold"/>
                <a:ea typeface="Public Sans Bold"/>
                <a:cs typeface="Public Sans Bold"/>
                <a:sym typeface="Public Sans Bold"/>
              </a:rPr>
              <a:t>AI Interpretation</a:t>
            </a:r>
          </a:p>
          <a:p>
            <a:pPr algn="l">
              <a:lnSpc>
                <a:spcPts val="2075"/>
              </a:lnSpc>
            </a:pPr>
            <a:r>
              <a:rPr lang="en-US" b="true" sz="1729" spc="8">
                <a:solidFill>
                  <a:srgbClr val="EFEEE7"/>
                </a:solidFill>
                <a:latin typeface="Public Sans Bold"/>
                <a:ea typeface="Public Sans Bold"/>
                <a:cs typeface="Public Sans Bold"/>
                <a:sym typeface="Public Sans Bold"/>
              </a:rPr>
              <a:t>Operational Briefing</a:t>
            </a:r>
          </a:p>
        </p:txBody>
      </p:sp>
      <p:sp>
        <p:nvSpPr>
          <p:cNvPr name="TextBox 28" id="28"/>
          <p:cNvSpPr txBox="true"/>
          <p:nvPr/>
        </p:nvSpPr>
        <p:spPr>
          <a:xfrm rot="0">
            <a:off x="14102708" y="3211268"/>
            <a:ext cx="469702" cy="476250"/>
          </a:xfrm>
          <a:prstGeom prst="rect">
            <a:avLst/>
          </a:prstGeom>
        </p:spPr>
        <p:txBody>
          <a:bodyPr anchor="t" rtlCol="false" tIns="0" lIns="0" bIns="0" rIns="0">
            <a:spAutoFit/>
          </a:bodyPr>
          <a:lstStyle/>
          <a:p>
            <a:pPr algn="ctr">
              <a:lnSpc>
                <a:spcPts val="3616"/>
              </a:lnSpc>
            </a:pPr>
            <a:r>
              <a:rPr lang="en-US" b="true" sz="3013" spc="684">
                <a:solidFill>
                  <a:srgbClr val="2B2C30"/>
                </a:solidFill>
                <a:latin typeface="Public Sans Bold"/>
                <a:ea typeface="Public Sans Bold"/>
                <a:cs typeface="Public Sans Bold"/>
                <a:sym typeface="Public Sans Bold"/>
              </a:rPr>
              <a:t>→</a:t>
            </a:r>
          </a:p>
        </p:txBody>
      </p:sp>
      <p:grpSp>
        <p:nvGrpSpPr>
          <p:cNvPr name="Group 29" id="29"/>
          <p:cNvGrpSpPr/>
          <p:nvPr/>
        </p:nvGrpSpPr>
        <p:grpSpPr>
          <a:xfrm rot="0">
            <a:off x="14611807" y="2463660"/>
            <a:ext cx="3034179" cy="2004670"/>
            <a:chOff x="0" y="0"/>
            <a:chExt cx="4045572" cy="2672893"/>
          </a:xfrm>
        </p:grpSpPr>
        <p:sp>
          <p:nvSpPr>
            <p:cNvPr name="Freeform 30" id="30"/>
            <p:cNvSpPr/>
            <p:nvPr/>
          </p:nvSpPr>
          <p:spPr>
            <a:xfrm flipH="false" flipV="false" rot="0">
              <a:off x="0" y="0"/>
              <a:ext cx="4045585" cy="2672969"/>
            </a:xfrm>
            <a:custGeom>
              <a:avLst/>
              <a:gdLst/>
              <a:ahLst/>
              <a:cxnLst/>
              <a:rect r="r" b="b" t="t" l="l"/>
              <a:pathLst>
                <a:path h="2672969" w="4045585">
                  <a:moveTo>
                    <a:pt x="0" y="445516"/>
                  </a:moveTo>
                  <a:cubicBezTo>
                    <a:pt x="0" y="199517"/>
                    <a:pt x="199517" y="0"/>
                    <a:pt x="445516" y="0"/>
                  </a:cubicBezTo>
                  <a:lnTo>
                    <a:pt x="3600069" y="0"/>
                  </a:lnTo>
                  <a:cubicBezTo>
                    <a:pt x="3846068" y="0"/>
                    <a:pt x="4045585" y="199517"/>
                    <a:pt x="4045585" y="445516"/>
                  </a:cubicBezTo>
                  <a:lnTo>
                    <a:pt x="4045585" y="2227453"/>
                  </a:lnTo>
                  <a:cubicBezTo>
                    <a:pt x="4045585" y="2473452"/>
                    <a:pt x="3846068" y="2672969"/>
                    <a:pt x="3600069" y="2672969"/>
                  </a:cubicBezTo>
                  <a:lnTo>
                    <a:pt x="445516" y="2672969"/>
                  </a:lnTo>
                  <a:cubicBezTo>
                    <a:pt x="199517" y="2672842"/>
                    <a:pt x="0" y="2473452"/>
                    <a:pt x="0" y="2227453"/>
                  </a:cubicBezTo>
                  <a:close/>
                </a:path>
              </a:pathLst>
            </a:custGeom>
            <a:solidFill>
              <a:srgbClr val="2B2C30"/>
            </a:solidFill>
            <a:ln w="14299" cap="sq">
              <a:solidFill>
                <a:srgbClr val="D2D8DE"/>
              </a:solidFill>
              <a:prstDash val="solid"/>
              <a:miter/>
            </a:ln>
          </p:spPr>
        </p:sp>
      </p:grpSp>
      <p:grpSp>
        <p:nvGrpSpPr>
          <p:cNvPr name="Group 31" id="31"/>
          <p:cNvGrpSpPr/>
          <p:nvPr/>
        </p:nvGrpSpPr>
        <p:grpSpPr>
          <a:xfrm rot="0">
            <a:off x="14618960" y="2470814"/>
            <a:ext cx="96088" cy="1990373"/>
            <a:chOff x="0" y="0"/>
            <a:chExt cx="128118" cy="2653830"/>
          </a:xfrm>
        </p:grpSpPr>
        <p:sp>
          <p:nvSpPr>
            <p:cNvPr name="Freeform 32" id="32"/>
            <p:cNvSpPr/>
            <p:nvPr/>
          </p:nvSpPr>
          <p:spPr>
            <a:xfrm flipH="false" flipV="false" rot="0">
              <a:off x="0" y="0"/>
              <a:ext cx="128143" cy="2653792"/>
            </a:xfrm>
            <a:custGeom>
              <a:avLst/>
              <a:gdLst/>
              <a:ahLst/>
              <a:cxnLst/>
              <a:rect r="r" b="b" t="t" l="l"/>
              <a:pathLst>
                <a:path h="2653792" w="128143">
                  <a:moveTo>
                    <a:pt x="0" y="0"/>
                  </a:moveTo>
                  <a:lnTo>
                    <a:pt x="128143" y="0"/>
                  </a:lnTo>
                  <a:lnTo>
                    <a:pt x="128143" y="2653792"/>
                  </a:lnTo>
                  <a:lnTo>
                    <a:pt x="0" y="2653792"/>
                  </a:lnTo>
                  <a:close/>
                </a:path>
              </a:pathLst>
            </a:custGeom>
            <a:solidFill>
              <a:srgbClr val="EFEEE7"/>
            </a:solidFill>
          </p:spPr>
        </p:sp>
      </p:grpSp>
      <p:sp>
        <p:nvSpPr>
          <p:cNvPr name="TextBox 33" id="33"/>
          <p:cNvSpPr txBox="true"/>
          <p:nvPr/>
        </p:nvSpPr>
        <p:spPr>
          <a:xfrm rot="0">
            <a:off x="15012391" y="2754087"/>
            <a:ext cx="2356561" cy="304800"/>
          </a:xfrm>
          <a:prstGeom prst="rect">
            <a:avLst/>
          </a:prstGeom>
        </p:spPr>
        <p:txBody>
          <a:bodyPr anchor="t" rtlCol="false" tIns="0" lIns="0" bIns="0" rIns="0">
            <a:spAutoFit/>
          </a:bodyPr>
          <a:lstStyle/>
          <a:p>
            <a:pPr algn="l">
              <a:lnSpc>
                <a:spcPts val="2341"/>
              </a:lnSpc>
            </a:pPr>
            <a:r>
              <a:rPr lang="en-US" b="true" sz="1951" spc="9">
                <a:solidFill>
                  <a:srgbClr val="EFEEE7"/>
                </a:solidFill>
                <a:latin typeface="Public Sans Bold"/>
                <a:ea typeface="Public Sans Bold"/>
                <a:cs typeface="Public Sans Bold"/>
                <a:sym typeface="Public Sans Bold"/>
              </a:rPr>
              <a:t>Human Review</a:t>
            </a:r>
          </a:p>
        </p:txBody>
      </p:sp>
      <p:grpSp>
        <p:nvGrpSpPr>
          <p:cNvPr name="Group 34" id="34"/>
          <p:cNvGrpSpPr/>
          <p:nvPr/>
        </p:nvGrpSpPr>
        <p:grpSpPr>
          <a:xfrm rot="0">
            <a:off x="953719" y="5140376"/>
            <a:ext cx="7907169" cy="1455601"/>
            <a:chOff x="0" y="0"/>
            <a:chExt cx="10542892" cy="1940801"/>
          </a:xfrm>
        </p:grpSpPr>
        <p:sp>
          <p:nvSpPr>
            <p:cNvPr name="Freeform 35" id="35"/>
            <p:cNvSpPr/>
            <p:nvPr/>
          </p:nvSpPr>
          <p:spPr>
            <a:xfrm flipH="false" flipV="false" rot="0">
              <a:off x="0" y="0"/>
              <a:ext cx="10542905" cy="1940814"/>
            </a:xfrm>
            <a:custGeom>
              <a:avLst/>
              <a:gdLst/>
              <a:ahLst/>
              <a:cxnLst/>
              <a:rect r="r" b="b" t="t" l="l"/>
              <a:pathLst>
                <a:path h="1940814" w="10542905">
                  <a:moveTo>
                    <a:pt x="0" y="323469"/>
                  </a:moveTo>
                  <a:cubicBezTo>
                    <a:pt x="0" y="144780"/>
                    <a:pt x="144780" y="0"/>
                    <a:pt x="323469" y="0"/>
                  </a:cubicBezTo>
                  <a:lnTo>
                    <a:pt x="10219436" y="0"/>
                  </a:lnTo>
                  <a:cubicBezTo>
                    <a:pt x="10398125" y="0"/>
                    <a:pt x="10542905" y="144780"/>
                    <a:pt x="10542905" y="323469"/>
                  </a:cubicBezTo>
                  <a:lnTo>
                    <a:pt x="10542905" y="1617345"/>
                  </a:lnTo>
                  <a:cubicBezTo>
                    <a:pt x="10542905" y="1796034"/>
                    <a:pt x="10398125" y="1940814"/>
                    <a:pt x="10219436" y="1940814"/>
                  </a:cubicBezTo>
                  <a:lnTo>
                    <a:pt x="323469" y="1940814"/>
                  </a:lnTo>
                  <a:cubicBezTo>
                    <a:pt x="144780" y="1940814"/>
                    <a:pt x="0" y="1796034"/>
                    <a:pt x="0" y="1617345"/>
                  </a:cubicBezTo>
                  <a:close/>
                </a:path>
              </a:pathLst>
            </a:custGeom>
            <a:solidFill>
              <a:srgbClr val="2B2C30"/>
            </a:solidFill>
            <a:ln w="14299" cap="sq">
              <a:solidFill>
                <a:srgbClr val="D2D8DE"/>
              </a:solidFill>
              <a:prstDash val="solid"/>
              <a:miter/>
            </a:ln>
          </p:spPr>
        </p:sp>
      </p:grpSp>
      <p:grpSp>
        <p:nvGrpSpPr>
          <p:cNvPr name="Group 36" id="36"/>
          <p:cNvGrpSpPr/>
          <p:nvPr/>
        </p:nvGrpSpPr>
        <p:grpSpPr>
          <a:xfrm rot="0">
            <a:off x="960872" y="5147520"/>
            <a:ext cx="96088" cy="1441304"/>
            <a:chOff x="0" y="0"/>
            <a:chExt cx="128118" cy="1921739"/>
          </a:xfrm>
        </p:grpSpPr>
        <p:sp>
          <p:nvSpPr>
            <p:cNvPr name="Freeform 37" id="37"/>
            <p:cNvSpPr/>
            <p:nvPr/>
          </p:nvSpPr>
          <p:spPr>
            <a:xfrm flipH="false" flipV="false" rot="0">
              <a:off x="0" y="0"/>
              <a:ext cx="128143" cy="1921764"/>
            </a:xfrm>
            <a:custGeom>
              <a:avLst/>
              <a:gdLst/>
              <a:ahLst/>
              <a:cxnLst/>
              <a:rect r="r" b="b" t="t" l="l"/>
              <a:pathLst>
                <a:path h="1921764" w="128143">
                  <a:moveTo>
                    <a:pt x="0" y="0"/>
                  </a:moveTo>
                  <a:lnTo>
                    <a:pt x="128143" y="0"/>
                  </a:lnTo>
                  <a:lnTo>
                    <a:pt x="128143" y="1921764"/>
                  </a:lnTo>
                  <a:lnTo>
                    <a:pt x="0" y="1921764"/>
                  </a:lnTo>
                  <a:close/>
                </a:path>
              </a:pathLst>
            </a:custGeom>
            <a:solidFill>
              <a:srgbClr val="EFEEE7"/>
            </a:solidFill>
          </p:spPr>
        </p:sp>
      </p:grpSp>
      <p:sp>
        <p:nvSpPr>
          <p:cNvPr name="TextBox 38" id="38"/>
          <p:cNvSpPr txBox="true"/>
          <p:nvPr/>
        </p:nvSpPr>
        <p:spPr>
          <a:xfrm rot="0">
            <a:off x="1354293" y="5421268"/>
            <a:ext cx="7229551" cy="333375"/>
          </a:xfrm>
          <a:prstGeom prst="rect">
            <a:avLst/>
          </a:prstGeom>
        </p:spPr>
        <p:txBody>
          <a:bodyPr anchor="t" rtlCol="false" tIns="0" lIns="0" bIns="0" rIns="0">
            <a:spAutoFit/>
          </a:bodyPr>
          <a:lstStyle/>
          <a:p>
            <a:pPr algn="l">
              <a:lnSpc>
                <a:spcPts val="2521"/>
              </a:lnSpc>
            </a:pPr>
            <a:r>
              <a:rPr lang="en-US" b="true" sz="2101" spc="10">
                <a:solidFill>
                  <a:srgbClr val="EFEEE7"/>
                </a:solidFill>
                <a:latin typeface="Public Sans Bold"/>
                <a:ea typeface="Public Sans Bold"/>
                <a:cs typeface="Public Sans Bold"/>
                <a:sym typeface="Public Sans Bold"/>
              </a:rPr>
              <a:t>✓ Data Integration</a:t>
            </a:r>
          </a:p>
        </p:txBody>
      </p:sp>
      <p:sp>
        <p:nvSpPr>
          <p:cNvPr name="TextBox 39" id="39"/>
          <p:cNvSpPr txBox="true"/>
          <p:nvPr/>
        </p:nvSpPr>
        <p:spPr>
          <a:xfrm rot="0">
            <a:off x="1354293" y="6181563"/>
            <a:ext cx="3750171" cy="133350"/>
          </a:xfrm>
          <a:prstGeom prst="rect">
            <a:avLst/>
          </a:prstGeom>
        </p:spPr>
        <p:txBody>
          <a:bodyPr anchor="t" rtlCol="false" tIns="0" lIns="0" bIns="0" rIns="0">
            <a:spAutoFit/>
          </a:bodyPr>
          <a:lstStyle/>
          <a:p>
            <a:pPr algn="l">
              <a:lnSpc>
                <a:spcPts val="1095"/>
              </a:lnSpc>
            </a:pPr>
            <a:r>
              <a:rPr lang="en-US" sz="912">
                <a:solidFill>
                  <a:srgbClr val="EFEEE7"/>
                </a:solidFill>
                <a:latin typeface="Public Sans"/>
                <a:ea typeface="Public Sans"/>
                <a:cs typeface="Public Sans"/>
                <a:sym typeface="Public Sans"/>
              </a:rPr>
              <a:t>Combined crew-change information with external operational context.</a:t>
            </a:r>
          </a:p>
        </p:txBody>
      </p:sp>
      <p:grpSp>
        <p:nvGrpSpPr>
          <p:cNvPr name="Group 40" id="40"/>
          <p:cNvGrpSpPr/>
          <p:nvPr/>
        </p:nvGrpSpPr>
        <p:grpSpPr>
          <a:xfrm rot="0">
            <a:off x="9395660" y="5140376"/>
            <a:ext cx="7907169" cy="1455601"/>
            <a:chOff x="0" y="0"/>
            <a:chExt cx="10542892" cy="1940801"/>
          </a:xfrm>
        </p:grpSpPr>
        <p:sp>
          <p:nvSpPr>
            <p:cNvPr name="Freeform 41" id="41"/>
            <p:cNvSpPr/>
            <p:nvPr/>
          </p:nvSpPr>
          <p:spPr>
            <a:xfrm flipH="false" flipV="false" rot="0">
              <a:off x="0" y="0"/>
              <a:ext cx="10542905" cy="1940814"/>
            </a:xfrm>
            <a:custGeom>
              <a:avLst/>
              <a:gdLst/>
              <a:ahLst/>
              <a:cxnLst/>
              <a:rect r="r" b="b" t="t" l="l"/>
              <a:pathLst>
                <a:path h="1940814" w="10542905">
                  <a:moveTo>
                    <a:pt x="0" y="323469"/>
                  </a:moveTo>
                  <a:cubicBezTo>
                    <a:pt x="0" y="144780"/>
                    <a:pt x="144780" y="0"/>
                    <a:pt x="323469" y="0"/>
                  </a:cubicBezTo>
                  <a:lnTo>
                    <a:pt x="10219436" y="0"/>
                  </a:lnTo>
                  <a:cubicBezTo>
                    <a:pt x="10398125" y="0"/>
                    <a:pt x="10542905" y="144780"/>
                    <a:pt x="10542905" y="323469"/>
                  </a:cubicBezTo>
                  <a:lnTo>
                    <a:pt x="10542905" y="1617345"/>
                  </a:lnTo>
                  <a:cubicBezTo>
                    <a:pt x="10542905" y="1796034"/>
                    <a:pt x="10398125" y="1940814"/>
                    <a:pt x="10219436" y="1940814"/>
                  </a:cubicBezTo>
                  <a:lnTo>
                    <a:pt x="323469" y="1940814"/>
                  </a:lnTo>
                  <a:cubicBezTo>
                    <a:pt x="144780" y="1940814"/>
                    <a:pt x="0" y="1796034"/>
                    <a:pt x="0" y="1617345"/>
                  </a:cubicBezTo>
                  <a:close/>
                </a:path>
              </a:pathLst>
            </a:custGeom>
            <a:solidFill>
              <a:srgbClr val="2B2C30"/>
            </a:solidFill>
            <a:ln w="14299" cap="sq">
              <a:solidFill>
                <a:srgbClr val="D2D8DE"/>
              </a:solidFill>
              <a:prstDash val="solid"/>
              <a:miter/>
            </a:ln>
          </p:spPr>
        </p:sp>
      </p:grpSp>
      <p:grpSp>
        <p:nvGrpSpPr>
          <p:cNvPr name="Group 42" id="42"/>
          <p:cNvGrpSpPr/>
          <p:nvPr/>
        </p:nvGrpSpPr>
        <p:grpSpPr>
          <a:xfrm rot="0">
            <a:off x="9402804" y="5147520"/>
            <a:ext cx="96088" cy="1441304"/>
            <a:chOff x="0" y="0"/>
            <a:chExt cx="128118" cy="1921739"/>
          </a:xfrm>
        </p:grpSpPr>
        <p:sp>
          <p:nvSpPr>
            <p:cNvPr name="Freeform 43" id="43"/>
            <p:cNvSpPr/>
            <p:nvPr/>
          </p:nvSpPr>
          <p:spPr>
            <a:xfrm flipH="false" flipV="false" rot="0">
              <a:off x="0" y="0"/>
              <a:ext cx="128143" cy="1921764"/>
            </a:xfrm>
            <a:custGeom>
              <a:avLst/>
              <a:gdLst/>
              <a:ahLst/>
              <a:cxnLst/>
              <a:rect r="r" b="b" t="t" l="l"/>
              <a:pathLst>
                <a:path h="1921764" w="128143">
                  <a:moveTo>
                    <a:pt x="0" y="0"/>
                  </a:moveTo>
                  <a:lnTo>
                    <a:pt x="128143" y="0"/>
                  </a:lnTo>
                  <a:lnTo>
                    <a:pt x="128143" y="1921764"/>
                  </a:lnTo>
                  <a:lnTo>
                    <a:pt x="0" y="1921764"/>
                  </a:lnTo>
                  <a:close/>
                </a:path>
              </a:pathLst>
            </a:custGeom>
            <a:solidFill>
              <a:srgbClr val="EFEEE7"/>
            </a:solidFill>
          </p:spPr>
        </p:sp>
      </p:grpSp>
      <p:sp>
        <p:nvSpPr>
          <p:cNvPr name="TextBox 44" id="44"/>
          <p:cNvSpPr txBox="true"/>
          <p:nvPr/>
        </p:nvSpPr>
        <p:spPr>
          <a:xfrm rot="0">
            <a:off x="9796234" y="5421268"/>
            <a:ext cx="7229551" cy="333375"/>
          </a:xfrm>
          <a:prstGeom prst="rect">
            <a:avLst/>
          </a:prstGeom>
        </p:spPr>
        <p:txBody>
          <a:bodyPr anchor="t" rtlCol="false" tIns="0" lIns="0" bIns="0" rIns="0">
            <a:spAutoFit/>
          </a:bodyPr>
          <a:lstStyle/>
          <a:p>
            <a:pPr algn="l">
              <a:lnSpc>
                <a:spcPts val="2521"/>
              </a:lnSpc>
            </a:pPr>
            <a:r>
              <a:rPr lang="en-US" b="true" sz="2101" spc="10">
                <a:solidFill>
                  <a:srgbClr val="EFEEE7"/>
                </a:solidFill>
                <a:latin typeface="Public Sans Bold"/>
                <a:ea typeface="Public Sans Bold"/>
                <a:cs typeface="Public Sans Bold"/>
                <a:sym typeface="Public Sans Bold"/>
              </a:rPr>
              <a:t>✓ Risk Assessment</a:t>
            </a:r>
          </a:p>
        </p:txBody>
      </p:sp>
      <p:sp>
        <p:nvSpPr>
          <p:cNvPr name="TextBox 45" id="45"/>
          <p:cNvSpPr txBox="true"/>
          <p:nvPr/>
        </p:nvSpPr>
        <p:spPr>
          <a:xfrm rot="0">
            <a:off x="9796234" y="6181563"/>
            <a:ext cx="3986064" cy="133350"/>
          </a:xfrm>
          <a:prstGeom prst="rect">
            <a:avLst/>
          </a:prstGeom>
        </p:spPr>
        <p:txBody>
          <a:bodyPr anchor="t" rtlCol="false" tIns="0" lIns="0" bIns="0" rIns="0">
            <a:spAutoFit/>
          </a:bodyPr>
          <a:lstStyle/>
          <a:p>
            <a:pPr algn="l">
              <a:lnSpc>
                <a:spcPts val="1095"/>
              </a:lnSpc>
            </a:pPr>
            <a:r>
              <a:rPr lang="en-US" sz="912">
                <a:solidFill>
                  <a:srgbClr val="EFEEE7"/>
                </a:solidFill>
                <a:latin typeface="Public Sans"/>
                <a:ea typeface="Public Sans"/>
                <a:cs typeface="Public Sans"/>
                <a:sym typeface="Public Sans"/>
              </a:rPr>
              <a:t>Applied deterministic rules to calculate risk levels and identify risk drivers.</a:t>
            </a:r>
          </a:p>
        </p:txBody>
      </p:sp>
      <p:grpSp>
        <p:nvGrpSpPr>
          <p:cNvPr name="Group 46" id="46"/>
          <p:cNvGrpSpPr/>
          <p:nvPr/>
        </p:nvGrpSpPr>
        <p:grpSpPr>
          <a:xfrm rot="0">
            <a:off x="953719" y="6993484"/>
            <a:ext cx="7907169" cy="1455601"/>
            <a:chOff x="0" y="0"/>
            <a:chExt cx="10542892" cy="1940801"/>
          </a:xfrm>
        </p:grpSpPr>
        <p:sp>
          <p:nvSpPr>
            <p:cNvPr name="Freeform 47" id="47"/>
            <p:cNvSpPr/>
            <p:nvPr/>
          </p:nvSpPr>
          <p:spPr>
            <a:xfrm flipH="false" flipV="false" rot="0">
              <a:off x="0" y="0"/>
              <a:ext cx="10542905" cy="1940814"/>
            </a:xfrm>
            <a:custGeom>
              <a:avLst/>
              <a:gdLst/>
              <a:ahLst/>
              <a:cxnLst/>
              <a:rect r="r" b="b" t="t" l="l"/>
              <a:pathLst>
                <a:path h="1940814" w="10542905">
                  <a:moveTo>
                    <a:pt x="0" y="323469"/>
                  </a:moveTo>
                  <a:cubicBezTo>
                    <a:pt x="0" y="144780"/>
                    <a:pt x="144780" y="0"/>
                    <a:pt x="323469" y="0"/>
                  </a:cubicBezTo>
                  <a:lnTo>
                    <a:pt x="10219436" y="0"/>
                  </a:lnTo>
                  <a:cubicBezTo>
                    <a:pt x="10398125" y="0"/>
                    <a:pt x="10542905" y="144780"/>
                    <a:pt x="10542905" y="323469"/>
                  </a:cubicBezTo>
                  <a:lnTo>
                    <a:pt x="10542905" y="1617345"/>
                  </a:lnTo>
                  <a:cubicBezTo>
                    <a:pt x="10542905" y="1796034"/>
                    <a:pt x="10398125" y="1940814"/>
                    <a:pt x="10219436" y="1940814"/>
                  </a:cubicBezTo>
                  <a:lnTo>
                    <a:pt x="323469" y="1940814"/>
                  </a:lnTo>
                  <a:cubicBezTo>
                    <a:pt x="144780" y="1940814"/>
                    <a:pt x="0" y="1796034"/>
                    <a:pt x="0" y="1617345"/>
                  </a:cubicBezTo>
                  <a:close/>
                </a:path>
              </a:pathLst>
            </a:custGeom>
            <a:solidFill>
              <a:srgbClr val="2B2C30"/>
            </a:solidFill>
            <a:ln w="14299" cap="sq">
              <a:solidFill>
                <a:srgbClr val="D2D8DE"/>
              </a:solidFill>
              <a:prstDash val="solid"/>
              <a:miter/>
            </a:ln>
          </p:spPr>
        </p:sp>
      </p:grpSp>
      <p:grpSp>
        <p:nvGrpSpPr>
          <p:cNvPr name="Group 48" id="48"/>
          <p:cNvGrpSpPr/>
          <p:nvPr/>
        </p:nvGrpSpPr>
        <p:grpSpPr>
          <a:xfrm rot="0">
            <a:off x="960872" y="7000627"/>
            <a:ext cx="96088" cy="1441304"/>
            <a:chOff x="0" y="0"/>
            <a:chExt cx="128118" cy="1921739"/>
          </a:xfrm>
        </p:grpSpPr>
        <p:sp>
          <p:nvSpPr>
            <p:cNvPr name="Freeform 49" id="49"/>
            <p:cNvSpPr/>
            <p:nvPr/>
          </p:nvSpPr>
          <p:spPr>
            <a:xfrm flipH="false" flipV="false" rot="0">
              <a:off x="0" y="0"/>
              <a:ext cx="128143" cy="1921764"/>
            </a:xfrm>
            <a:custGeom>
              <a:avLst/>
              <a:gdLst/>
              <a:ahLst/>
              <a:cxnLst/>
              <a:rect r="r" b="b" t="t" l="l"/>
              <a:pathLst>
                <a:path h="1921764" w="128143">
                  <a:moveTo>
                    <a:pt x="0" y="0"/>
                  </a:moveTo>
                  <a:lnTo>
                    <a:pt x="128143" y="0"/>
                  </a:lnTo>
                  <a:lnTo>
                    <a:pt x="128143" y="1921764"/>
                  </a:lnTo>
                  <a:lnTo>
                    <a:pt x="0" y="1921764"/>
                  </a:lnTo>
                  <a:close/>
                </a:path>
              </a:pathLst>
            </a:custGeom>
            <a:solidFill>
              <a:srgbClr val="EFEEE7"/>
            </a:solidFill>
          </p:spPr>
        </p:sp>
      </p:grpSp>
      <p:sp>
        <p:nvSpPr>
          <p:cNvPr name="TextBox 50" id="50"/>
          <p:cNvSpPr txBox="true"/>
          <p:nvPr/>
        </p:nvSpPr>
        <p:spPr>
          <a:xfrm rot="0">
            <a:off x="1354293" y="7274376"/>
            <a:ext cx="7229551" cy="333375"/>
          </a:xfrm>
          <a:prstGeom prst="rect">
            <a:avLst/>
          </a:prstGeom>
        </p:spPr>
        <p:txBody>
          <a:bodyPr anchor="t" rtlCol="false" tIns="0" lIns="0" bIns="0" rIns="0">
            <a:spAutoFit/>
          </a:bodyPr>
          <a:lstStyle/>
          <a:p>
            <a:pPr algn="l">
              <a:lnSpc>
                <a:spcPts val="2521"/>
              </a:lnSpc>
            </a:pPr>
            <a:r>
              <a:rPr lang="en-US" b="true" sz="2101" spc="10">
                <a:solidFill>
                  <a:srgbClr val="EFEEE7"/>
                </a:solidFill>
                <a:latin typeface="Public Sans Bold"/>
                <a:ea typeface="Public Sans Bold"/>
                <a:cs typeface="Public Sans Bold"/>
                <a:sym typeface="Public Sans Bold"/>
              </a:rPr>
              <a:t>✓ AI Interpretation</a:t>
            </a:r>
          </a:p>
        </p:txBody>
      </p:sp>
      <p:sp>
        <p:nvSpPr>
          <p:cNvPr name="TextBox 51" id="51"/>
          <p:cNvSpPr txBox="true"/>
          <p:nvPr/>
        </p:nvSpPr>
        <p:spPr>
          <a:xfrm rot="0">
            <a:off x="1354293" y="8034671"/>
            <a:ext cx="4823222" cy="133350"/>
          </a:xfrm>
          <a:prstGeom prst="rect">
            <a:avLst/>
          </a:prstGeom>
        </p:spPr>
        <p:txBody>
          <a:bodyPr anchor="t" rtlCol="false" tIns="0" lIns="0" bIns="0" rIns="0">
            <a:spAutoFit/>
          </a:bodyPr>
          <a:lstStyle/>
          <a:p>
            <a:pPr algn="l">
              <a:lnSpc>
                <a:spcPts val="1095"/>
              </a:lnSpc>
            </a:pPr>
            <a:r>
              <a:rPr lang="en-US" sz="912">
                <a:solidFill>
                  <a:srgbClr val="EFEEE7"/>
                </a:solidFill>
                <a:latin typeface="Public Sans"/>
                <a:ea typeface="Public Sans"/>
                <a:cs typeface="Public Sans"/>
                <a:sym typeface="Public Sans"/>
              </a:rPr>
              <a:t>Generated a concise AI-assisted operational briefing based on structured risk information.</a:t>
            </a:r>
          </a:p>
        </p:txBody>
      </p:sp>
      <p:grpSp>
        <p:nvGrpSpPr>
          <p:cNvPr name="Group 52" id="52"/>
          <p:cNvGrpSpPr/>
          <p:nvPr/>
        </p:nvGrpSpPr>
        <p:grpSpPr>
          <a:xfrm rot="0">
            <a:off x="9395660" y="6993484"/>
            <a:ext cx="7907169" cy="1455601"/>
            <a:chOff x="0" y="0"/>
            <a:chExt cx="10542892" cy="1940801"/>
          </a:xfrm>
        </p:grpSpPr>
        <p:sp>
          <p:nvSpPr>
            <p:cNvPr name="Freeform 53" id="53"/>
            <p:cNvSpPr/>
            <p:nvPr/>
          </p:nvSpPr>
          <p:spPr>
            <a:xfrm flipH="false" flipV="false" rot="0">
              <a:off x="0" y="0"/>
              <a:ext cx="10542905" cy="1940814"/>
            </a:xfrm>
            <a:custGeom>
              <a:avLst/>
              <a:gdLst/>
              <a:ahLst/>
              <a:cxnLst/>
              <a:rect r="r" b="b" t="t" l="l"/>
              <a:pathLst>
                <a:path h="1940814" w="10542905">
                  <a:moveTo>
                    <a:pt x="0" y="323469"/>
                  </a:moveTo>
                  <a:cubicBezTo>
                    <a:pt x="0" y="144780"/>
                    <a:pt x="144780" y="0"/>
                    <a:pt x="323469" y="0"/>
                  </a:cubicBezTo>
                  <a:lnTo>
                    <a:pt x="10219436" y="0"/>
                  </a:lnTo>
                  <a:cubicBezTo>
                    <a:pt x="10398125" y="0"/>
                    <a:pt x="10542905" y="144780"/>
                    <a:pt x="10542905" y="323469"/>
                  </a:cubicBezTo>
                  <a:lnTo>
                    <a:pt x="10542905" y="1617345"/>
                  </a:lnTo>
                  <a:cubicBezTo>
                    <a:pt x="10542905" y="1796034"/>
                    <a:pt x="10398125" y="1940814"/>
                    <a:pt x="10219436" y="1940814"/>
                  </a:cubicBezTo>
                  <a:lnTo>
                    <a:pt x="323469" y="1940814"/>
                  </a:lnTo>
                  <a:cubicBezTo>
                    <a:pt x="144780" y="1940814"/>
                    <a:pt x="0" y="1796034"/>
                    <a:pt x="0" y="1617345"/>
                  </a:cubicBezTo>
                  <a:close/>
                </a:path>
              </a:pathLst>
            </a:custGeom>
            <a:solidFill>
              <a:srgbClr val="2B2C30"/>
            </a:solidFill>
            <a:ln w="14299" cap="sq">
              <a:solidFill>
                <a:srgbClr val="D2D8DE"/>
              </a:solidFill>
              <a:prstDash val="solid"/>
              <a:miter/>
            </a:ln>
          </p:spPr>
        </p:sp>
      </p:grpSp>
      <p:grpSp>
        <p:nvGrpSpPr>
          <p:cNvPr name="Group 54" id="54"/>
          <p:cNvGrpSpPr/>
          <p:nvPr/>
        </p:nvGrpSpPr>
        <p:grpSpPr>
          <a:xfrm rot="0">
            <a:off x="9402804" y="7000627"/>
            <a:ext cx="96088" cy="1441304"/>
            <a:chOff x="0" y="0"/>
            <a:chExt cx="128118" cy="1921739"/>
          </a:xfrm>
        </p:grpSpPr>
        <p:sp>
          <p:nvSpPr>
            <p:cNvPr name="Freeform 55" id="55"/>
            <p:cNvSpPr/>
            <p:nvPr/>
          </p:nvSpPr>
          <p:spPr>
            <a:xfrm flipH="false" flipV="false" rot="0">
              <a:off x="0" y="0"/>
              <a:ext cx="128143" cy="1921764"/>
            </a:xfrm>
            <a:custGeom>
              <a:avLst/>
              <a:gdLst/>
              <a:ahLst/>
              <a:cxnLst/>
              <a:rect r="r" b="b" t="t" l="l"/>
              <a:pathLst>
                <a:path h="1921764" w="128143">
                  <a:moveTo>
                    <a:pt x="0" y="0"/>
                  </a:moveTo>
                  <a:lnTo>
                    <a:pt x="128143" y="0"/>
                  </a:lnTo>
                  <a:lnTo>
                    <a:pt x="128143" y="1921764"/>
                  </a:lnTo>
                  <a:lnTo>
                    <a:pt x="0" y="1921764"/>
                  </a:lnTo>
                  <a:close/>
                </a:path>
              </a:pathLst>
            </a:custGeom>
            <a:solidFill>
              <a:srgbClr val="EFEEE7"/>
            </a:solidFill>
          </p:spPr>
        </p:sp>
      </p:grpSp>
      <p:sp>
        <p:nvSpPr>
          <p:cNvPr name="TextBox 56" id="56"/>
          <p:cNvSpPr txBox="true"/>
          <p:nvPr/>
        </p:nvSpPr>
        <p:spPr>
          <a:xfrm rot="0">
            <a:off x="9796234" y="7274376"/>
            <a:ext cx="7229551" cy="333375"/>
          </a:xfrm>
          <a:prstGeom prst="rect">
            <a:avLst/>
          </a:prstGeom>
        </p:spPr>
        <p:txBody>
          <a:bodyPr anchor="t" rtlCol="false" tIns="0" lIns="0" bIns="0" rIns="0">
            <a:spAutoFit/>
          </a:bodyPr>
          <a:lstStyle/>
          <a:p>
            <a:pPr algn="l">
              <a:lnSpc>
                <a:spcPts val="2521"/>
              </a:lnSpc>
            </a:pPr>
            <a:r>
              <a:rPr lang="en-US" b="true" sz="2101" spc="10">
                <a:solidFill>
                  <a:srgbClr val="EFEEE7"/>
                </a:solidFill>
                <a:latin typeface="Public Sans Bold"/>
                <a:ea typeface="Public Sans Bold"/>
                <a:cs typeface="Public Sans Bold"/>
                <a:sym typeface="Public Sans Bold"/>
              </a:rPr>
              <a:t>✓ Human-in-the-Loop</a:t>
            </a:r>
          </a:p>
        </p:txBody>
      </p:sp>
      <p:sp>
        <p:nvSpPr>
          <p:cNvPr name="TextBox 57" id="57"/>
          <p:cNvSpPr txBox="true"/>
          <p:nvPr/>
        </p:nvSpPr>
        <p:spPr>
          <a:xfrm rot="0">
            <a:off x="9796234" y="8034671"/>
            <a:ext cx="3132981" cy="133350"/>
          </a:xfrm>
          <a:prstGeom prst="rect">
            <a:avLst/>
          </a:prstGeom>
        </p:spPr>
        <p:txBody>
          <a:bodyPr anchor="t" rtlCol="false" tIns="0" lIns="0" bIns="0" rIns="0">
            <a:spAutoFit/>
          </a:bodyPr>
          <a:lstStyle/>
          <a:p>
            <a:pPr algn="l">
              <a:lnSpc>
                <a:spcPts val="1095"/>
              </a:lnSpc>
            </a:pPr>
            <a:r>
              <a:rPr lang="en-US" sz="912">
                <a:solidFill>
                  <a:srgbClr val="EFEEE7"/>
                </a:solidFill>
                <a:latin typeface="Public Sans"/>
                <a:ea typeface="Public Sans"/>
                <a:cs typeface="Public Sans"/>
                <a:sym typeface="Public Sans"/>
              </a:rPr>
              <a:t>Kept the final operational decision with the Crew Manager.</a:t>
            </a:r>
          </a:p>
        </p:txBody>
      </p:sp>
      <p:sp>
        <p:nvSpPr>
          <p:cNvPr name="TextBox 58" id="58"/>
          <p:cNvSpPr txBox="true"/>
          <p:nvPr/>
        </p:nvSpPr>
        <p:spPr>
          <a:xfrm rot="0">
            <a:off x="1326842" y="9027195"/>
            <a:ext cx="15602855" cy="285750"/>
          </a:xfrm>
          <a:prstGeom prst="rect">
            <a:avLst/>
          </a:prstGeom>
        </p:spPr>
        <p:txBody>
          <a:bodyPr anchor="t" rtlCol="false" tIns="0" lIns="0" bIns="0" rIns="0">
            <a:spAutoFit/>
          </a:bodyPr>
          <a:lstStyle/>
          <a:p>
            <a:pPr algn="ctr">
              <a:lnSpc>
                <a:spcPts val="2206"/>
              </a:lnSpc>
            </a:pPr>
            <a:r>
              <a:rPr lang="en-US" sz="1838">
                <a:solidFill>
                  <a:srgbClr val="2B2C30"/>
                </a:solidFill>
                <a:latin typeface="Public Sans"/>
                <a:ea typeface="Public Sans"/>
                <a:cs typeface="Public Sans"/>
                <a:sym typeface="Public Sans"/>
              </a:rPr>
              <a:t>The PoC validated the core concept: structured operational signals can be transformed into an explainable AI-assisted briefing for human review.</a:t>
            </a:r>
          </a:p>
        </p:txBody>
      </p:sp>
      <p:sp>
        <p:nvSpPr>
          <p:cNvPr name="TextBox 59" id="59"/>
          <p:cNvSpPr txBox="true"/>
          <p:nvPr/>
        </p:nvSpPr>
        <p:spPr>
          <a:xfrm rot="0">
            <a:off x="1052312" y="9754714"/>
            <a:ext cx="2058442" cy="209550"/>
          </a:xfrm>
          <a:prstGeom prst="rect">
            <a:avLst/>
          </a:prstGeom>
        </p:spPr>
        <p:txBody>
          <a:bodyPr anchor="t" rtlCol="false" tIns="0" lIns="0" bIns="0" rIns="0">
            <a:spAutoFit/>
          </a:bodyPr>
          <a:lstStyle/>
          <a:p>
            <a:pPr algn="l">
              <a:lnSpc>
                <a:spcPts val="1621"/>
              </a:lnSpc>
            </a:pPr>
            <a:r>
              <a:rPr lang="en-US" sz="1351">
                <a:solidFill>
                  <a:srgbClr val="2B2C30"/>
                </a:solidFill>
                <a:latin typeface="Public Sans"/>
                <a:ea typeface="Public Sans"/>
                <a:cs typeface="Public Sans"/>
                <a:sym typeface="Public Sans"/>
              </a:rPr>
              <a:t>Crew Change Risk Copilot</a:t>
            </a:r>
          </a:p>
        </p:txBody>
      </p:sp>
      <p:sp>
        <p:nvSpPr>
          <p:cNvPr name="TextBox 60" id="60"/>
          <p:cNvSpPr txBox="true"/>
          <p:nvPr/>
        </p:nvSpPr>
        <p:spPr>
          <a:xfrm rot="0">
            <a:off x="17094242" y="9754714"/>
            <a:ext cx="109984" cy="209550"/>
          </a:xfrm>
          <a:prstGeom prst="rect">
            <a:avLst/>
          </a:prstGeom>
        </p:spPr>
        <p:txBody>
          <a:bodyPr anchor="t" rtlCol="false" tIns="0" lIns="0" bIns="0" rIns="0">
            <a:spAutoFit/>
          </a:bodyPr>
          <a:lstStyle/>
          <a:p>
            <a:pPr algn="r">
              <a:lnSpc>
                <a:spcPts val="1621"/>
              </a:lnSpc>
            </a:pPr>
            <a:r>
              <a:rPr lang="en-US" sz="1351">
                <a:solidFill>
                  <a:srgbClr val="2B2C30"/>
                </a:solidFill>
                <a:latin typeface="Public Sans"/>
                <a:ea typeface="Public Sans"/>
                <a:cs typeface="Public Sans"/>
                <a:sym typeface="Public Sans"/>
              </a:rPr>
              <a:t>5</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52312" y="653901"/>
            <a:ext cx="17006292" cy="552450"/>
          </a:xfrm>
          <a:prstGeom prst="rect">
            <a:avLst/>
          </a:prstGeom>
        </p:spPr>
        <p:txBody>
          <a:bodyPr anchor="t" rtlCol="false" tIns="0" lIns="0" bIns="0" rIns="0">
            <a:spAutoFit/>
          </a:bodyPr>
          <a:lstStyle/>
          <a:p>
            <a:pPr algn="l">
              <a:lnSpc>
                <a:spcPts val="4329"/>
              </a:lnSpc>
            </a:pPr>
            <a:r>
              <a:rPr lang="en-US" b="true" sz="3607" spc="818">
                <a:solidFill>
                  <a:srgbClr val="2B2C30"/>
                </a:solidFill>
                <a:latin typeface="Public Sans Bold"/>
                <a:ea typeface="Public Sans Bold"/>
                <a:cs typeface="Public Sans Bold"/>
                <a:sym typeface="Public Sans Bold"/>
              </a:rPr>
              <a:t>SCALING THE WORKFLOW: A KEY TECHNICAL FINDING</a:t>
            </a:r>
          </a:p>
        </p:txBody>
      </p:sp>
      <p:grpSp>
        <p:nvGrpSpPr>
          <p:cNvPr name="Group 3" id="3"/>
          <p:cNvGrpSpPr/>
          <p:nvPr/>
        </p:nvGrpSpPr>
        <p:grpSpPr>
          <a:xfrm rot="0">
            <a:off x="960872" y="1509941"/>
            <a:ext cx="1509941" cy="68637"/>
            <a:chOff x="0" y="0"/>
            <a:chExt cx="2013255" cy="91516"/>
          </a:xfrm>
        </p:grpSpPr>
        <p:sp>
          <p:nvSpPr>
            <p:cNvPr name="Freeform 4" id="4"/>
            <p:cNvSpPr/>
            <p:nvPr/>
          </p:nvSpPr>
          <p:spPr>
            <a:xfrm flipH="false" flipV="false" rot="0">
              <a:off x="0" y="0"/>
              <a:ext cx="2013204" cy="91567"/>
            </a:xfrm>
            <a:custGeom>
              <a:avLst/>
              <a:gdLst/>
              <a:ahLst/>
              <a:cxnLst/>
              <a:rect r="r" b="b" t="t" l="l"/>
              <a:pathLst>
                <a:path h="91567" w="2013204">
                  <a:moveTo>
                    <a:pt x="0" y="0"/>
                  </a:moveTo>
                  <a:lnTo>
                    <a:pt x="2013204" y="0"/>
                  </a:lnTo>
                  <a:lnTo>
                    <a:pt x="2013204" y="91567"/>
                  </a:lnTo>
                  <a:lnTo>
                    <a:pt x="0" y="91567"/>
                  </a:lnTo>
                  <a:close/>
                </a:path>
              </a:pathLst>
            </a:custGeom>
            <a:solidFill>
              <a:srgbClr val="2B2C30"/>
            </a:solidFill>
          </p:spPr>
        </p:sp>
      </p:grpSp>
      <p:grpSp>
        <p:nvGrpSpPr>
          <p:cNvPr name="Group 5" id="5"/>
          <p:cNvGrpSpPr/>
          <p:nvPr/>
        </p:nvGrpSpPr>
        <p:grpSpPr>
          <a:xfrm rot="0">
            <a:off x="1090984" y="2738199"/>
            <a:ext cx="4818650" cy="3445983"/>
            <a:chOff x="0" y="0"/>
            <a:chExt cx="6424866" cy="4594644"/>
          </a:xfrm>
        </p:grpSpPr>
        <p:sp>
          <p:nvSpPr>
            <p:cNvPr name="Freeform 6" id="6"/>
            <p:cNvSpPr/>
            <p:nvPr/>
          </p:nvSpPr>
          <p:spPr>
            <a:xfrm flipH="false" flipV="false" rot="0">
              <a:off x="0" y="0"/>
              <a:ext cx="6424930" cy="4594606"/>
            </a:xfrm>
            <a:custGeom>
              <a:avLst/>
              <a:gdLst/>
              <a:ahLst/>
              <a:cxnLst/>
              <a:rect r="r" b="b" t="t" l="l"/>
              <a:pathLst>
                <a:path h="4594606" w="6424930">
                  <a:moveTo>
                    <a:pt x="0" y="765810"/>
                  </a:moveTo>
                  <a:cubicBezTo>
                    <a:pt x="0" y="342900"/>
                    <a:pt x="342900" y="0"/>
                    <a:pt x="765810" y="0"/>
                  </a:cubicBezTo>
                  <a:lnTo>
                    <a:pt x="5659120" y="0"/>
                  </a:lnTo>
                  <a:cubicBezTo>
                    <a:pt x="6082030" y="0"/>
                    <a:pt x="6424930" y="342900"/>
                    <a:pt x="6424930" y="765810"/>
                  </a:cubicBezTo>
                  <a:lnTo>
                    <a:pt x="6424930" y="3828796"/>
                  </a:lnTo>
                  <a:cubicBezTo>
                    <a:pt x="6424930" y="4251706"/>
                    <a:pt x="6082030" y="4594606"/>
                    <a:pt x="5659120" y="4594606"/>
                  </a:cubicBezTo>
                  <a:lnTo>
                    <a:pt x="765810" y="4594606"/>
                  </a:lnTo>
                  <a:cubicBezTo>
                    <a:pt x="342900" y="4594606"/>
                    <a:pt x="0" y="4251706"/>
                    <a:pt x="0" y="3828796"/>
                  </a:cubicBezTo>
                  <a:close/>
                </a:path>
              </a:pathLst>
            </a:custGeom>
            <a:solidFill>
              <a:srgbClr val="2B2C30"/>
            </a:solidFill>
            <a:ln w="14299" cap="sq">
              <a:solidFill>
                <a:srgbClr val="D2D8DE"/>
              </a:solidFill>
              <a:prstDash val="solid"/>
              <a:miter/>
            </a:ln>
          </p:spPr>
        </p:sp>
      </p:grpSp>
      <p:grpSp>
        <p:nvGrpSpPr>
          <p:cNvPr name="Group 7" id="7"/>
          <p:cNvGrpSpPr/>
          <p:nvPr/>
        </p:nvGrpSpPr>
        <p:grpSpPr>
          <a:xfrm rot="0">
            <a:off x="1098137" y="2745343"/>
            <a:ext cx="96088" cy="3431677"/>
            <a:chOff x="0" y="0"/>
            <a:chExt cx="128118" cy="4575569"/>
          </a:xfrm>
        </p:grpSpPr>
        <p:sp>
          <p:nvSpPr>
            <p:cNvPr name="Freeform 8" id="8"/>
            <p:cNvSpPr/>
            <p:nvPr/>
          </p:nvSpPr>
          <p:spPr>
            <a:xfrm flipH="false" flipV="false" rot="0">
              <a:off x="0" y="0"/>
              <a:ext cx="128143" cy="4575556"/>
            </a:xfrm>
            <a:custGeom>
              <a:avLst/>
              <a:gdLst/>
              <a:ahLst/>
              <a:cxnLst/>
              <a:rect r="r" b="b" t="t" l="l"/>
              <a:pathLst>
                <a:path h="4575556" w="128143">
                  <a:moveTo>
                    <a:pt x="0" y="0"/>
                  </a:moveTo>
                  <a:lnTo>
                    <a:pt x="128143" y="0"/>
                  </a:lnTo>
                  <a:lnTo>
                    <a:pt x="128143" y="4575556"/>
                  </a:lnTo>
                  <a:lnTo>
                    <a:pt x="0" y="4575556"/>
                  </a:lnTo>
                  <a:close/>
                </a:path>
              </a:pathLst>
            </a:custGeom>
            <a:solidFill>
              <a:srgbClr val="EFEEE7"/>
            </a:solidFill>
          </p:spPr>
        </p:sp>
      </p:grpSp>
      <p:sp>
        <p:nvSpPr>
          <p:cNvPr name="TextBox 9" id="9"/>
          <p:cNvSpPr txBox="true"/>
          <p:nvPr/>
        </p:nvSpPr>
        <p:spPr>
          <a:xfrm rot="0">
            <a:off x="1491567" y="3028617"/>
            <a:ext cx="4141041" cy="390525"/>
          </a:xfrm>
          <a:prstGeom prst="rect">
            <a:avLst/>
          </a:prstGeom>
        </p:spPr>
        <p:txBody>
          <a:bodyPr anchor="t" rtlCol="false" tIns="0" lIns="0" bIns="0" rIns="0">
            <a:spAutoFit/>
          </a:bodyPr>
          <a:lstStyle/>
          <a:p>
            <a:pPr algn="l">
              <a:lnSpc>
                <a:spcPts val="3062"/>
              </a:lnSpc>
            </a:pPr>
            <a:r>
              <a:rPr lang="en-US" b="true" sz="2551" spc="12">
                <a:solidFill>
                  <a:srgbClr val="EFEEE7"/>
                </a:solidFill>
                <a:latin typeface="Public Sans Bold"/>
                <a:ea typeface="Public Sans Bold"/>
                <a:cs typeface="Public Sans Bold"/>
                <a:sym typeface="Public Sans Bold"/>
              </a:rPr>
              <a:t>CHALLENGE</a:t>
            </a:r>
          </a:p>
        </p:txBody>
      </p:sp>
      <p:sp>
        <p:nvSpPr>
          <p:cNvPr name="TextBox 10" id="10"/>
          <p:cNvSpPr txBox="true"/>
          <p:nvPr/>
        </p:nvSpPr>
        <p:spPr>
          <a:xfrm rot="0">
            <a:off x="1491567" y="3769862"/>
            <a:ext cx="4099855" cy="695325"/>
          </a:xfrm>
          <a:prstGeom prst="rect">
            <a:avLst/>
          </a:prstGeom>
        </p:spPr>
        <p:txBody>
          <a:bodyPr anchor="t" rtlCol="false" tIns="0" lIns="0" bIns="0" rIns="0">
            <a:spAutoFit/>
          </a:bodyPr>
          <a:lstStyle/>
          <a:p>
            <a:pPr algn="l">
              <a:lnSpc>
                <a:spcPts val="2702"/>
              </a:lnSpc>
            </a:pPr>
            <a:r>
              <a:rPr lang="en-US" sz="2251">
                <a:solidFill>
                  <a:srgbClr val="EFEEE7"/>
                </a:solidFill>
                <a:latin typeface="Public Sans"/>
                <a:ea typeface="Public Sans"/>
                <a:cs typeface="Public Sans"/>
                <a:sym typeface="Public Sans"/>
              </a:rPr>
              <a:t>Move from one case to batch processing and prioritisation</a:t>
            </a:r>
          </a:p>
        </p:txBody>
      </p:sp>
      <p:sp>
        <p:nvSpPr>
          <p:cNvPr name="TextBox 11" id="11"/>
          <p:cNvSpPr txBox="true"/>
          <p:nvPr/>
        </p:nvSpPr>
        <p:spPr>
          <a:xfrm rot="0">
            <a:off x="5943483" y="4144689"/>
            <a:ext cx="384721" cy="476250"/>
          </a:xfrm>
          <a:prstGeom prst="rect">
            <a:avLst/>
          </a:prstGeom>
        </p:spPr>
        <p:txBody>
          <a:bodyPr anchor="t" rtlCol="false" tIns="0" lIns="0" bIns="0" rIns="0">
            <a:spAutoFit/>
          </a:bodyPr>
          <a:lstStyle/>
          <a:p>
            <a:pPr algn="ctr">
              <a:lnSpc>
                <a:spcPts val="3616"/>
              </a:lnSpc>
            </a:pPr>
            <a:r>
              <a:rPr lang="en-US" b="true" sz="3013" spc="15">
                <a:solidFill>
                  <a:srgbClr val="2B2C30"/>
                </a:solidFill>
                <a:latin typeface="Public Sans Bold"/>
                <a:ea typeface="Public Sans Bold"/>
                <a:cs typeface="Public Sans Bold"/>
                <a:sym typeface="Public Sans Bold"/>
              </a:rPr>
              <a:t>→</a:t>
            </a:r>
          </a:p>
        </p:txBody>
      </p:sp>
      <p:grpSp>
        <p:nvGrpSpPr>
          <p:cNvPr name="Group 12" id="12"/>
          <p:cNvGrpSpPr/>
          <p:nvPr/>
        </p:nvGrpSpPr>
        <p:grpSpPr>
          <a:xfrm rot="0">
            <a:off x="6787582" y="2738199"/>
            <a:ext cx="4818650" cy="3445983"/>
            <a:chOff x="0" y="0"/>
            <a:chExt cx="6424866" cy="4594644"/>
          </a:xfrm>
        </p:grpSpPr>
        <p:sp>
          <p:nvSpPr>
            <p:cNvPr name="Freeform 13" id="13"/>
            <p:cNvSpPr/>
            <p:nvPr/>
          </p:nvSpPr>
          <p:spPr>
            <a:xfrm flipH="false" flipV="false" rot="0">
              <a:off x="0" y="0"/>
              <a:ext cx="6424930" cy="4594606"/>
            </a:xfrm>
            <a:custGeom>
              <a:avLst/>
              <a:gdLst/>
              <a:ahLst/>
              <a:cxnLst/>
              <a:rect r="r" b="b" t="t" l="l"/>
              <a:pathLst>
                <a:path h="4594606" w="6424930">
                  <a:moveTo>
                    <a:pt x="0" y="765810"/>
                  </a:moveTo>
                  <a:cubicBezTo>
                    <a:pt x="0" y="342900"/>
                    <a:pt x="342900" y="0"/>
                    <a:pt x="765810" y="0"/>
                  </a:cubicBezTo>
                  <a:lnTo>
                    <a:pt x="5659120" y="0"/>
                  </a:lnTo>
                  <a:cubicBezTo>
                    <a:pt x="6082030" y="0"/>
                    <a:pt x="6424930" y="342900"/>
                    <a:pt x="6424930" y="765810"/>
                  </a:cubicBezTo>
                  <a:lnTo>
                    <a:pt x="6424930" y="3828796"/>
                  </a:lnTo>
                  <a:cubicBezTo>
                    <a:pt x="6424930" y="4251706"/>
                    <a:pt x="6082030" y="4594606"/>
                    <a:pt x="5659120" y="4594606"/>
                  </a:cubicBezTo>
                  <a:lnTo>
                    <a:pt x="765810" y="4594606"/>
                  </a:lnTo>
                  <a:cubicBezTo>
                    <a:pt x="342900" y="4594606"/>
                    <a:pt x="0" y="4251706"/>
                    <a:pt x="0" y="3828796"/>
                  </a:cubicBezTo>
                  <a:close/>
                </a:path>
              </a:pathLst>
            </a:custGeom>
            <a:solidFill>
              <a:srgbClr val="2B2C30"/>
            </a:solidFill>
            <a:ln w="14299" cap="sq">
              <a:solidFill>
                <a:srgbClr val="D2D8DE"/>
              </a:solidFill>
              <a:prstDash val="solid"/>
              <a:miter/>
            </a:ln>
          </p:spPr>
        </p:sp>
      </p:grpSp>
      <p:grpSp>
        <p:nvGrpSpPr>
          <p:cNvPr name="Group 14" id="14"/>
          <p:cNvGrpSpPr/>
          <p:nvPr/>
        </p:nvGrpSpPr>
        <p:grpSpPr>
          <a:xfrm rot="0">
            <a:off x="6794725" y="2745343"/>
            <a:ext cx="96088" cy="3431677"/>
            <a:chOff x="0" y="0"/>
            <a:chExt cx="128118" cy="4575569"/>
          </a:xfrm>
        </p:grpSpPr>
        <p:sp>
          <p:nvSpPr>
            <p:cNvPr name="Freeform 15" id="15"/>
            <p:cNvSpPr/>
            <p:nvPr/>
          </p:nvSpPr>
          <p:spPr>
            <a:xfrm flipH="false" flipV="false" rot="0">
              <a:off x="0" y="0"/>
              <a:ext cx="128143" cy="4575556"/>
            </a:xfrm>
            <a:custGeom>
              <a:avLst/>
              <a:gdLst/>
              <a:ahLst/>
              <a:cxnLst/>
              <a:rect r="r" b="b" t="t" l="l"/>
              <a:pathLst>
                <a:path h="4575556" w="128143">
                  <a:moveTo>
                    <a:pt x="0" y="0"/>
                  </a:moveTo>
                  <a:lnTo>
                    <a:pt x="128143" y="0"/>
                  </a:lnTo>
                  <a:lnTo>
                    <a:pt x="128143" y="4575556"/>
                  </a:lnTo>
                  <a:lnTo>
                    <a:pt x="0" y="4575556"/>
                  </a:lnTo>
                  <a:close/>
                </a:path>
              </a:pathLst>
            </a:custGeom>
            <a:solidFill>
              <a:srgbClr val="EFEEE7"/>
            </a:solidFill>
          </p:spPr>
        </p:sp>
      </p:grpSp>
      <p:sp>
        <p:nvSpPr>
          <p:cNvPr name="TextBox 16" id="16"/>
          <p:cNvSpPr txBox="true"/>
          <p:nvPr/>
        </p:nvSpPr>
        <p:spPr>
          <a:xfrm rot="0">
            <a:off x="7188156" y="3028617"/>
            <a:ext cx="4141041" cy="390525"/>
          </a:xfrm>
          <a:prstGeom prst="rect">
            <a:avLst/>
          </a:prstGeom>
        </p:spPr>
        <p:txBody>
          <a:bodyPr anchor="t" rtlCol="false" tIns="0" lIns="0" bIns="0" rIns="0">
            <a:spAutoFit/>
          </a:bodyPr>
          <a:lstStyle/>
          <a:p>
            <a:pPr algn="l">
              <a:lnSpc>
                <a:spcPts val="3062"/>
              </a:lnSpc>
            </a:pPr>
            <a:r>
              <a:rPr lang="en-US" b="true" sz="2551" spc="12">
                <a:solidFill>
                  <a:srgbClr val="EFEEE7"/>
                </a:solidFill>
                <a:latin typeface="Public Sans Bold"/>
                <a:ea typeface="Public Sans Bold"/>
                <a:cs typeface="Public Sans Bold"/>
                <a:sym typeface="Public Sans Bold"/>
              </a:rPr>
              <a:t>LEARNING</a:t>
            </a:r>
          </a:p>
        </p:txBody>
      </p:sp>
      <p:sp>
        <p:nvSpPr>
          <p:cNvPr name="TextBox 17" id="17"/>
          <p:cNvSpPr txBox="true"/>
          <p:nvPr/>
        </p:nvSpPr>
        <p:spPr>
          <a:xfrm rot="0">
            <a:off x="7188156" y="3769862"/>
            <a:ext cx="4099855" cy="1381125"/>
          </a:xfrm>
          <a:prstGeom prst="rect">
            <a:avLst/>
          </a:prstGeom>
        </p:spPr>
        <p:txBody>
          <a:bodyPr anchor="t" rtlCol="false" tIns="0" lIns="0" bIns="0" rIns="0">
            <a:spAutoFit/>
          </a:bodyPr>
          <a:lstStyle/>
          <a:p>
            <a:pPr algn="l">
              <a:lnSpc>
                <a:spcPts val="2702"/>
              </a:lnSpc>
            </a:pPr>
            <a:r>
              <a:rPr lang="en-US" sz="2251">
                <a:solidFill>
                  <a:srgbClr val="EFEEE7"/>
                </a:solidFill>
                <a:latin typeface="Public Sans"/>
                <a:ea typeface="Public Sans"/>
                <a:cs typeface="Public Sans"/>
                <a:sym typeface="Public Sans"/>
              </a:rPr>
              <a:t>Data schemas</a:t>
            </a:r>
          </a:p>
          <a:p>
            <a:pPr algn="l">
              <a:lnSpc>
                <a:spcPts val="2702"/>
              </a:lnSpc>
            </a:pPr>
            <a:r>
              <a:rPr lang="en-US" sz="2251">
                <a:solidFill>
                  <a:srgbClr val="EFEEE7"/>
                </a:solidFill>
                <a:latin typeface="Public Sans"/>
                <a:ea typeface="Public Sans"/>
                <a:cs typeface="Public Sans"/>
                <a:sym typeface="Public Sans"/>
              </a:rPr>
              <a:t>Transformations</a:t>
            </a:r>
          </a:p>
          <a:p>
            <a:pPr algn="l">
              <a:lnSpc>
                <a:spcPts val="2702"/>
              </a:lnSpc>
            </a:pPr>
            <a:r>
              <a:rPr lang="en-US" sz="2251">
                <a:solidFill>
                  <a:srgbClr val="EFEEE7"/>
                </a:solidFill>
                <a:latin typeface="Public Sans"/>
                <a:ea typeface="Public Sans"/>
                <a:cs typeface="Public Sans"/>
                <a:sym typeface="Public Sans"/>
              </a:rPr>
              <a:t>Workflow complexity</a:t>
            </a:r>
          </a:p>
          <a:p>
            <a:pPr algn="l">
              <a:lnSpc>
                <a:spcPts val="2702"/>
              </a:lnSpc>
            </a:pPr>
            <a:r>
              <a:rPr lang="en-US" sz="2251">
                <a:solidFill>
                  <a:srgbClr val="EFEEE7"/>
                </a:solidFill>
                <a:latin typeface="Public Sans"/>
                <a:ea typeface="Public Sans"/>
                <a:cs typeface="Public Sans"/>
                <a:sym typeface="Public Sans"/>
              </a:rPr>
              <a:t>Reliability issues</a:t>
            </a:r>
          </a:p>
        </p:txBody>
      </p:sp>
      <p:sp>
        <p:nvSpPr>
          <p:cNvPr name="TextBox 18" id="18"/>
          <p:cNvSpPr txBox="true"/>
          <p:nvPr/>
        </p:nvSpPr>
        <p:spPr>
          <a:xfrm rot="0">
            <a:off x="11640071" y="4144689"/>
            <a:ext cx="384721" cy="476250"/>
          </a:xfrm>
          <a:prstGeom prst="rect">
            <a:avLst/>
          </a:prstGeom>
        </p:spPr>
        <p:txBody>
          <a:bodyPr anchor="t" rtlCol="false" tIns="0" lIns="0" bIns="0" rIns="0">
            <a:spAutoFit/>
          </a:bodyPr>
          <a:lstStyle/>
          <a:p>
            <a:pPr algn="ctr">
              <a:lnSpc>
                <a:spcPts val="3616"/>
              </a:lnSpc>
            </a:pPr>
            <a:r>
              <a:rPr lang="en-US" b="true" sz="3013" spc="15">
                <a:solidFill>
                  <a:srgbClr val="2B2C30"/>
                </a:solidFill>
                <a:latin typeface="Public Sans Bold"/>
                <a:ea typeface="Public Sans Bold"/>
                <a:cs typeface="Public Sans Bold"/>
                <a:sym typeface="Public Sans Bold"/>
              </a:rPr>
              <a:t>→</a:t>
            </a:r>
          </a:p>
        </p:txBody>
      </p:sp>
      <p:grpSp>
        <p:nvGrpSpPr>
          <p:cNvPr name="Group 19" id="19"/>
          <p:cNvGrpSpPr/>
          <p:nvPr/>
        </p:nvGrpSpPr>
        <p:grpSpPr>
          <a:xfrm rot="0">
            <a:off x="12484170" y="2738199"/>
            <a:ext cx="4818650" cy="3445983"/>
            <a:chOff x="0" y="0"/>
            <a:chExt cx="6424866" cy="4594644"/>
          </a:xfrm>
        </p:grpSpPr>
        <p:sp>
          <p:nvSpPr>
            <p:cNvPr name="Freeform 20" id="20"/>
            <p:cNvSpPr/>
            <p:nvPr/>
          </p:nvSpPr>
          <p:spPr>
            <a:xfrm flipH="false" flipV="false" rot="0">
              <a:off x="0" y="0"/>
              <a:ext cx="6424930" cy="4594606"/>
            </a:xfrm>
            <a:custGeom>
              <a:avLst/>
              <a:gdLst/>
              <a:ahLst/>
              <a:cxnLst/>
              <a:rect r="r" b="b" t="t" l="l"/>
              <a:pathLst>
                <a:path h="4594606" w="6424930">
                  <a:moveTo>
                    <a:pt x="0" y="765810"/>
                  </a:moveTo>
                  <a:cubicBezTo>
                    <a:pt x="0" y="342900"/>
                    <a:pt x="342900" y="0"/>
                    <a:pt x="765810" y="0"/>
                  </a:cubicBezTo>
                  <a:lnTo>
                    <a:pt x="5659120" y="0"/>
                  </a:lnTo>
                  <a:cubicBezTo>
                    <a:pt x="6082030" y="0"/>
                    <a:pt x="6424930" y="342900"/>
                    <a:pt x="6424930" y="765810"/>
                  </a:cubicBezTo>
                  <a:lnTo>
                    <a:pt x="6424930" y="3828796"/>
                  </a:lnTo>
                  <a:cubicBezTo>
                    <a:pt x="6424930" y="4251706"/>
                    <a:pt x="6082030" y="4594606"/>
                    <a:pt x="5659120" y="4594606"/>
                  </a:cubicBezTo>
                  <a:lnTo>
                    <a:pt x="765810" y="4594606"/>
                  </a:lnTo>
                  <a:cubicBezTo>
                    <a:pt x="342900" y="4594606"/>
                    <a:pt x="0" y="4251706"/>
                    <a:pt x="0" y="3828796"/>
                  </a:cubicBezTo>
                  <a:close/>
                </a:path>
              </a:pathLst>
            </a:custGeom>
            <a:solidFill>
              <a:srgbClr val="2B2C30"/>
            </a:solidFill>
            <a:ln w="14299" cap="sq">
              <a:solidFill>
                <a:srgbClr val="D2D8DE"/>
              </a:solidFill>
              <a:prstDash val="solid"/>
              <a:miter/>
            </a:ln>
          </p:spPr>
        </p:sp>
      </p:grpSp>
      <p:grpSp>
        <p:nvGrpSpPr>
          <p:cNvPr name="Group 21" id="21"/>
          <p:cNvGrpSpPr/>
          <p:nvPr/>
        </p:nvGrpSpPr>
        <p:grpSpPr>
          <a:xfrm rot="0">
            <a:off x="12491323" y="2745343"/>
            <a:ext cx="96088" cy="3431677"/>
            <a:chOff x="0" y="0"/>
            <a:chExt cx="128118" cy="4575569"/>
          </a:xfrm>
        </p:grpSpPr>
        <p:sp>
          <p:nvSpPr>
            <p:cNvPr name="Freeform 22" id="22"/>
            <p:cNvSpPr/>
            <p:nvPr/>
          </p:nvSpPr>
          <p:spPr>
            <a:xfrm flipH="false" flipV="false" rot="0">
              <a:off x="0" y="0"/>
              <a:ext cx="128143" cy="4575556"/>
            </a:xfrm>
            <a:custGeom>
              <a:avLst/>
              <a:gdLst/>
              <a:ahLst/>
              <a:cxnLst/>
              <a:rect r="r" b="b" t="t" l="l"/>
              <a:pathLst>
                <a:path h="4575556" w="128143">
                  <a:moveTo>
                    <a:pt x="0" y="0"/>
                  </a:moveTo>
                  <a:lnTo>
                    <a:pt x="128143" y="0"/>
                  </a:lnTo>
                  <a:lnTo>
                    <a:pt x="128143" y="4575556"/>
                  </a:lnTo>
                  <a:lnTo>
                    <a:pt x="0" y="4575556"/>
                  </a:lnTo>
                  <a:close/>
                </a:path>
              </a:pathLst>
            </a:custGeom>
            <a:solidFill>
              <a:srgbClr val="EFEEE7"/>
            </a:solidFill>
          </p:spPr>
        </p:sp>
      </p:grpSp>
      <p:sp>
        <p:nvSpPr>
          <p:cNvPr name="TextBox 23" id="23"/>
          <p:cNvSpPr txBox="true"/>
          <p:nvPr/>
        </p:nvSpPr>
        <p:spPr>
          <a:xfrm rot="0">
            <a:off x="12884744" y="3028617"/>
            <a:ext cx="4141041" cy="390525"/>
          </a:xfrm>
          <a:prstGeom prst="rect">
            <a:avLst/>
          </a:prstGeom>
        </p:spPr>
        <p:txBody>
          <a:bodyPr anchor="t" rtlCol="false" tIns="0" lIns="0" bIns="0" rIns="0">
            <a:spAutoFit/>
          </a:bodyPr>
          <a:lstStyle/>
          <a:p>
            <a:pPr algn="l">
              <a:lnSpc>
                <a:spcPts val="3062"/>
              </a:lnSpc>
            </a:pPr>
            <a:r>
              <a:rPr lang="en-US" b="true" sz="2551" spc="12">
                <a:solidFill>
                  <a:srgbClr val="EFEEE7"/>
                </a:solidFill>
                <a:latin typeface="Public Sans Bold"/>
                <a:ea typeface="Public Sans Bold"/>
                <a:cs typeface="Public Sans Bold"/>
                <a:sym typeface="Public Sans Bold"/>
              </a:rPr>
              <a:t>DECISION</a:t>
            </a:r>
          </a:p>
        </p:txBody>
      </p:sp>
      <p:sp>
        <p:nvSpPr>
          <p:cNvPr name="TextBox 24" id="24"/>
          <p:cNvSpPr txBox="true"/>
          <p:nvPr/>
        </p:nvSpPr>
        <p:spPr>
          <a:xfrm rot="0">
            <a:off x="12884744" y="3769862"/>
            <a:ext cx="4099855" cy="1038225"/>
          </a:xfrm>
          <a:prstGeom prst="rect">
            <a:avLst/>
          </a:prstGeom>
        </p:spPr>
        <p:txBody>
          <a:bodyPr anchor="t" rtlCol="false" tIns="0" lIns="0" bIns="0" rIns="0">
            <a:spAutoFit/>
          </a:bodyPr>
          <a:lstStyle/>
          <a:p>
            <a:pPr algn="l">
              <a:lnSpc>
                <a:spcPts val="2702"/>
              </a:lnSpc>
            </a:pPr>
            <a:r>
              <a:rPr lang="en-US" sz="2251">
                <a:solidFill>
                  <a:srgbClr val="EFEEE7"/>
                </a:solidFill>
                <a:latin typeface="Public Sans"/>
                <a:ea typeface="Public Sans"/>
                <a:cs typeface="Public Sans"/>
                <a:sym typeface="Public Sans"/>
              </a:rPr>
              <a:t>Python + LangGraph</a:t>
            </a:r>
          </a:p>
          <a:p>
            <a:pPr algn="l">
              <a:lnSpc>
                <a:spcPts val="2702"/>
              </a:lnSpc>
            </a:pPr>
            <a:r>
              <a:rPr lang="en-US" sz="2251">
                <a:solidFill>
                  <a:srgbClr val="EFEEE7"/>
                </a:solidFill>
                <a:latin typeface="Public Sans"/>
                <a:ea typeface="Public Sans"/>
                <a:cs typeface="Public Sans"/>
                <a:sym typeface="Public Sans"/>
              </a:rPr>
              <a:t>for the next implementation</a:t>
            </a:r>
          </a:p>
          <a:p>
            <a:pPr algn="l">
              <a:lnSpc>
                <a:spcPts val="2702"/>
              </a:lnSpc>
            </a:pPr>
            <a:r>
              <a:rPr lang="en-US" sz="2251">
                <a:solidFill>
                  <a:srgbClr val="EFEEE7"/>
                </a:solidFill>
                <a:latin typeface="Public Sans"/>
                <a:ea typeface="Public Sans"/>
                <a:cs typeface="Public Sans"/>
                <a:sym typeface="Public Sans"/>
              </a:rPr>
              <a:t>of complex core processing</a:t>
            </a:r>
          </a:p>
        </p:txBody>
      </p:sp>
      <p:sp>
        <p:nvSpPr>
          <p:cNvPr name="TextBox 25" id="25"/>
          <p:cNvSpPr txBox="true"/>
          <p:nvPr/>
        </p:nvSpPr>
        <p:spPr>
          <a:xfrm rot="0">
            <a:off x="1464116" y="7448626"/>
            <a:ext cx="15328316" cy="733425"/>
          </a:xfrm>
          <a:prstGeom prst="rect">
            <a:avLst/>
          </a:prstGeom>
        </p:spPr>
        <p:txBody>
          <a:bodyPr anchor="t" rtlCol="false" tIns="0" lIns="0" bIns="0" rIns="0">
            <a:spAutoFit/>
          </a:bodyPr>
          <a:lstStyle/>
          <a:p>
            <a:pPr algn="ctr">
              <a:lnSpc>
                <a:spcPts val="2913"/>
              </a:lnSpc>
            </a:pPr>
            <a:r>
              <a:rPr lang="en-US" b="true" sz="2428" spc="12">
                <a:solidFill>
                  <a:srgbClr val="2B2C30"/>
                </a:solidFill>
                <a:latin typeface="Public Sans Bold"/>
                <a:ea typeface="Public Sans Bold"/>
                <a:cs typeface="Public Sans Bold"/>
                <a:sym typeface="Public Sans Bold"/>
              </a:rPr>
              <a:t>The business use case remained valid. The implementation approach evolved based on practical technical findings.</a:t>
            </a:r>
          </a:p>
        </p:txBody>
      </p:sp>
      <p:sp>
        <p:nvSpPr>
          <p:cNvPr name="TextBox 26" id="26"/>
          <p:cNvSpPr txBox="true"/>
          <p:nvPr/>
        </p:nvSpPr>
        <p:spPr>
          <a:xfrm rot="0">
            <a:off x="1601381" y="8546763"/>
            <a:ext cx="15053786" cy="523875"/>
          </a:xfrm>
          <a:prstGeom prst="rect">
            <a:avLst/>
          </a:prstGeom>
        </p:spPr>
        <p:txBody>
          <a:bodyPr anchor="t" rtlCol="false" tIns="0" lIns="0" bIns="0" rIns="0">
            <a:spAutoFit/>
          </a:bodyPr>
          <a:lstStyle/>
          <a:p>
            <a:pPr algn="ctr">
              <a:lnSpc>
                <a:spcPts val="2094"/>
              </a:lnSpc>
            </a:pPr>
            <a:r>
              <a:rPr lang="en-US" sz="1745">
                <a:solidFill>
                  <a:srgbClr val="2B2C30"/>
                </a:solidFill>
                <a:latin typeface="Public Sans"/>
                <a:ea typeface="Public Sans"/>
                <a:cs typeface="Public Sans"/>
                <a:sym typeface="Public Sans"/>
              </a:rPr>
              <a:t>Key finding: do not continue adding complexity to the low-code workflow when stronger schema control, validation and batch processing are required.</a:t>
            </a:r>
          </a:p>
        </p:txBody>
      </p:sp>
      <p:sp>
        <p:nvSpPr>
          <p:cNvPr name="TextBox 27" id="27"/>
          <p:cNvSpPr txBox="true"/>
          <p:nvPr/>
        </p:nvSpPr>
        <p:spPr>
          <a:xfrm rot="0">
            <a:off x="1052312" y="9754714"/>
            <a:ext cx="2058442" cy="209550"/>
          </a:xfrm>
          <a:prstGeom prst="rect">
            <a:avLst/>
          </a:prstGeom>
        </p:spPr>
        <p:txBody>
          <a:bodyPr anchor="t" rtlCol="false" tIns="0" lIns="0" bIns="0" rIns="0">
            <a:spAutoFit/>
          </a:bodyPr>
          <a:lstStyle/>
          <a:p>
            <a:pPr algn="l">
              <a:lnSpc>
                <a:spcPts val="1621"/>
              </a:lnSpc>
            </a:pPr>
            <a:r>
              <a:rPr lang="en-US" sz="1351">
                <a:solidFill>
                  <a:srgbClr val="2B2C30"/>
                </a:solidFill>
                <a:latin typeface="Public Sans"/>
                <a:ea typeface="Public Sans"/>
                <a:cs typeface="Public Sans"/>
                <a:sym typeface="Public Sans"/>
              </a:rPr>
              <a:t>Crew Change Risk Copilot</a:t>
            </a:r>
          </a:p>
        </p:txBody>
      </p:sp>
      <p:sp>
        <p:nvSpPr>
          <p:cNvPr name="TextBox 28" id="28"/>
          <p:cNvSpPr txBox="true"/>
          <p:nvPr/>
        </p:nvSpPr>
        <p:spPr>
          <a:xfrm rot="0">
            <a:off x="17097368" y="9754714"/>
            <a:ext cx="106859" cy="209550"/>
          </a:xfrm>
          <a:prstGeom prst="rect">
            <a:avLst/>
          </a:prstGeom>
        </p:spPr>
        <p:txBody>
          <a:bodyPr anchor="t" rtlCol="false" tIns="0" lIns="0" bIns="0" rIns="0">
            <a:spAutoFit/>
          </a:bodyPr>
          <a:lstStyle/>
          <a:p>
            <a:pPr algn="r">
              <a:lnSpc>
                <a:spcPts val="1621"/>
              </a:lnSpc>
            </a:pPr>
            <a:r>
              <a:rPr lang="en-US" sz="1351">
                <a:solidFill>
                  <a:srgbClr val="2B2C30"/>
                </a:solidFill>
                <a:latin typeface="Public Sans"/>
                <a:ea typeface="Public Sans"/>
                <a:cs typeface="Public Sans"/>
                <a:sym typeface="Public Sans"/>
              </a:rPr>
              <a:t>6</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52312" y="653901"/>
            <a:ext cx="13574911" cy="647700"/>
          </a:xfrm>
          <a:prstGeom prst="rect">
            <a:avLst/>
          </a:prstGeom>
        </p:spPr>
        <p:txBody>
          <a:bodyPr anchor="t" rtlCol="false" tIns="0" lIns="0" bIns="0" rIns="0">
            <a:spAutoFit/>
          </a:bodyPr>
          <a:lstStyle/>
          <a:p>
            <a:pPr algn="l">
              <a:lnSpc>
                <a:spcPts val="5043"/>
              </a:lnSpc>
            </a:pPr>
            <a:r>
              <a:rPr lang="en-US" b="true" sz="4203" spc="954">
                <a:solidFill>
                  <a:srgbClr val="2B2C30"/>
                </a:solidFill>
                <a:latin typeface="Public Sans Bold"/>
                <a:ea typeface="Public Sans Bold"/>
                <a:cs typeface="Public Sans Bold"/>
                <a:sym typeface="Public Sans Bold"/>
              </a:rPr>
              <a:t>BUSINESS CASE: CONSERVATIVE ROI</a:t>
            </a:r>
          </a:p>
        </p:txBody>
      </p:sp>
      <p:grpSp>
        <p:nvGrpSpPr>
          <p:cNvPr name="Group 3" id="3"/>
          <p:cNvGrpSpPr/>
          <p:nvPr/>
        </p:nvGrpSpPr>
        <p:grpSpPr>
          <a:xfrm rot="0">
            <a:off x="960872" y="1509941"/>
            <a:ext cx="1509941" cy="68637"/>
            <a:chOff x="0" y="0"/>
            <a:chExt cx="2013255" cy="91516"/>
          </a:xfrm>
        </p:grpSpPr>
        <p:sp>
          <p:nvSpPr>
            <p:cNvPr name="Freeform 4" id="4"/>
            <p:cNvSpPr/>
            <p:nvPr/>
          </p:nvSpPr>
          <p:spPr>
            <a:xfrm flipH="false" flipV="false" rot="0">
              <a:off x="0" y="0"/>
              <a:ext cx="2013204" cy="91567"/>
            </a:xfrm>
            <a:custGeom>
              <a:avLst/>
              <a:gdLst/>
              <a:ahLst/>
              <a:cxnLst/>
              <a:rect r="r" b="b" t="t" l="l"/>
              <a:pathLst>
                <a:path h="91567" w="2013204">
                  <a:moveTo>
                    <a:pt x="0" y="0"/>
                  </a:moveTo>
                  <a:lnTo>
                    <a:pt x="2013204" y="0"/>
                  </a:lnTo>
                  <a:lnTo>
                    <a:pt x="2013204" y="91567"/>
                  </a:lnTo>
                  <a:lnTo>
                    <a:pt x="0" y="91567"/>
                  </a:lnTo>
                  <a:close/>
                </a:path>
              </a:pathLst>
            </a:custGeom>
            <a:solidFill>
              <a:srgbClr val="2B2C30"/>
            </a:solidFill>
          </p:spPr>
        </p:sp>
      </p:grpSp>
      <p:sp>
        <p:nvSpPr>
          <p:cNvPr name="TextBox 5" id="5"/>
          <p:cNvSpPr txBox="true"/>
          <p:nvPr/>
        </p:nvSpPr>
        <p:spPr>
          <a:xfrm rot="0">
            <a:off x="1052312" y="1742513"/>
            <a:ext cx="16014659" cy="333375"/>
          </a:xfrm>
          <a:prstGeom prst="rect">
            <a:avLst/>
          </a:prstGeom>
        </p:spPr>
        <p:txBody>
          <a:bodyPr anchor="t" rtlCol="false" tIns="0" lIns="0" bIns="0" rIns="0">
            <a:spAutoFit/>
          </a:bodyPr>
          <a:lstStyle/>
          <a:p>
            <a:pPr algn="l">
              <a:lnSpc>
                <a:spcPts val="2521"/>
              </a:lnSpc>
            </a:pPr>
            <a:r>
              <a:rPr lang="en-US" sz="2101">
                <a:solidFill>
                  <a:srgbClr val="2B2C30"/>
                </a:solidFill>
                <a:latin typeface="Public Sans"/>
                <a:ea typeface="Public Sans"/>
                <a:cs typeface="Public Sans"/>
                <a:sym typeface="Public Sans"/>
              </a:rPr>
              <a:t>Only avoided disrupted crew-change costs are monetised at this stage.</a:t>
            </a:r>
          </a:p>
        </p:txBody>
      </p:sp>
      <p:grpSp>
        <p:nvGrpSpPr>
          <p:cNvPr name="Group 6" id="6"/>
          <p:cNvGrpSpPr/>
          <p:nvPr/>
        </p:nvGrpSpPr>
        <p:grpSpPr>
          <a:xfrm rot="0">
            <a:off x="1090984" y="2395023"/>
            <a:ext cx="4887287" cy="2141944"/>
            <a:chOff x="0" y="0"/>
            <a:chExt cx="6516383" cy="2855925"/>
          </a:xfrm>
        </p:grpSpPr>
        <p:sp>
          <p:nvSpPr>
            <p:cNvPr name="Freeform 7" id="7"/>
            <p:cNvSpPr/>
            <p:nvPr/>
          </p:nvSpPr>
          <p:spPr>
            <a:xfrm flipH="false" flipV="false" rot="0">
              <a:off x="0" y="0"/>
              <a:ext cx="6516370" cy="2855976"/>
            </a:xfrm>
            <a:custGeom>
              <a:avLst/>
              <a:gdLst/>
              <a:ahLst/>
              <a:cxnLst/>
              <a:rect r="r" b="b" t="t" l="l"/>
              <a:pathLst>
                <a:path h="2855976" w="6516370">
                  <a:moveTo>
                    <a:pt x="0" y="475996"/>
                  </a:moveTo>
                  <a:cubicBezTo>
                    <a:pt x="0" y="213106"/>
                    <a:pt x="213106" y="0"/>
                    <a:pt x="475996" y="0"/>
                  </a:cubicBezTo>
                  <a:lnTo>
                    <a:pt x="6040374" y="0"/>
                  </a:lnTo>
                  <a:cubicBezTo>
                    <a:pt x="6303264" y="0"/>
                    <a:pt x="6516370" y="213106"/>
                    <a:pt x="6516370" y="475996"/>
                  </a:cubicBezTo>
                  <a:lnTo>
                    <a:pt x="6516370" y="2379980"/>
                  </a:lnTo>
                  <a:cubicBezTo>
                    <a:pt x="6516370" y="2642870"/>
                    <a:pt x="6303264" y="2855976"/>
                    <a:pt x="6040374" y="2855976"/>
                  </a:cubicBezTo>
                  <a:lnTo>
                    <a:pt x="475996" y="2855976"/>
                  </a:lnTo>
                  <a:cubicBezTo>
                    <a:pt x="213106" y="2855976"/>
                    <a:pt x="0" y="2642870"/>
                    <a:pt x="0" y="2379980"/>
                  </a:cubicBezTo>
                  <a:close/>
                </a:path>
              </a:pathLst>
            </a:custGeom>
            <a:solidFill>
              <a:srgbClr val="2B2C30"/>
            </a:solidFill>
            <a:ln w="14299" cap="sq">
              <a:solidFill>
                <a:srgbClr val="D2D8DE"/>
              </a:solidFill>
              <a:prstDash val="solid"/>
              <a:miter/>
            </a:ln>
          </p:spPr>
        </p:sp>
      </p:grpSp>
      <p:grpSp>
        <p:nvGrpSpPr>
          <p:cNvPr name="Group 8" id="8"/>
          <p:cNvGrpSpPr/>
          <p:nvPr/>
        </p:nvGrpSpPr>
        <p:grpSpPr>
          <a:xfrm rot="0">
            <a:off x="1098137" y="2402176"/>
            <a:ext cx="96088" cy="2127647"/>
            <a:chOff x="0" y="0"/>
            <a:chExt cx="128118" cy="2836862"/>
          </a:xfrm>
        </p:grpSpPr>
        <p:sp>
          <p:nvSpPr>
            <p:cNvPr name="Freeform 9" id="9"/>
            <p:cNvSpPr/>
            <p:nvPr/>
          </p:nvSpPr>
          <p:spPr>
            <a:xfrm flipH="false" flipV="false" rot="0">
              <a:off x="0" y="0"/>
              <a:ext cx="128143" cy="2836799"/>
            </a:xfrm>
            <a:custGeom>
              <a:avLst/>
              <a:gdLst/>
              <a:ahLst/>
              <a:cxnLst/>
              <a:rect r="r" b="b" t="t" l="l"/>
              <a:pathLst>
                <a:path h="2836799" w="128143">
                  <a:moveTo>
                    <a:pt x="0" y="0"/>
                  </a:moveTo>
                  <a:lnTo>
                    <a:pt x="128143" y="0"/>
                  </a:lnTo>
                  <a:lnTo>
                    <a:pt x="128143" y="2836799"/>
                  </a:lnTo>
                  <a:lnTo>
                    <a:pt x="0" y="2836799"/>
                  </a:lnTo>
                  <a:close/>
                </a:path>
              </a:pathLst>
            </a:custGeom>
            <a:solidFill>
              <a:srgbClr val="EFEEE7"/>
            </a:solidFill>
          </p:spPr>
        </p:sp>
      </p:grpSp>
      <p:sp>
        <p:nvSpPr>
          <p:cNvPr name="TextBox 10" id="10"/>
          <p:cNvSpPr txBox="true"/>
          <p:nvPr/>
        </p:nvSpPr>
        <p:spPr>
          <a:xfrm rot="0">
            <a:off x="1491567" y="2685450"/>
            <a:ext cx="1774478" cy="504825"/>
          </a:xfrm>
          <a:prstGeom prst="rect">
            <a:avLst/>
          </a:prstGeom>
        </p:spPr>
        <p:txBody>
          <a:bodyPr anchor="t" rtlCol="false" tIns="0" lIns="0" bIns="0" rIns="0">
            <a:spAutoFit/>
          </a:bodyPr>
          <a:lstStyle/>
          <a:p>
            <a:pPr algn="l">
              <a:lnSpc>
                <a:spcPts val="3963"/>
              </a:lnSpc>
            </a:pPr>
            <a:r>
              <a:rPr lang="en-US" b="true" sz="3302" spc="16">
                <a:solidFill>
                  <a:srgbClr val="EFEEE7"/>
                </a:solidFill>
                <a:latin typeface="Public Sans Bold"/>
                <a:ea typeface="Public Sans Bold"/>
                <a:cs typeface="Public Sans Bold"/>
                <a:sym typeface="Public Sans Bold"/>
              </a:rPr>
              <a:t>€35,000</a:t>
            </a:r>
          </a:p>
        </p:txBody>
      </p:sp>
      <p:sp>
        <p:nvSpPr>
          <p:cNvPr name="TextBox 11" id="11"/>
          <p:cNvSpPr txBox="true"/>
          <p:nvPr/>
        </p:nvSpPr>
        <p:spPr>
          <a:xfrm rot="0">
            <a:off x="1491567" y="3436220"/>
            <a:ext cx="4168492" cy="533400"/>
          </a:xfrm>
          <a:prstGeom prst="rect">
            <a:avLst/>
          </a:prstGeom>
        </p:spPr>
        <p:txBody>
          <a:bodyPr anchor="t" rtlCol="false" tIns="0" lIns="0" bIns="0" rIns="0">
            <a:spAutoFit/>
          </a:bodyPr>
          <a:lstStyle/>
          <a:p>
            <a:pPr algn="l">
              <a:lnSpc>
                <a:spcPts val="2161"/>
              </a:lnSpc>
            </a:pPr>
            <a:r>
              <a:rPr lang="en-US" sz="1801">
                <a:solidFill>
                  <a:srgbClr val="EFEEE7"/>
                </a:solidFill>
                <a:latin typeface="Public Sans"/>
                <a:ea typeface="Public Sans"/>
                <a:cs typeface="Public Sans"/>
                <a:sym typeface="Public Sans"/>
              </a:rPr>
              <a:t>Initial investment</a:t>
            </a:r>
          </a:p>
          <a:p>
            <a:pPr algn="l">
              <a:lnSpc>
                <a:spcPts val="2161"/>
              </a:lnSpc>
            </a:pPr>
            <a:r>
              <a:rPr lang="en-US" sz="1801">
                <a:solidFill>
                  <a:srgbClr val="EFEEE7"/>
                </a:solidFill>
                <a:latin typeface="Public Sans"/>
                <a:ea typeface="Public Sans"/>
                <a:cs typeface="Public Sans"/>
                <a:sym typeface="Public Sans"/>
              </a:rPr>
              <a:t>Planning assumption</a:t>
            </a:r>
          </a:p>
        </p:txBody>
      </p:sp>
      <p:grpSp>
        <p:nvGrpSpPr>
          <p:cNvPr name="Group 12" id="12"/>
          <p:cNvGrpSpPr/>
          <p:nvPr/>
        </p:nvGrpSpPr>
        <p:grpSpPr>
          <a:xfrm rot="0">
            <a:off x="6787582" y="2395023"/>
            <a:ext cx="4887287" cy="2141944"/>
            <a:chOff x="0" y="0"/>
            <a:chExt cx="6516383" cy="2855925"/>
          </a:xfrm>
        </p:grpSpPr>
        <p:sp>
          <p:nvSpPr>
            <p:cNvPr name="Freeform 13" id="13"/>
            <p:cNvSpPr/>
            <p:nvPr/>
          </p:nvSpPr>
          <p:spPr>
            <a:xfrm flipH="false" flipV="false" rot="0">
              <a:off x="0" y="0"/>
              <a:ext cx="6516370" cy="2855976"/>
            </a:xfrm>
            <a:custGeom>
              <a:avLst/>
              <a:gdLst/>
              <a:ahLst/>
              <a:cxnLst/>
              <a:rect r="r" b="b" t="t" l="l"/>
              <a:pathLst>
                <a:path h="2855976" w="6516370">
                  <a:moveTo>
                    <a:pt x="0" y="475996"/>
                  </a:moveTo>
                  <a:cubicBezTo>
                    <a:pt x="0" y="213106"/>
                    <a:pt x="213106" y="0"/>
                    <a:pt x="475996" y="0"/>
                  </a:cubicBezTo>
                  <a:lnTo>
                    <a:pt x="6040374" y="0"/>
                  </a:lnTo>
                  <a:cubicBezTo>
                    <a:pt x="6303264" y="0"/>
                    <a:pt x="6516370" y="213106"/>
                    <a:pt x="6516370" y="475996"/>
                  </a:cubicBezTo>
                  <a:lnTo>
                    <a:pt x="6516370" y="2379980"/>
                  </a:lnTo>
                  <a:cubicBezTo>
                    <a:pt x="6516370" y="2642870"/>
                    <a:pt x="6303264" y="2855976"/>
                    <a:pt x="6040374" y="2855976"/>
                  </a:cubicBezTo>
                  <a:lnTo>
                    <a:pt x="475996" y="2855976"/>
                  </a:lnTo>
                  <a:cubicBezTo>
                    <a:pt x="213106" y="2855976"/>
                    <a:pt x="0" y="2642870"/>
                    <a:pt x="0" y="2379980"/>
                  </a:cubicBezTo>
                  <a:close/>
                </a:path>
              </a:pathLst>
            </a:custGeom>
            <a:solidFill>
              <a:srgbClr val="2B2C30"/>
            </a:solidFill>
            <a:ln w="14299" cap="sq">
              <a:solidFill>
                <a:srgbClr val="D2D8DE"/>
              </a:solidFill>
              <a:prstDash val="solid"/>
              <a:miter/>
            </a:ln>
          </p:spPr>
        </p:sp>
      </p:grpSp>
      <p:grpSp>
        <p:nvGrpSpPr>
          <p:cNvPr name="Group 14" id="14"/>
          <p:cNvGrpSpPr/>
          <p:nvPr/>
        </p:nvGrpSpPr>
        <p:grpSpPr>
          <a:xfrm rot="0">
            <a:off x="6794725" y="2402176"/>
            <a:ext cx="96088" cy="2127647"/>
            <a:chOff x="0" y="0"/>
            <a:chExt cx="128118" cy="2836862"/>
          </a:xfrm>
        </p:grpSpPr>
        <p:sp>
          <p:nvSpPr>
            <p:cNvPr name="Freeform 15" id="15"/>
            <p:cNvSpPr/>
            <p:nvPr/>
          </p:nvSpPr>
          <p:spPr>
            <a:xfrm flipH="false" flipV="false" rot="0">
              <a:off x="0" y="0"/>
              <a:ext cx="128143" cy="2836799"/>
            </a:xfrm>
            <a:custGeom>
              <a:avLst/>
              <a:gdLst/>
              <a:ahLst/>
              <a:cxnLst/>
              <a:rect r="r" b="b" t="t" l="l"/>
              <a:pathLst>
                <a:path h="2836799" w="128143">
                  <a:moveTo>
                    <a:pt x="0" y="0"/>
                  </a:moveTo>
                  <a:lnTo>
                    <a:pt x="128143" y="0"/>
                  </a:lnTo>
                  <a:lnTo>
                    <a:pt x="128143" y="2836799"/>
                  </a:lnTo>
                  <a:lnTo>
                    <a:pt x="0" y="2836799"/>
                  </a:lnTo>
                  <a:close/>
                </a:path>
              </a:pathLst>
            </a:custGeom>
            <a:solidFill>
              <a:srgbClr val="EFEEE7"/>
            </a:solidFill>
          </p:spPr>
        </p:sp>
      </p:grpSp>
      <p:sp>
        <p:nvSpPr>
          <p:cNvPr name="TextBox 16" id="16"/>
          <p:cNvSpPr txBox="true"/>
          <p:nvPr/>
        </p:nvSpPr>
        <p:spPr>
          <a:xfrm rot="0">
            <a:off x="7188156" y="2685450"/>
            <a:ext cx="1485602" cy="504825"/>
          </a:xfrm>
          <a:prstGeom prst="rect">
            <a:avLst/>
          </a:prstGeom>
        </p:spPr>
        <p:txBody>
          <a:bodyPr anchor="t" rtlCol="false" tIns="0" lIns="0" bIns="0" rIns="0">
            <a:spAutoFit/>
          </a:bodyPr>
          <a:lstStyle/>
          <a:p>
            <a:pPr algn="l">
              <a:lnSpc>
                <a:spcPts val="3963"/>
              </a:lnSpc>
            </a:pPr>
            <a:r>
              <a:rPr lang="en-US" b="true" sz="3302" spc="16">
                <a:solidFill>
                  <a:srgbClr val="EFEEE7"/>
                </a:solidFill>
                <a:latin typeface="Public Sans Bold"/>
                <a:ea typeface="Public Sans Bold"/>
                <a:cs typeface="Public Sans Bold"/>
                <a:sym typeface="Public Sans Bold"/>
              </a:rPr>
              <a:t>€4,000</a:t>
            </a:r>
          </a:p>
        </p:txBody>
      </p:sp>
      <p:sp>
        <p:nvSpPr>
          <p:cNvPr name="TextBox 17" id="17"/>
          <p:cNvSpPr txBox="true"/>
          <p:nvPr/>
        </p:nvSpPr>
        <p:spPr>
          <a:xfrm rot="0">
            <a:off x="7188156" y="3436220"/>
            <a:ext cx="4168492" cy="533400"/>
          </a:xfrm>
          <a:prstGeom prst="rect">
            <a:avLst/>
          </a:prstGeom>
        </p:spPr>
        <p:txBody>
          <a:bodyPr anchor="t" rtlCol="false" tIns="0" lIns="0" bIns="0" rIns="0">
            <a:spAutoFit/>
          </a:bodyPr>
          <a:lstStyle/>
          <a:p>
            <a:pPr algn="l">
              <a:lnSpc>
                <a:spcPts val="2161"/>
              </a:lnSpc>
            </a:pPr>
            <a:r>
              <a:rPr lang="en-US" sz="1801">
                <a:solidFill>
                  <a:srgbClr val="EFEEE7"/>
                </a:solidFill>
                <a:latin typeface="Public Sans"/>
                <a:ea typeface="Public Sans"/>
                <a:cs typeface="Public Sans"/>
                <a:sym typeface="Public Sans"/>
              </a:rPr>
              <a:t>Annual operating cost</a:t>
            </a:r>
          </a:p>
          <a:p>
            <a:pPr algn="l">
              <a:lnSpc>
                <a:spcPts val="2161"/>
              </a:lnSpc>
            </a:pPr>
            <a:r>
              <a:rPr lang="en-US" sz="1801">
                <a:solidFill>
                  <a:srgbClr val="EFEEE7"/>
                </a:solidFill>
                <a:latin typeface="Public Sans"/>
                <a:ea typeface="Public Sans"/>
                <a:cs typeface="Public Sans"/>
                <a:sym typeface="Public Sans"/>
              </a:rPr>
              <a:t>Estimated</a:t>
            </a:r>
          </a:p>
        </p:txBody>
      </p:sp>
      <p:grpSp>
        <p:nvGrpSpPr>
          <p:cNvPr name="Group 18" id="18"/>
          <p:cNvGrpSpPr/>
          <p:nvPr/>
        </p:nvGrpSpPr>
        <p:grpSpPr>
          <a:xfrm rot="0">
            <a:off x="12484170" y="2395023"/>
            <a:ext cx="4887287" cy="2141944"/>
            <a:chOff x="0" y="0"/>
            <a:chExt cx="6516383" cy="2855925"/>
          </a:xfrm>
        </p:grpSpPr>
        <p:sp>
          <p:nvSpPr>
            <p:cNvPr name="Freeform 19" id="19"/>
            <p:cNvSpPr/>
            <p:nvPr/>
          </p:nvSpPr>
          <p:spPr>
            <a:xfrm flipH="false" flipV="false" rot="0">
              <a:off x="0" y="0"/>
              <a:ext cx="6516370" cy="2855976"/>
            </a:xfrm>
            <a:custGeom>
              <a:avLst/>
              <a:gdLst/>
              <a:ahLst/>
              <a:cxnLst/>
              <a:rect r="r" b="b" t="t" l="l"/>
              <a:pathLst>
                <a:path h="2855976" w="6516370">
                  <a:moveTo>
                    <a:pt x="0" y="475996"/>
                  </a:moveTo>
                  <a:cubicBezTo>
                    <a:pt x="0" y="213106"/>
                    <a:pt x="213106" y="0"/>
                    <a:pt x="475996" y="0"/>
                  </a:cubicBezTo>
                  <a:lnTo>
                    <a:pt x="6040374" y="0"/>
                  </a:lnTo>
                  <a:cubicBezTo>
                    <a:pt x="6303264" y="0"/>
                    <a:pt x="6516370" y="213106"/>
                    <a:pt x="6516370" y="475996"/>
                  </a:cubicBezTo>
                  <a:lnTo>
                    <a:pt x="6516370" y="2379980"/>
                  </a:lnTo>
                  <a:cubicBezTo>
                    <a:pt x="6516370" y="2642870"/>
                    <a:pt x="6303264" y="2855976"/>
                    <a:pt x="6040374" y="2855976"/>
                  </a:cubicBezTo>
                  <a:lnTo>
                    <a:pt x="475996" y="2855976"/>
                  </a:lnTo>
                  <a:cubicBezTo>
                    <a:pt x="213106" y="2855976"/>
                    <a:pt x="0" y="2642870"/>
                    <a:pt x="0" y="2379980"/>
                  </a:cubicBezTo>
                  <a:close/>
                </a:path>
              </a:pathLst>
            </a:custGeom>
            <a:solidFill>
              <a:srgbClr val="2B2C30"/>
            </a:solidFill>
            <a:ln w="14299" cap="sq">
              <a:solidFill>
                <a:srgbClr val="D2D8DE"/>
              </a:solidFill>
              <a:prstDash val="solid"/>
              <a:miter/>
            </a:ln>
          </p:spPr>
        </p:sp>
      </p:grpSp>
      <p:grpSp>
        <p:nvGrpSpPr>
          <p:cNvPr name="Group 20" id="20"/>
          <p:cNvGrpSpPr/>
          <p:nvPr/>
        </p:nvGrpSpPr>
        <p:grpSpPr>
          <a:xfrm rot="0">
            <a:off x="12491323" y="2402176"/>
            <a:ext cx="96088" cy="2127647"/>
            <a:chOff x="0" y="0"/>
            <a:chExt cx="128118" cy="2836862"/>
          </a:xfrm>
        </p:grpSpPr>
        <p:sp>
          <p:nvSpPr>
            <p:cNvPr name="Freeform 21" id="21"/>
            <p:cNvSpPr/>
            <p:nvPr/>
          </p:nvSpPr>
          <p:spPr>
            <a:xfrm flipH="false" flipV="false" rot="0">
              <a:off x="0" y="0"/>
              <a:ext cx="128143" cy="2836799"/>
            </a:xfrm>
            <a:custGeom>
              <a:avLst/>
              <a:gdLst/>
              <a:ahLst/>
              <a:cxnLst/>
              <a:rect r="r" b="b" t="t" l="l"/>
              <a:pathLst>
                <a:path h="2836799" w="128143">
                  <a:moveTo>
                    <a:pt x="0" y="0"/>
                  </a:moveTo>
                  <a:lnTo>
                    <a:pt x="128143" y="0"/>
                  </a:lnTo>
                  <a:lnTo>
                    <a:pt x="128143" y="2836799"/>
                  </a:lnTo>
                  <a:lnTo>
                    <a:pt x="0" y="2836799"/>
                  </a:lnTo>
                  <a:close/>
                </a:path>
              </a:pathLst>
            </a:custGeom>
            <a:solidFill>
              <a:srgbClr val="EFEEE7"/>
            </a:solidFill>
          </p:spPr>
        </p:sp>
      </p:grpSp>
      <p:sp>
        <p:nvSpPr>
          <p:cNvPr name="TextBox 22" id="22"/>
          <p:cNvSpPr txBox="true"/>
          <p:nvPr/>
        </p:nvSpPr>
        <p:spPr>
          <a:xfrm rot="0">
            <a:off x="12884744" y="2685450"/>
            <a:ext cx="1646634" cy="504825"/>
          </a:xfrm>
          <a:prstGeom prst="rect">
            <a:avLst/>
          </a:prstGeom>
        </p:spPr>
        <p:txBody>
          <a:bodyPr anchor="t" rtlCol="false" tIns="0" lIns="0" bIns="0" rIns="0">
            <a:spAutoFit/>
          </a:bodyPr>
          <a:lstStyle/>
          <a:p>
            <a:pPr algn="l">
              <a:lnSpc>
                <a:spcPts val="3963"/>
              </a:lnSpc>
            </a:pPr>
            <a:r>
              <a:rPr lang="en-US" b="true" sz="3302" spc="16">
                <a:solidFill>
                  <a:srgbClr val="EFEEE7"/>
                </a:solidFill>
                <a:latin typeface="Public Sans Bold"/>
                <a:ea typeface="Public Sans Bold"/>
                <a:cs typeface="Public Sans Bold"/>
                <a:sym typeface="Public Sans Bold"/>
              </a:rPr>
              <a:t>€18,750</a:t>
            </a:r>
          </a:p>
        </p:txBody>
      </p:sp>
      <p:sp>
        <p:nvSpPr>
          <p:cNvPr name="TextBox 23" id="23"/>
          <p:cNvSpPr txBox="true"/>
          <p:nvPr/>
        </p:nvSpPr>
        <p:spPr>
          <a:xfrm rot="0">
            <a:off x="12884744" y="3436220"/>
            <a:ext cx="4168492" cy="533400"/>
          </a:xfrm>
          <a:prstGeom prst="rect">
            <a:avLst/>
          </a:prstGeom>
        </p:spPr>
        <p:txBody>
          <a:bodyPr anchor="t" rtlCol="false" tIns="0" lIns="0" bIns="0" rIns="0">
            <a:spAutoFit/>
          </a:bodyPr>
          <a:lstStyle/>
          <a:p>
            <a:pPr algn="l">
              <a:lnSpc>
                <a:spcPts val="2161"/>
              </a:lnSpc>
            </a:pPr>
            <a:r>
              <a:rPr lang="en-US" sz="1801">
                <a:solidFill>
                  <a:srgbClr val="EFEEE7"/>
                </a:solidFill>
                <a:latin typeface="Public Sans"/>
                <a:ea typeface="Public Sans"/>
                <a:cs typeface="Public Sans"/>
                <a:sym typeface="Public Sans"/>
              </a:rPr>
              <a:t>Direct annual benefit</a:t>
            </a:r>
          </a:p>
          <a:p>
            <a:pPr algn="l">
              <a:lnSpc>
                <a:spcPts val="2161"/>
              </a:lnSpc>
            </a:pPr>
            <a:r>
              <a:rPr lang="en-US" sz="1801">
                <a:solidFill>
                  <a:srgbClr val="EFEEE7"/>
                </a:solidFill>
                <a:latin typeface="Public Sans"/>
                <a:ea typeface="Public Sans"/>
                <a:cs typeface="Public Sans"/>
                <a:sym typeface="Public Sans"/>
              </a:rPr>
              <a:t>15 avoided cases × €1,250</a:t>
            </a:r>
          </a:p>
        </p:txBody>
      </p:sp>
      <p:sp>
        <p:nvSpPr>
          <p:cNvPr name="TextBox 24" id="24"/>
          <p:cNvSpPr txBox="true"/>
          <p:nvPr/>
        </p:nvSpPr>
        <p:spPr>
          <a:xfrm rot="0">
            <a:off x="8079728" y="5115087"/>
            <a:ext cx="2234357" cy="390525"/>
          </a:xfrm>
          <a:prstGeom prst="rect">
            <a:avLst/>
          </a:prstGeom>
        </p:spPr>
        <p:txBody>
          <a:bodyPr anchor="t" rtlCol="false" tIns="0" lIns="0" bIns="0" rIns="0">
            <a:spAutoFit/>
          </a:bodyPr>
          <a:lstStyle/>
          <a:p>
            <a:pPr algn="ctr">
              <a:lnSpc>
                <a:spcPts val="3062"/>
              </a:lnSpc>
            </a:pPr>
            <a:r>
              <a:rPr lang="en-US" b="true" sz="2551" spc="12">
                <a:solidFill>
                  <a:srgbClr val="2B2C30"/>
                </a:solidFill>
                <a:latin typeface="Public Sans Bold"/>
                <a:ea typeface="Public Sans Bold"/>
                <a:cs typeface="Public Sans Bold"/>
                <a:sym typeface="Public Sans Bold"/>
              </a:rPr>
              <a:t>ROI OUTLOOK</a:t>
            </a:r>
          </a:p>
        </p:txBody>
      </p:sp>
      <p:grpSp>
        <p:nvGrpSpPr>
          <p:cNvPr name="Group 25" id="25"/>
          <p:cNvGrpSpPr/>
          <p:nvPr/>
        </p:nvGrpSpPr>
        <p:grpSpPr>
          <a:xfrm rot="0">
            <a:off x="2257758" y="5689444"/>
            <a:ext cx="6603130" cy="2141944"/>
            <a:chOff x="0" y="0"/>
            <a:chExt cx="8804173" cy="2855925"/>
          </a:xfrm>
        </p:grpSpPr>
        <p:sp>
          <p:nvSpPr>
            <p:cNvPr name="Freeform 26" id="26"/>
            <p:cNvSpPr/>
            <p:nvPr/>
          </p:nvSpPr>
          <p:spPr>
            <a:xfrm flipH="false" flipV="false" rot="0">
              <a:off x="0" y="0"/>
              <a:ext cx="8804148" cy="2855976"/>
            </a:xfrm>
            <a:custGeom>
              <a:avLst/>
              <a:gdLst/>
              <a:ahLst/>
              <a:cxnLst/>
              <a:rect r="r" b="b" t="t" l="l"/>
              <a:pathLst>
                <a:path h="2855976" w="8804148">
                  <a:moveTo>
                    <a:pt x="0" y="475996"/>
                  </a:moveTo>
                  <a:cubicBezTo>
                    <a:pt x="0" y="213106"/>
                    <a:pt x="213106" y="0"/>
                    <a:pt x="475996" y="0"/>
                  </a:cubicBezTo>
                  <a:lnTo>
                    <a:pt x="8328152" y="0"/>
                  </a:lnTo>
                  <a:cubicBezTo>
                    <a:pt x="8591042" y="0"/>
                    <a:pt x="8804148" y="213106"/>
                    <a:pt x="8804148" y="475996"/>
                  </a:cubicBezTo>
                  <a:lnTo>
                    <a:pt x="8804148" y="2379980"/>
                  </a:lnTo>
                  <a:cubicBezTo>
                    <a:pt x="8804148" y="2642870"/>
                    <a:pt x="8591042" y="2855976"/>
                    <a:pt x="8328152" y="2855976"/>
                  </a:cubicBezTo>
                  <a:lnTo>
                    <a:pt x="475996" y="2855976"/>
                  </a:lnTo>
                  <a:cubicBezTo>
                    <a:pt x="213106" y="2855976"/>
                    <a:pt x="0" y="2642870"/>
                    <a:pt x="0" y="2379980"/>
                  </a:cubicBezTo>
                  <a:close/>
                </a:path>
              </a:pathLst>
            </a:custGeom>
            <a:solidFill>
              <a:srgbClr val="2B2C30"/>
            </a:solidFill>
            <a:ln w="14299" cap="sq">
              <a:solidFill>
                <a:srgbClr val="D2D8DE"/>
              </a:solidFill>
              <a:prstDash val="solid"/>
              <a:miter/>
            </a:ln>
          </p:spPr>
        </p:sp>
      </p:grpSp>
      <p:grpSp>
        <p:nvGrpSpPr>
          <p:cNvPr name="Group 27" id="27"/>
          <p:cNvGrpSpPr/>
          <p:nvPr/>
        </p:nvGrpSpPr>
        <p:grpSpPr>
          <a:xfrm rot="0">
            <a:off x="2264912" y="5696588"/>
            <a:ext cx="96088" cy="2127647"/>
            <a:chOff x="0" y="0"/>
            <a:chExt cx="128118" cy="2836862"/>
          </a:xfrm>
        </p:grpSpPr>
        <p:sp>
          <p:nvSpPr>
            <p:cNvPr name="Freeform 28" id="28"/>
            <p:cNvSpPr/>
            <p:nvPr/>
          </p:nvSpPr>
          <p:spPr>
            <a:xfrm flipH="false" flipV="false" rot="0">
              <a:off x="0" y="0"/>
              <a:ext cx="128143" cy="2836799"/>
            </a:xfrm>
            <a:custGeom>
              <a:avLst/>
              <a:gdLst/>
              <a:ahLst/>
              <a:cxnLst/>
              <a:rect r="r" b="b" t="t" l="l"/>
              <a:pathLst>
                <a:path h="2836799" w="128143">
                  <a:moveTo>
                    <a:pt x="0" y="0"/>
                  </a:moveTo>
                  <a:lnTo>
                    <a:pt x="128143" y="0"/>
                  </a:lnTo>
                  <a:lnTo>
                    <a:pt x="128143" y="2836799"/>
                  </a:lnTo>
                  <a:lnTo>
                    <a:pt x="0" y="2836799"/>
                  </a:lnTo>
                  <a:close/>
                </a:path>
              </a:pathLst>
            </a:custGeom>
            <a:solidFill>
              <a:srgbClr val="EFEEE7"/>
            </a:solidFill>
          </p:spPr>
        </p:sp>
      </p:grpSp>
      <p:sp>
        <p:nvSpPr>
          <p:cNvPr name="TextBox 29" id="29"/>
          <p:cNvSpPr txBox="true"/>
          <p:nvPr/>
        </p:nvSpPr>
        <p:spPr>
          <a:xfrm rot="0">
            <a:off x="2658342" y="5979871"/>
            <a:ext cx="5925512" cy="371475"/>
          </a:xfrm>
          <a:prstGeom prst="rect">
            <a:avLst/>
          </a:prstGeom>
        </p:spPr>
        <p:txBody>
          <a:bodyPr anchor="t" rtlCol="false" tIns="0" lIns="0" bIns="0" rIns="0">
            <a:spAutoFit/>
          </a:bodyPr>
          <a:lstStyle/>
          <a:p>
            <a:pPr algn="l">
              <a:lnSpc>
                <a:spcPts val="2882"/>
              </a:lnSpc>
            </a:pPr>
            <a:r>
              <a:rPr lang="en-US" b="true" sz="2401" spc="12">
                <a:solidFill>
                  <a:srgbClr val="EFEEE7"/>
                </a:solidFill>
                <a:latin typeface="Public Sans Bold"/>
                <a:ea typeface="Public Sans Bold"/>
                <a:cs typeface="Public Sans Bold"/>
                <a:sym typeface="Public Sans Bold"/>
              </a:rPr>
              <a:t>12 MONTHS</a:t>
            </a:r>
          </a:p>
        </p:txBody>
      </p:sp>
      <p:sp>
        <p:nvSpPr>
          <p:cNvPr name="TextBox 30" id="30"/>
          <p:cNvSpPr txBox="true"/>
          <p:nvPr/>
        </p:nvSpPr>
        <p:spPr>
          <a:xfrm rot="0">
            <a:off x="2658342" y="6730632"/>
            <a:ext cx="5884335" cy="828675"/>
          </a:xfrm>
          <a:prstGeom prst="rect">
            <a:avLst/>
          </a:prstGeom>
        </p:spPr>
        <p:txBody>
          <a:bodyPr anchor="t" rtlCol="false" tIns="0" lIns="0" bIns="0" rIns="0">
            <a:spAutoFit/>
          </a:bodyPr>
          <a:lstStyle/>
          <a:p>
            <a:pPr algn="l">
              <a:lnSpc>
                <a:spcPts val="2199"/>
              </a:lnSpc>
            </a:pPr>
            <a:r>
              <a:rPr lang="en-US" sz="1833">
                <a:solidFill>
                  <a:srgbClr val="EFEEE7"/>
                </a:solidFill>
                <a:latin typeface="Public Sans"/>
                <a:ea typeface="Public Sans"/>
                <a:cs typeface="Public Sans"/>
                <a:sym typeface="Public Sans"/>
              </a:rPr>
              <a:t>Total cost: €39,000</a:t>
            </a:r>
          </a:p>
          <a:p>
            <a:pPr algn="l">
              <a:lnSpc>
                <a:spcPts val="2199"/>
              </a:lnSpc>
            </a:pPr>
            <a:r>
              <a:rPr lang="en-US" sz="1833">
                <a:solidFill>
                  <a:srgbClr val="EFEEE7"/>
                </a:solidFill>
                <a:latin typeface="Public Sans"/>
                <a:ea typeface="Public Sans"/>
                <a:cs typeface="Public Sans"/>
                <a:sym typeface="Public Sans"/>
              </a:rPr>
              <a:t>Direct benefit: €18,750</a:t>
            </a:r>
          </a:p>
          <a:p>
            <a:pPr algn="l">
              <a:lnSpc>
                <a:spcPts val="2199"/>
              </a:lnSpc>
            </a:pPr>
            <a:r>
              <a:rPr lang="en-US" sz="1833">
                <a:solidFill>
                  <a:srgbClr val="EFEEE7"/>
                </a:solidFill>
                <a:latin typeface="Public Sans"/>
                <a:ea typeface="Public Sans"/>
                <a:cs typeface="Public Sans"/>
                <a:sym typeface="Public Sans"/>
              </a:rPr>
              <a:t>−51.9% ROI</a:t>
            </a:r>
          </a:p>
        </p:txBody>
      </p:sp>
      <p:grpSp>
        <p:nvGrpSpPr>
          <p:cNvPr name="Group 31" id="31"/>
          <p:cNvGrpSpPr/>
          <p:nvPr/>
        </p:nvGrpSpPr>
        <p:grpSpPr>
          <a:xfrm rot="0">
            <a:off x="9395660" y="5689444"/>
            <a:ext cx="6603130" cy="2141944"/>
            <a:chOff x="0" y="0"/>
            <a:chExt cx="8804173" cy="2855925"/>
          </a:xfrm>
        </p:grpSpPr>
        <p:sp>
          <p:nvSpPr>
            <p:cNvPr name="Freeform 32" id="32"/>
            <p:cNvSpPr/>
            <p:nvPr/>
          </p:nvSpPr>
          <p:spPr>
            <a:xfrm flipH="false" flipV="false" rot="0">
              <a:off x="0" y="0"/>
              <a:ext cx="8804148" cy="2855976"/>
            </a:xfrm>
            <a:custGeom>
              <a:avLst/>
              <a:gdLst/>
              <a:ahLst/>
              <a:cxnLst/>
              <a:rect r="r" b="b" t="t" l="l"/>
              <a:pathLst>
                <a:path h="2855976" w="8804148">
                  <a:moveTo>
                    <a:pt x="0" y="475996"/>
                  </a:moveTo>
                  <a:cubicBezTo>
                    <a:pt x="0" y="213106"/>
                    <a:pt x="213106" y="0"/>
                    <a:pt x="475996" y="0"/>
                  </a:cubicBezTo>
                  <a:lnTo>
                    <a:pt x="8328152" y="0"/>
                  </a:lnTo>
                  <a:cubicBezTo>
                    <a:pt x="8591042" y="0"/>
                    <a:pt x="8804148" y="213106"/>
                    <a:pt x="8804148" y="475996"/>
                  </a:cubicBezTo>
                  <a:lnTo>
                    <a:pt x="8804148" y="2379980"/>
                  </a:lnTo>
                  <a:cubicBezTo>
                    <a:pt x="8804148" y="2642870"/>
                    <a:pt x="8591042" y="2855976"/>
                    <a:pt x="8328152" y="2855976"/>
                  </a:cubicBezTo>
                  <a:lnTo>
                    <a:pt x="475996" y="2855976"/>
                  </a:lnTo>
                  <a:cubicBezTo>
                    <a:pt x="213106" y="2855976"/>
                    <a:pt x="0" y="2642870"/>
                    <a:pt x="0" y="2379980"/>
                  </a:cubicBezTo>
                  <a:close/>
                </a:path>
              </a:pathLst>
            </a:custGeom>
            <a:solidFill>
              <a:srgbClr val="2B2C30"/>
            </a:solidFill>
            <a:ln w="14299" cap="sq">
              <a:solidFill>
                <a:srgbClr val="D2D8DE"/>
              </a:solidFill>
              <a:prstDash val="solid"/>
              <a:miter/>
            </a:ln>
          </p:spPr>
        </p:sp>
      </p:grpSp>
      <p:grpSp>
        <p:nvGrpSpPr>
          <p:cNvPr name="Group 33" id="33"/>
          <p:cNvGrpSpPr/>
          <p:nvPr/>
        </p:nvGrpSpPr>
        <p:grpSpPr>
          <a:xfrm rot="0">
            <a:off x="9402804" y="5696588"/>
            <a:ext cx="96088" cy="2127647"/>
            <a:chOff x="0" y="0"/>
            <a:chExt cx="128118" cy="2836862"/>
          </a:xfrm>
        </p:grpSpPr>
        <p:sp>
          <p:nvSpPr>
            <p:cNvPr name="Freeform 34" id="34"/>
            <p:cNvSpPr/>
            <p:nvPr/>
          </p:nvSpPr>
          <p:spPr>
            <a:xfrm flipH="false" flipV="false" rot="0">
              <a:off x="0" y="0"/>
              <a:ext cx="128143" cy="2836799"/>
            </a:xfrm>
            <a:custGeom>
              <a:avLst/>
              <a:gdLst/>
              <a:ahLst/>
              <a:cxnLst/>
              <a:rect r="r" b="b" t="t" l="l"/>
              <a:pathLst>
                <a:path h="2836799" w="128143">
                  <a:moveTo>
                    <a:pt x="0" y="0"/>
                  </a:moveTo>
                  <a:lnTo>
                    <a:pt x="128143" y="0"/>
                  </a:lnTo>
                  <a:lnTo>
                    <a:pt x="128143" y="2836799"/>
                  </a:lnTo>
                  <a:lnTo>
                    <a:pt x="0" y="2836799"/>
                  </a:lnTo>
                  <a:close/>
                </a:path>
              </a:pathLst>
            </a:custGeom>
            <a:solidFill>
              <a:srgbClr val="EFEEE7"/>
            </a:solidFill>
          </p:spPr>
        </p:sp>
      </p:grpSp>
      <p:sp>
        <p:nvSpPr>
          <p:cNvPr name="TextBox 35" id="35"/>
          <p:cNvSpPr txBox="true"/>
          <p:nvPr/>
        </p:nvSpPr>
        <p:spPr>
          <a:xfrm rot="0">
            <a:off x="9796234" y="5979871"/>
            <a:ext cx="5925512" cy="371475"/>
          </a:xfrm>
          <a:prstGeom prst="rect">
            <a:avLst/>
          </a:prstGeom>
        </p:spPr>
        <p:txBody>
          <a:bodyPr anchor="t" rtlCol="false" tIns="0" lIns="0" bIns="0" rIns="0">
            <a:spAutoFit/>
          </a:bodyPr>
          <a:lstStyle/>
          <a:p>
            <a:pPr algn="l">
              <a:lnSpc>
                <a:spcPts val="2882"/>
              </a:lnSpc>
            </a:pPr>
            <a:r>
              <a:rPr lang="en-US" b="true" sz="2401" spc="12">
                <a:solidFill>
                  <a:srgbClr val="EFEEE7"/>
                </a:solidFill>
                <a:latin typeface="Public Sans Bold"/>
                <a:ea typeface="Public Sans Bold"/>
                <a:cs typeface="Public Sans Bold"/>
                <a:sym typeface="Public Sans Bold"/>
              </a:rPr>
              <a:t>36 MONTHS</a:t>
            </a:r>
          </a:p>
        </p:txBody>
      </p:sp>
      <p:sp>
        <p:nvSpPr>
          <p:cNvPr name="TextBox 36" id="36"/>
          <p:cNvSpPr txBox="true"/>
          <p:nvPr/>
        </p:nvSpPr>
        <p:spPr>
          <a:xfrm rot="0">
            <a:off x="9796234" y="6730632"/>
            <a:ext cx="5884335" cy="828675"/>
          </a:xfrm>
          <a:prstGeom prst="rect">
            <a:avLst/>
          </a:prstGeom>
        </p:spPr>
        <p:txBody>
          <a:bodyPr anchor="t" rtlCol="false" tIns="0" lIns="0" bIns="0" rIns="0">
            <a:spAutoFit/>
          </a:bodyPr>
          <a:lstStyle/>
          <a:p>
            <a:pPr algn="l">
              <a:lnSpc>
                <a:spcPts val="2199"/>
              </a:lnSpc>
            </a:pPr>
            <a:r>
              <a:rPr lang="en-US" sz="1833">
                <a:solidFill>
                  <a:srgbClr val="EFEEE7"/>
                </a:solidFill>
                <a:latin typeface="Public Sans"/>
                <a:ea typeface="Public Sans"/>
                <a:cs typeface="Public Sans"/>
                <a:sym typeface="Public Sans"/>
              </a:rPr>
              <a:t>Total cost: €47,000</a:t>
            </a:r>
          </a:p>
          <a:p>
            <a:pPr algn="l">
              <a:lnSpc>
                <a:spcPts val="2199"/>
              </a:lnSpc>
            </a:pPr>
            <a:r>
              <a:rPr lang="en-US" sz="1833">
                <a:solidFill>
                  <a:srgbClr val="EFEEE7"/>
                </a:solidFill>
                <a:latin typeface="Public Sans"/>
                <a:ea typeface="Public Sans"/>
                <a:cs typeface="Public Sans"/>
                <a:sym typeface="Public Sans"/>
              </a:rPr>
              <a:t>Direct benefit: €56,250</a:t>
            </a:r>
          </a:p>
          <a:p>
            <a:pPr algn="l">
              <a:lnSpc>
                <a:spcPts val="2199"/>
              </a:lnSpc>
            </a:pPr>
            <a:r>
              <a:rPr lang="en-US" sz="1833">
                <a:solidFill>
                  <a:srgbClr val="EFEEE7"/>
                </a:solidFill>
                <a:latin typeface="Public Sans"/>
                <a:ea typeface="Public Sans"/>
                <a:cs typeface="Public Sans"/>
                <a:sym typeface="Public Sans"/>
              </a:rPr>
              <a:t>+19.7% ROI</a:t>
            </a:r>
          </a:p>
        </p:txBody>
      </p:sp>
      <p:sp>
        <p:nvSpPr>
          <p:cNvPr name="TextBox 37" id="37"/>
          <p:cNvSpPr txBox="true"/>
          <p:nvPr/>
        </p:nvSpPr>
        <p:spPr>
          <a:xfrm rot="0">
            <a:off x="1464116" y="8468601"/>
            <a:ext cx="15328316" cy="333375"/>
          </a:xfrm>
          <a:prstGeom prst="rect">
            <a:avLst/>
          </a:prstGeom>
        </p:spPr>
        <p:txBody>
          <a:bodyPr anchor="t" rtlCol="false" tIns="0" lIns="0" bIns="0" rIns="0">
            <a:spAutoFit/>
          </a:bodyPr>
          <a:lstStyle/>
          <a:p>
            <a:pPr algn="ctr">
              <a:lnSpc>
                <a:spcPts val="2521"/>
              </a:lnSpc>
            </a:pPr>
            <a:r>
              <a:rPr lang="en-US" sz="2101">
                <a:solidFill>
                  <a:srgbClr val="2B2C30"/>
                </a:solidFill>
                <a:latin typeface="Public Sans"/>
                <a:ea typeface="Public Sans"/>
                <a:cs typeface="Public Sans"/>
                <a:sym typeface="Public Sans"/>
              </a:rPr>
              <a:t>Break-even: ≈32 avoided problematic crew-change cases to recover first-year costs through direct cost avoidance alone.</a:t>
            </a:r>
          </a:p>
        </p:txBody>
      </p:sp>
      <p:sp>
        <p:nvSpPr>
          <p:cNvPr name="TextBox 38" id="38"/>
          <p:cNvSpPr txBox="true"/>
          <p:nvPr/>
        </p:nvSpPr>
        <p:spPr>
          <a:xfrm rot="0">
            <a:off x="1052312" y="9754714"/>
            <a:ext cx="2058442" cy="209550"/>
          </a:xfrm>
          <a:prstGeom prst="rect">
            <a:avLst/>
          </a:prstGeom>
        </p:spPr>
        <p:txBody>
          <a:bodyPr anchor="t" rtlCol="false" tIns="0" lIns="0" bIns="0" rIns="0">
            <a:spAutoFit/>
          </a:bodyPr>
          <a:lstStyle/>
          <a:p>
            <a:pPr algn="l">
              <a:lnSpc>
                <a:spcPts val="1621"/>
              </a:lnSpc>
            </a:pPr>
            <a:r>
              <a:rPr lang="en-US" sz="1351">
                <a:solidFill>
                  <a:srgbClr val="2B2C30"/>
                </a:solidFill>
                <a:latin typeface="Public Sans"/>
                <a:ea typeface="Public Sans"/>
                <a:cs typeface="Public Sans"/>
                <a:sym typeface="Public Sans"/>
              </a:rPr>
              <a:t>Crew Change Risk Copilot</a:t>
            </a:r>
          </a:p>
        </p:txBody>
      </p:sp>
      <p:sp>
        <p:nvSpPr>
          <p:cNvPr name="TextBox 39" id="39"/>
          <p:cNvSpPr txBox="true"/>
          <p:nvPr/>
        </p:nvSpPr>
        <p:spPr>
          <a:xfrm rot="0">
            <a:off x="17101089" y="9754714"/>
            <a:ext cx="103138" cy="209550"/>
          </a:xfrm>
          <a:prstGeom prst="rect">
            <a:avLst/>
          </a:prstGeom>
        </p:spPr>
        <p:txBody>
          <a:bodyPr anchor="t" rtlCol="false" tIns="0" lIns="0" bIns="0" rIns="0">
            <a:spAutoFit/>
          </a:bodyPr>
          <a:lstStyle/>
          <a:p>
            <a:pPr algn="r">
              <a:lnSpc>
                <a:spcPts val="1621"/>
              </a:lnSpc>
            </a:pPr>
            <a:r>
              <a:rPr lang="en-US" sz="1351">
                <a:solidFill>
                  <a:srgbClr val="2B2C30"/>
                </a:solidFill>
                <a:latin typeface="Public Sans"/>
                <a:ea typeface="Public Sans"/>
                <a:cs typeface="Public Sans"/>
                <a:sym typeface="Public Sans"/>
              </a:rPr>
              <a:t>7</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52312" y="653901"/>
            <a:ext cx="9046964" cy="647700"/>
          </a:xfrm>
          <a:prstGeom prst="rect">
            <a:avLst/>
          </a:prstGeom>
        </p:spPr>
        <p:txBody>
          <a:bodyPr anchor="t" rtlCol="false" tIns="0" lIns="0" bIns="0" rIns="0">
            <a:spAutoFit/>
          </a:bodyPr>
          <a:lstStyle/>
          <a:p>
            <a:pPr algn="l">
              <a:lnSpc>
                <a:spcPts val="5043"/>
              </a:lnSpc>
            </a:pPr>
            <a:r>
              <a:rPr lang="en-US" b="true" sz="4203" spc="954">
                <a:solidFill>
                  <a:srgbClr val="2B2C30"/>
                </a:solidFill>
                <a:latin typeface="Public Sans Bold"/>
                <a:ea typeface="Public Sans Bold"/>
                <a:cs typeface="Public Sans Bold"/>
                <a:sym typeface="Public Sans Bold"/>
              </a:rPr>
              <a:t>COMPLIANCE BY DESIGN</a:t>
            </a:r>
          </a:p>
        </p:txBody>
      </p:sp>
      <p:grpSp>
        <p:nvGrpSpPr>
          <p:cNvPr name="Group 3" id="3"/>
          <p:cNvGrpSpPr/>
          <p:nvPr/>
        </p:nvGrpSpPr>
        <p:grpSpPr>
          <a:xfrm rot="0">
            <a:off x="960872" y="1509941"/>
            <a:ext cx="1509941" cy="68637"/>
            <a:chOff x="0" y="0"/>
            <a:chExt cx="2013255" cy="91516"/>
          </a:xfrm>
        </p:grpSpPr>
        <p:sp>
          <p:nvSpPr>
            <p:cNvPr name="Freeform 4" id="4"/>
            <p:cNvSpPr/>
            <p:nvPr/>
          </p:nvSpPr>
          <p:spPr>
            <a:xfrm flipH="false" flipV="false" rot="0">
              <a:off x="0" y="0"/>
              <a:ext cx="2013204" cy="91567"/>
            </a:xfrm>
            <a:custGeom>
              <a:avLst/>
              <a:gdLst/>
              <a:ahLst/>
              <a:cxnLst/>
              <a:rect r="r" b="b" t="t" l="l"/>
              <a:pathLst>
                <a:path h="91567" w="2013204">
                  <a:moveTo>
                    <a:pt x="0" y="0"/>
                  </a:moveTo>
                  <a:lnTo>
                    <a:pt x="2013204" y="0"/>
                  </a:lnTo>
                  <a:lnTo>
                    <a:pt x="2013204" y="91567"/>
                  </a:lnTo>
                  <a:lnTo>
                    <a:pt x="0" y="91567"/>
                  </a:lnTo>
                  <a:close/>
                </a:path>
              </a:pathLst>
            </a:custGeom>
            <a:solidFill>
              <a:srgbClr val="2B2C30"/>
            </a:solidFill>
          </p:spPr>
        </p:sp>
      </p:grpSp>
      <p:sp>
        <p:nvSpPr>
          <p:cNvPr name="TextBox 5" id="5"/>
          <p:cNvSpPr txBox="true"/>
          <p:nvPr/>
        </p:nvSpPr>
        <p:spPr>
          <a:xfrm rot="0">
            <a:off x="1052312" y="1742513"/>
            <a:ext cx="16014659" cy="333375"/>
          </a:xfrm>
          <a:prstGeom prst="rect">
            <a:avLst/>
          </a:prstGeom>
        </p:spPr>
        <p:txBody>
          <a:bodyPr anchor="t" rtlCol="false" tIns="0" lIns="0" bIns="0" rIns="0">
            <a:spAutoFit/>
          </a:bodyPr>
          <a:lstStyle/>
          <a:p>
            <a:pPr algn="l">
              <a:lnSpc>
                <a:spcPts val="2521"/>
              </a:lnSpc>
            </a:pPr>
            <a:r>
              <a:rPr lang="en-US" sz="2101">
                <a:solidFill>
                  <a:srgbClr val="2B2C30"/>
                </a:solidFill>
                <a:latin typeface="Public Sans"/>
                <a:ea typeface="Public Sans"/>
                <a:cs typeface="Public Sans"/>
                <a:sym typeface="Public Sans"/>
              </a:rPr>
              <a:t>Human Control • Transparency • Data Protection</a:t>
            </a:r>
          </a:p>
        </p:txBody>
      </p:sp>
      <p:grpSp>
        <p:nvGrpSpPr>
          <p:cNvPr name="Group 6" id="6"/>
          <p:cNvGrpSpPr/>
          <p:nvPr/>
        </p:nvGrpSpPr>
        <p:grpSpPr>
          <a:xfrm rot="0">
            <a:off x="1090984" y="2395023"/>
            <a:ext cx="7907169" cy="4612748"/>
            <a:chOff x="0" y="0"/>
            <a:chExt cx="10542892" cy="6150331"/>
          </a:xfrm>
        </p:grpSpPr>
        <p:sp>
          <p:nvSpPr>
            <p:cNvPr name="Freeform 7" id="7"/>
            <p:cNvSpPr/>
            <p:nvPr/>
          </p:nvSpPr>
          <p:spPr>
            <a:xfrm flipH="false" flipV="false" rot="0">
              <a:off x="0" y="0"/>
              <a:ext cx="10542778" cy="6150229"/>
            </a:xfrm>
            <a:custGeom>
              <a:avLst/>
              <a:gdLst/>
              <a:ahLst/>
              <a:cxnLst/>
              <a:rect r="r" b="b" t="t" l="l"/>
              <a:pathLst>
                <a:path h="6150229" w="10542778">
                  <a:moveTo>
                    <a:pt x="0" y="1025017"/>
                  </a:moveTo>
                  <a:cubicBezTo>
                    <a:pt x="0" y="458978"/>
                    <a:pt x="458978" y="0"/>
                    <a:pt x="1025017" y="0"/>
                  </a:cubicBezTo>
                  <a:lnTo>
                    <a:pt x="9517761" y="0"/>
                  </a:lnTo>
                  <a:cubicBezTo>
                    <a:pt x="10083927" y="0"/>
                    <a:pt x="10542778" y="458978"/>
                    <a:pt x="10542778" y="1025017"/>
                  </a:cubicBezTo>
                  <a:lnTo>
                    <a:pt x="10542778" y="5125212"/>
                  </a:lnTo>
                  <a:cubicBezTo>
                    <a:pt x="10542778" y="5691378"/>
                    <a:pt x="10083800" y="6150229"/>
                    <a:pt x="9517761" y="6150229"/>
                  </a:cubicBezTo>
                  <a:lnTo>
                    <a:pt x="1025017" y="6150229"/>
                  </a:lnTo>
                  <a:cubicBezTo>
                    <a:pt x="458978" y="6150356"/>
                    <a:pt x="0" y="5691378"/>
                    <a:pt x="0" y="5125212"/>
                  </a:cubicBezTo>
                  <a:close/>
                </a:path>
              </a:pathLst>
            </a:custGeom>
            <a:solidFill>
              <a:srgbClr val="2B2C30"/>
            </a:solidFill>
            <a:ln w="14299" cap="sq">
              <a:solidFill>
                <a:srgbClr val="D2D8DE"/>
              </a:solidFill>
              <a:prstDash val="solid"/>
              <a:miter/>
            </a:ln>
          </p:spPr>
        </p:sp>
      </p:grpSp>
      <p:grpSp>
        <p:nvGrpSpPr>
          <p:cNvPr name="Group 8" id="8"/>
          <p:cNvGrpSpPr/>
          <p:nvPr/>
        </p:nvGrpSpPr>
        <p:grpSpPr>
          <a:xfrm rot="0">
            <a:off x="1098137" y="2402176"/>
            <a:ext cx="96088" cy="4598451"/>
            <a:chOff x="0" y="0"/>
            <a:chExt cx="128118" cy="6131268"/>
          </a:xfrm>
        </p:grpSpPr>
        <p:sp>
          <p:nvSpPr>
            <p:cNvPr name="Freeform 9" id="9"/>
            <p:cNvSpPr/>
            <p:nvPr/>
          </p:nvSpPr>
          <p:spPr>
            <a:xfrm flipH="false" flipV="false" rot="0">
              <a:off x="0" y="0"/>
              <a:ext cx="128143" cy="6131306"/>
            </a:xfrm>
            <a:custGeom>
              <a:avLst/>
              <a:gdLst/>
              <a:ahLst/>
              <a:cxnLst/>
              <a:rect r="r" b="b" t="t" l="l"/>
              <a:pathLst>
                <a:path h="6131306" w="128143">
                  <a:moveTo>
                    <a:pt x="0" y="0"/>
                  </a:moveTo>
                  <a:lnTo>
                    <a:pt x="128143" y="0"/>
                  </a:lnTo>
                  <a:lnTo>
                    <a:pt x="128143" y="6131306"/>
                  </a:lnTo>
                  <a:lnTo>
                    <a:pt x="0" y="6131306"/>
                  </a:lnTo>
                  <a:close/>
                </a:path>
              </a:pathLst>
            </a:custGeom>
            <a:solidFill>
              <a:srgbClr val="EFEEE7"/>
            </a:solidFill>
          </p:spPr>
        </p:sp>
      </p:grpSp>
      <p:sp>
        <p:nvSpPr>
          <p:cNvPr name="TextBox 10" id="10"/>
          <p:cNvSpPr txBox="true"/>
          <p:nvPr/>
        </p:nvSpPr>
        <p:spPr>
          <a:xfrm rot="0">
            <a:off x="1491567" y="2685450"/>
            <a:ext cx="7229551" cy="314325"/>
          </a:xfrm>
          <a:prstGeom prst="rect">
            <a:avLst/>
          </a:prstGeom>
        </p:spPr>
        <p:txBody>
          <a:bodyPr anchor="t" rtlCol="false" tIns="0" lIns="0" bIns="0" rIns="0">
            <a:spAutoFit/>
          </a:bodyPr>
          <a:lstStyle/>
          <a:p>
            <a:pPr algn="l">
              <a:lnSpc>
                <a:spcPts val="2473"/>
              </a:lnSpc>
            </a:pPr>
            <a:r>
              <a:rPr lang="en-US" b="true" sz="2061" spc="10">
                <a:solidFill>
                  <a:srgbClr val="EFEEE7"/>
                </a:solidFill>
                <a:latin typeface="Public Sans Bold"/>
                <a:ea typeface="Public Sans Bold"/>
                <a:cs typeface="Public Sans Bold"/>
                <a:sym typeface="Public Sans Bold"/>
              </a:rPr>
              <a:t>EU AI ACT — CURRENT ASSESSMENT: NON-HIGH-RISK</a:t>
            </a:r>
          </a:p>
        </p:txBody>
      </p:sp>
      <p:sp>
        <p:nvSpPr>
          <p:cNvPr name="TextBox 11" id="11"/>
          <p:cNvSpPr txBox="true"/>
          <p:nvPr/>
        </p:nvSpPr>
        <p:spPr>
          <a:xfrm rot="0">
            <a:off x="1491567" y="3426695"/>
            <a:ext cx="7188375" cy="2076450"/>
          </a:xfrm>
          <a:prstGeom prst="rect">
            <a:avLst/>
          </a:prstGeom>
        </p:spPr>
        <p:txBody>
          <a:bodyPr anchor="t" rtlCol="false" tIns="0" lIns="0" bIns="0" rIns="0">
            <a:spAutoFit/>
          </a:bodyPr>
          <a:lstStyle/>
          <a:p>
            <a:pPr algn="l">
              <a:lnSpc>
                <a:spcPts val="2341"/>
              </a:lnSpc>
            </a:pPr>
            <a:r>
              <a:rPr lang="en-US" sz="1951">
                <a:solidFill>
                  <a:srgbClr val="EFEEE7"/>
                </a:solidFill>
                <a:latin typeface="Public Sans"/>
                <a:ea typeface="Public Sans"/>
                <a:cs typeface="Public Sans"/>
                <a:sym typeface="Public Sans"/>
              </a:rPr>
              <a:t>• Supports operational prioritisation</a:t>
            </a:r>
          </a:p>
          <a:p>
            <a:pPr algn="l">
              <a:lnSpc>
                <a:spcPts val="2341"/>
              </a:lnSpc>
            </a:pPr>
            <a:r>
              <a:rPr lang="en-US" sz="1951">
                <a:solidFill>
                  <a:srgbClr val="EFEEE7"/>
                </a:solidFill>
                <a:latin typeface="Public Sans"/>
                <a:ea typeface="Public Sans"/>
                <a:cs typeface="Public Sans"/>
                <a:sym typeface="Public Sans"/>
              </a:rPr>
              <a:t>• Does not make employment decisions</a:t>
            </a:r>
          </a:p>
          <a:p>
            <a:pPr algn="l">
              <a:lnSpc>
                <a:spcPts val="2341"/>
              </a:lnSpc>
            </a:pPr>
            <a:r>
              <a:rPr lang="en-US" sz="1951">
                <a:solidFill>
                  <a:srgbClr val="EFEEE7"/>
                </a:solidFill>
                <a:latin typeface="Public Sans"/>
                <a:ea typeface="Public Sans"/>
                <a:cs typeface="Public Sans"/>
                <a:sym typeface="Public Sans"/>
              </a:rPr>
              <a:t>• Does not autonomously decide whether someone may travel or work</a:t>
            </a:r>
          </a:p>
          <a:p>
            <a:pPr algn="l">
              <a:lnSpc>
                <a:spcPts val="2341"/>
              </a:lnSpc>
            </a:pPr>
            <a:r>
              <a:rPr lang="en-US" sz="1951">
                <a:solidFill>
                  <a:srgbClr val="EFEEE7"/>
                </a:solidFill>
                <a:latin typeface="Public Sans"/>
                <a:ea typeface="Public Sans"/>
                <a:cs typeface="Public Sans"/>
                <a:sym typeface="Public Sans"/>
              </a:rPr>
              <a:t>• Final decision remains with an authorised human</a:t>
            </a:r>
          </a:p>
          <a:p>
            <a:pPr algn="l">
              <a:lnSpc>
                <a:spcPts val="2341"/>
              </a:lnSpc>
            </a:pPr>
          </a:p>
          <a:p>
            <a:pPr algn="l">
              <a:lnSpc>
                <a:spcPts val="2341"/>
              </a:lnSpc>
            </a:pPr>
            <a:r>
              <a:rPr lang="en-US" sz="1951">
                <a:solidFill>
                  <a:srgbClr val="EFEEE7"/>
                </a:solidFill>
                <a:latin typeface="Public Sans"/>
                <a:ea typeface="Public Sans"/>
                <a:cs typeface="Public Sans"/>
                <a:sym typeface="Public Sans"/>
              </a:rPr>
              <a:t>Focus: Transparency + proportionate governance</a:t>
            </a:r>
          </a:p>
        </p:txBody>
      </p:sp>
      <p:grpSp>
        <p:nvGrpSpPr>
          <p:cNvPr name="Group 12" id="12"/>
          <p:cNvGrpSpPr/>
          <p:nvPr/>
        </p:nvGrpSpPr>
        <p:grpSpPr>
          <a:xfrm rot="0">
            <a:off x="9327023" y="2395023"/>
            <a:ext cx="7907169" cy="4612748"/>
            <a:chOff x="0" y="0"/>
            <a:chExt cx="10542892" cy="6150331"/>
          </a:xfrm>
        </p:grpSpPr>
        <p:sp>
          <p:nvSpPr>
            <p:cNvPr name="Freeform 13" id="13"/>
            <p:cNvSpPr/>
            <p:nvPr/>
          </p:nvSpPr>
          <p:spPr>
            <a:xfrm flipH="false" flipV="false" rot="0">
              <a:off x="0" y="0"/>
              <a:ext cx="10542778" cy="6150229"/>
            </a:xfrm>
            <a:custGeom>
              <a:avLst/>
              <a:gdLst/>
              <a:ahLst/>
              <a:cxnLst/>
              <a:rect r="r" b="b" t="t" l="l"/>
              <a:pathLst>
                <a:path h="6150229" w="10542778">
                  <a:moveTo>
                    <a:pt x="0" y="1025017"/>
                  </a:moveTo>
                  <a:cubicBezTo>
                    <a:pt x="0" y="458978"/>
                    <a:pt x="458978" y="0"/>
                    <a:pt x="1025017" y="0"/>
                  </a:cubicBezTo>
                  <a:lnTo>
                    <a:pt x="9517761" y="0"/>
                  </a:lnTo>
                  <a:cubicBezTo>
                    <a:pt x="10083927" y="0"/>
                    <a:pt x="10542778" y="458978"/>
                    <a:pt x="10542778" y="1025017"/>
                  </a:cubicBezTo>
                  <a:lnTo>
                    <a:pt x="10542778" y="5125212"/>
                  </a:lnTo>
                  <a:cubicBezTo>
                    <a:pt x="10542778" y="5691378"/>
                    <a:pt x="10083800" y="6150229"/>
                    <a:pt x="9517761" y="6150229"/>
                  </a:cubicBezTo>
                  <a:lnTo>
                    <a:pt x="1025017" y="6150229"/>
                  </a:lnTo>
                  <a:cubicBezTo>
                    <a:pt x="458978" y="6150356"/>
                    <a:pt x="0" y="5691378"/>
                    <a:pt x="0" y="5125212"/>
                  </a:cubicBezTo>
                  <a:close/>
                </a:path>
              </a:pathLst>
            </a:custGeom>
            <a:solidFill>
              <a:srgbClr val="2B2C30"/>
            </a:solidFill>
            <a:ln w="14299" cap="sq">
              <a:solidFill>
                <a:srgbClr val="D2D8DE"/>
              </a:solidFill>
              <a:prstDash val="solid"/>
              <a:miter/>
            </a:ln>
          </p:spPr>
        </p:sp>
      </p:grpSp>
      <p:grpSp>
        <p:nvGrpSpPr>
          <p:cNvPr name="Group 14" id="14"/>
          <p:cNvGrpSpPr/>
          <p:nvPr/>
        </p:nvGrpSpPr>
        <p:grpSpPr>
          <a:xfrm rot="0">
            <a:off x="9334176" y="2402176"/>
            <a:ext cx="96088" cy="4598451"/>
            <a:chOff x="0" y="0"/>
            <a:chExt cx="128118" cy="6131268"/>
          </a:xfrm>
        </p:grpSpPr>
        <p:sp>
          <p:nvSpPr>
            <p:cNvPr name="Freeform 15" id="15"/>
            <p:cNvSpPr/>
            <p:nvPr/>
          </p:nvSpPr>
          <p:spPr>
            <a:xfrm flipH="false" flipV="false" rot="0">
              <a:off x="0" y="0"/>
              <a:ext cx="128143" cy="6131306"/>
            </a:xfrm>
            <a:custGeom>
              <a:avLst/>
              <a:gdLst/>
              <a:ahLst/>
              <a:cxnLst/>
              <a:rect r="r" b="b" t="t" l="l"/>
              <a:pathLst>
                <a:path h="6131306" w="128143">
                  <a:moveTo>
                    <a:pt x="0" y="0"/>
                  </a:moveTo>
                  <a:lnTo>
                    <a:pt x="128143" y="0"/>
                  </a:lnTo>
                  <a:lnTo>
                    <a:pt x="128143" y="6131306"/>
                  </a:lnTo>
                  <a:lnTo>
                    <a:pt x="0" y="6131306"/>
                  </a:lnTo>
                  <a:close/>
                </a:path>
              </a:pathLst>
            </a:custGeom>
            <a:solidFill>
              <a:srgbClr val="EFEEE7"/>
            </a:solidFill>
          </p:spPr>
        </p:sp>
      </p:grpSp>
      <p:sp>
        <p:nvSpPr>
          <p:cNvPr name="TextBox 16" id="16"/>
          <p:cNvSpPr txBox="true"/>
          <p:nvPr/>
        </p:nvSpPr>
        <p:spPr>
          <a:xfrm rot="0">
            <a:off x="9727597" y="2685450"/>
            <a:ext cx="7229551" cy="371475"/>
          </a:xfrm>
          <a:prstGeom prst="rect">
            <a:avLst/>
          </a:prstGeom>
        </p:spPr>
        <p:txBody>
          <a:bodyPr anchor="t" rtlCol="false" tIns="0" lIns="0" bIns="0" rIns="0">
            <a:spAutoFit/>
          </a:bodyPr>
          <a:lstStyle/>
          <a:p>
            <a:pPr algn="l">
              <a:lnSpc>
                <a:spcPts val="2882"/>
              </a:lnSpc>
            </a:pPr>
            <a:r>
              <a:rPr lang="en-US" b="true" sz="2401" spc="12">
                <a:solidFill>
                  <a:srgbClr val="EFEEE7"/>
                </a:solidFill>
                <a:latin typeface="Public Sans Bold"/>
                <a:ea typeface="Public Sans Bold"/>
                <a:cs typeface="Public Sans Bold"/>
                <a:sym typeface="Public Sans Bold"/>
              </a:rPr>
              <a:t>GDPR — CURRENT MVP VS PRODUCTION</a:t>
            </a:r>
          </a:p>
        </p:txBody>
      </p:sp>
      <p:sp>
        <p:nvSpPr>
          <p:cNvPr name="TextBox 17" id="17"/>
          <p:cNvSpPr txBox="true"/>
          <p:nvPr/>
        </p:nvSpPr>
        <p:spPr>
          <a:xfrm rot="0">
            <a:off x="9727597" y="3426695"/>
            <a:ext cx="7188375" cy="2371725"/>
          </a:xfrm>
          <a:prstGeom prst="rect">
            <a:avLst/>
          </a:prstGeom>
        </p:spPr>
        <p:txBody>
          <a:bodyPr anchor="t" rtlCol="false" tIns="0" lIns="0" bIns="0" rIns="0">
            <a:spAutoFit/>
          </a:bodyPr>
          <a:lstStyle/>
          <a:p>
            <a:pPr algn="l">
              <a:lnSpc>
                <a:spcPts val="2341"/>
              </a:lnSpc>
            </a:pPr>
            <a:r>
              <a:rPr lang="en-US" sz="1951">
                <a:solidFill>
                  <a:srgbClr val="EFEEE7"/>
                </a:solidFill>
                <a:latin typeface="Public Sans"/>
                <a:ea typeface="Public Sans"/>
                <a:cs typeface="Public Sans"/>
                <a:sym typeface="Public Sans"/>
              </a:rPr>
              <a:t>Current MVP: Synthetic / public data</a:t>
            </a:r>
          </a:p>
          <a:p>
            <a:pPr algn="l">
              <a:lnSpc>
                <a:spcPts val="2341"/>
              </a:lnSpc>
            </a:pPr>
          </a:p>
          <a:p>
            <a:pPr algn="l">
              <a:lnSpc>
                <a:spcPts val="2341"/>
              </a:lnSpc>
            </a:pPr>
            <a:r>
              <a:rPr lang="en-US" sz="1951">
                <a:solidFill>
                  <a:srgbClr val="EFEEE7"/>
                </a:solidFill>
                <a:latin typeface="Public Sans"/>
                <a:ea typeface="Public Sans"/>
                <a:cs typeface="Public Sans"/>
                <a:sym typeface="Public Sans"/>
              </a:rPr>
              <a:t>Production: Potentially identifiable crew, travel and operational information</a:t>
            </a:r>
          </a:p>
          <a:p>
            <a:pPr algn="l">
              <a:lnSpc>
                <a:spcPts val="2341"/>
              </a:lnSpc>
            </a:pPr>
          </a:p>
          <a:p>
            <a:pPr algn="l">
              <a:lnSpc>
                <a:spcPts val="2341"/>
              </a:lnSpc>
            </a:pPr>
            <a:r>
              <a:rPr lang="en-US" sz="1951">
                <a:solidFill>
                  <a:srgbClr val="EFEEE7"/>
                </a:solidFill>
                <a:latin typeface="Public Sans"/>
                <a:ea typeface="Public Sans"/>
                <a:cs typeface="Public Sans"/>
                <a:sym typeface="Public Sans"/>
              </a:rPr>
              <a:t>Controls: Data minimisation • Pseudonymisation where possible • Role-based access • Retention &amp; deletion controls • Vendor / transfer assessment</a:t>
            </a:r>
          </a:p>
        </p:txBody>
      </p:sp>
      <p:sp>
        <p:nvSpPr>
          <p:cNvPr name="TextBox 18" id="18"/>
          <p:cNvSpPr txBox="true"/>
          <p:nvPr/>
        </p:nvSpPr>
        <p:spPr>
          <a:xfrm rot="0">
            <a:off x="1189577" y="7654528"/>
            <a:ext cx="15946022" cy="419100"/>
          </a:xfrm>
          <a:prstGeom prst="rect">
            <a:avLst/>
          </a:prstGeom>
        </p:spPr>
        <p:txBody>
          <a:bodyPr anchor="t" rtlCol="false" tIns="0" lIns="0" bIns="0" rIns="0">
            <a:spAutoFit/>
          </a:bodyPr>
          <a:lstStyle/>
          <a:p>
            <a:pPr algn="ctr">
              <a:lnSpc>
                <a:spcPts val="3242"/>
              </a:lnSpc>
            </a:pPr>
            <a:r>
              <a:rPr lang="en-US" sz="2702">
                <a:solidFill>
                  <a:srgbClr val="2B2C30"/>
                </a:solidFill>
                <a:latin typeface="Public Sans"/>
                <a:ea typeface="Public Sans"/>
                <a:cs typeface="Public Sans"/>
                <a:sym typeface="Public Sans"/>
              </a:rPr>
              <a:t>AI ANALYSES  →  AI FLAGS &amp; EXPLAINS  →  HUMAN REVIEWS  →  HUMAN DECIDES</a:t>
            </a:r>
          </a:p>
        </p:txBody>
      </p:sp>
      <p:sp>
        <p:nvSpPr>
          <p:cNvPr name="TextBox 19" id="19"/>
          <p:cNvSpPr txBox="true"/>
          <p:nvPr/>
        </p:nvSpPr>
        <p:spPr>
          <a:xfrm rot="0">
            <a:off x="1464116" y="8615401"/>
            <a:ext cx="15328316" cy="352425"/>
          </a:xfrm>
          <a:prstGeom prst="rect">
            <a:avLst/>
          </a:prstGeom>
        </p:spPr>
        <p:txBody>
          <a:bodyPr anchor="t" rtlCol="false" tIns="0" lIns="0" bIns="0" rIns="0">
            <a:spAutoFit/>
          </a:bodyPr>
          <a:lstStyle/>
          <a:p>
            <a:pPr algn="ctr">
              <a:lnSpc>
                <a:spcPts val="2702"/>
              </a:lnSpc>
            </a:pPr>
            <a:r>
              <a:rPr lang="en-US" sz="2251">
                <a:solidFill>
                  <a:srgbClr val="2B2C30"/>
                </a:solidFill>
                <a:latin typeface="Public Sans"/>
                <a:ea typeface="Public Sans"/>
                <a:cs typeface="Public Sans"/>
                <a:sym typeface="Public Sans"/>
              </a:rPr>
              <a:t>Compliance is built into the operating model — not added after the technology is built.</a:t>
            </a:r>
          </a:p>
        </p:txBody>
      </p:sp>
      <p:sp>
        <p:nvSpPr>
          <p:cNvPr name="TextBox 20" id="20"/>
          <p:cNvSpPr txBox="true"/>
          <p:nvPr/>
        </p:nvSpPr>
        <p:spPr>
          <a:xfrm rot="0">
            <a:off x="1052312" y="9754714"/>
            <a:ext cx="2058442" cy="209550"/>
          </a:xfrm>
          <a:prstGeom prst="rect">
            <a:avLst/>
          </a:prstGeom>
        </p:spPr>
        <p:txBody>
          <a:bodyPr anchor="t" rtlCol="false" tIns="0" lIns="0" bIns="0" rIns="0">
            <a:spAutoFit/>
          </a:bodyPr>
          <a:lstStyle/>
          <a:p>
            <a:pPr algn="l">
              <a:lnSpc>
                <a:spcPts val="1621"/>
              </a:lnSpc>
            </a:pPr>
            <a:r>
              <a:rPr lang="en-US" sz="1351">
                <a:solidFill>
                  <a:srgbClr val="2B2C30"/>
                </a:solidFill>
                <a:latin typeface="Public Sans"/>
                <a:ea typeface="Public Sans"/>
                <a:cs typeface="Public Sans"/>
                <a:sym typeface="Public Sans"/>
              </a:rPr>
              <a:t>Crew Change Risk Copilot</a:t>
            </a:r>
          </a:p>
        </p:txBody>
      </p:sp>
      <p:sp>
        <p:nvSpPr>
          <p:cNvPr name="TextBox 21" id="21"/>
          <p:cNvSpPr txBox="true"/>
          <p:nvPr/>
        </p:nvSpPr>
        <p:spPr>
          <a:xfrm rot="0">
            <a:off x="17093052" y="9754714"/>
            <a:ext cx="111175" cy="209550"/>
          </a:xfrm>
          <a:prstGeom prst="rect">
            <a:avLst/>
          </a:prstGeom>
        </p:spPr>
        <p:txBody>
          <a:bodyPr anchor="t" rtlCol="false" tIns="0" lIns="0" bIns="0" rIns="0">
            <a:spAutoFit/>
          </a:bodyPr>
          <a:lstStyle/>
          <a:p>
            <a:pPr algn="r">
              <a:lnSpc>
                <a:spcPts val="1621"/>
              </a:lnSpc>
            </a:pPr>
            <a:r>
              <a:rPr lang="en-US" sz="1351">
                <a:solidFill>
                  <a:srgbClr val="2B2C30"/>
                </a:solidFill>
                <a:latin typeface="Public Sans"/>
                <a:ea typeface="Public Sans"/>
                <a:cs typeface="Public Sans"/>
                <a:sym typeface="Public Sans"/>
              </a:rPr>
              <a:t>8</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52312" y="653901"/>
            <a:ext cx="14758095" cy="647700"/>
          </a:xfrm>
          <a:prstGeom prst="rect">
            <a:avLst/>
          </a:prstGeom>
        </p:spPr>
        <p:txBody>
          <a:bodyPr anchor="t" rtlCol="false" tIns="0" lIns="0" bIns="0" rIns="0">
            <a:spAutoFit/>
          </a:bodyPr>
          <a:lstStyle/>
          <a:p>
            <a:pPr algn="l">
              <a:lnSpc>
                <a:spcPts val="5043"/>
              </a:lnSpc>
            </a:pPr>
            <a:r>
              <a:rPr lang="en-US" b="true" sz="4203" spc="954">
                <a:solidFill>
                  <a:srgbClr val="2B2C30"/>
                </a:solidFill>
                <a:latin typeface="Public Sans Bold"/>
                <a:ea typeface="Public Sans Bold"/>
                <a:cs typeface="Public Sans Bold"/>
                <a:sym typeface="Public Sans Bold"/>
              </a:rPr>
              <a:t>STRATEGIC IMPLEMENTATION ROADMAP</a:t>
            </a:r>
          </a:p>
        </p:txBody>
      </p:sp>
      <p:grpSp>
        <p:nvGrpSpPr>
          <p:cNvPr name="Group 3" id="3"/>
          <p:cNvGrpSpPr/>
          <p:nvPr/>
        </p:nvGrpSpPr>
        <p:grpSpPr>
          <a:xfrm rot="0">
            <a:off x="960872" y="1509941"/>
            <a:ext cx="1509941" cy="68637"/>
            <a:chOff x="0" y="0"/>
            <a:chExt cx="2013255" cy="91516"/>
          </a:xfrm>
        </p:grpSpPr>
        <p:sp>
          <p:nvSpPr>
            <p:cNvPr name="Freeform 4" id="4"/>
            <p:cNvSpPr/>
            <p:nvPr/>
          </p:nvSpPr>
          <p:spPr>
            <a:xfrm flipH="false" flipV="false" rot="0">
              <a:off x="0" y="0"/>
              <a:ext cx="2013204" cy="91567"/>
            </a:xfrm>
            <a:custGeom>
              <a:avLst/>
              <a:gdLst/>
              <a:ahLst/>
              <a:cxnLst/>
              <a:rect r="r" b="b" t="t" l="l"/>
              <a:pathLst>
                <a:path h="91567" w="2013204">
                  <a:moveTo>
                    <a:pt x="0" y="0"/>
                  </a:moveTo>
                  <a:lnTo>
                    <a:pt x="2013204" y="0"/>
                  </a:lnTo>
                  <a:lnTo>
                    <a:pt x="2013204" y="91567"/>
                  </a:lnTo>
                  <a:lnTo>
                    <a:pt x="0" y="91567"/>
                  </a:lnTo>
                  <a:close/>
                </a:path>
              </a:pathLst>
            </a:custGeom>
            <a:solidFill>
              <a:srgbClr val="2B2C30"/>
            </a:solidFill>
          </p:spPr>
        </p:sp>
      </p:grpSp>
      <p:sp>
        <p:nvSpPr>
          <p:cNvPr name="TextBox 5" id="5"/>
          <p:cNvSpPr txBox="true"/>
          <p:nvPr/>
        </p:nvSpPr>
        <p:spPr>
          <a:xfrm rot="0">
            <a:off x="1052312" y="1742513"/>
            <a:ext cx="16014659" cy="333375"/>
          </a:xfrm>
          <a:prstGeom prst="rect">
            <a:avLst/>
          </a:prstGeom>
        </p:spPr>
        <p:txBody>
          <a:bodyPr anchor="t" rtlCol="false" tIns="0" lIns="0" bIns="0" rIns="0">
            <a:spAutoFit/>
          </a:bodyPr>
          <a:lstStyle/>
          <a:p>
            <a:pPr algn="l">
              <a:lnSpc>
                <a:spcPts val="2521"/>
              </a:lnSpc>
            </a:pPr>
            <a:r>
              <a:rPr lang="en-US" sz="2101">
                <a:solidFill>
                  <a:srgbClr val="2B2C30"/>
                </a:solidFill>
                <a:latin typeface="Public Sans"/>
                <a:ea typeface="Public Sans"/>
                <a:cs typeface="Public Sans"/>
                <a:sym typeface="Public Sans"/>
              </a:rPr>
              <a:t>A phased path from validated concept to operational deployment</a:t>
            </a:r>
          </a:p>
        </p:txBody>
      </p:sp>
      <p:grpSp>
        <p:nvGrpSpPr>
          <p:cNvPr name="Group 6" id="6"/>
          <p:cNvGrpSpPr/>
          <p:nvPr/>
        </p:nvGrpSpPr>
        <p:grpSpPr>
          <a:xfrm rot="0">
            <a:off x="610552" y="2532297"/>
            <a:ext cx="3926415" cy="4338218"/>
            <a:chOff x="0" y="0"/>
            <a:chExt cx="5235219" cy="5784291"/>
          </a:xfrm>
        </p:grpSpPr>
        <p:sp>
          <p:nvSpPr>
            <p:cNvPr name="Freeform 7" id="7"/>
            <p:cNvSpPr/>
            <p:nvPr/>
          </p:nvSpPr>
          <p:spPr>
            <a:xfrm flipH="false" flipV="false" rot="0">
              <a:off x="0" y="0"/>
              <a:ext cx="5235321" cy="5784342"/>
            </a:xfrm>
            <a:custGeom>
              <a:avLst/>
              <a:gdLst/>
              <a:ahLst/>
              <a:cxnLst/>
              <a:rect r="r" b="b" t="t" l="l"/>
              <a:pathLst>
                <a:path h="5784342" w="5235321">
                  <a:moveTo>
                    <a:pt x="0" y="872617"/>
                  </a:moveTo>
                  <a:cubicBezTo>
                    <a:pt x="0" y="390652"/>
                    <a:pt x="390652" y="0"/>
                    <a:pt x="872617" y="0"/>
                  </a:cubicBezTo>
                  <a:lnTo>
                    <a:pt x="4362704" y="0"/>
                  </a:lnTo>
                  <a:cubicBezTo>
                    <a:pt x="4844542" y="0"/>
                    <a:pt x="5235321" y="390652"/>
                    <a:pt x="5235321" y="872617"/>
                  </a:cubicBezTo>
                  <a:lnTo>
                    <a:pt x="5235321" y="4911725"/>
                  </a:lnTo>
                  <a:cubicBezTo>
                    <a:pt x="5235321" y="5393563"/>
                    <a:pt x="4844669" y="5784342"/>
                    <a:pt x="4362704" y="5784342"/>
                  </a:cubicBezTo>
                  <a:lnTo>
                    <a:pt x="872617" y="5784342"/>
                  </a:lnTo>
                  <a:cubicBezTo>
                    <a:pt x="390652" y="5784342"/>
                    <a:pt x="0" y="5393690"/>
                    <a:pt x="0" y="4911725"/>
                  </a:cubicBezTo>
                  <a:close/>
                </a:path>
              </a:pathLst>
            </a:custGeom>
            <a:solidFill>
              <a:srgbClr val="2B2C30"/>
            </a:solidFill>
            <a:ln w="14299" cap="sq">
              <a:solidFill>
                <a:srgbClr val="D2D8DE"/>
              </a:solidFill>
              <a:prstDash val="solid"/>
              <a:miter/>
            </a:ln>
          </p:spPr>
        </p:sp>
      </p:grpSp>
      <p:grpSp>
        <p:nvGrpSpPr>
          <p:cNvPr name="Group 8" id="8"/>
          <p:cNvGrpSpPr/>
          <p:nvPr/>
        </p:nvGrpSpPr>
        <p:grpSpPr>
          <a:xfrm rot="0">
            <a:off x="617706" y="2539441"/>
            <a:ext cx="96088" cy="4323921"/>
            <a:chOff x="0" y="0"/>
            <a:chExt cx="128118" cy="5765228"/>
          </a:xfrm>
        </p:grpSpPr>
        <p:sp>
          <p:nvSpPr>
            <p:cNvPr name="Freeform 9" id="9"/>
            <p:cNvSpPr/>
            <p:nvPr/>
          </p:nvSpPr>
          <p:spPr>
            <a:xfrm flipH="false" flipV="false" rot="0">
              <a:off x="0" y="0"/>
              <a:ext cx="128143" cy="5765165"/>
            </a:xfrm>
            <a:custGeom>
              <a:avLst/>
              <a:gdLst/>
              <a:ahLst/>
              <a:cxnLst/>
              <a:rect r="r" b="b" t="t" l="l"/>
              <a:pathLst>
                <a:path h="5765165" w="128143">
                  <a:moveTo>
                    <a:pt x="0" y="0"/>
                  </a:moveTo>
                  <a:lnTo>
                    <a:pt x="128143" y="0"/>
                  </a:lnTo>
                  <a:lnTo>
                    <a:pt x="128143" y="5765165"/>
                  </a:lnTo>
                  <a:lnTo>
                    <a:pt x="0" y="5765165"/>
                  </a:lnTo>
                  <a:close/>
                </a:path>
              </a:pathLst>
            </a:custGeom>
            <a:solidFill>
              <a:srgbClr val="EFEEE7"/>
            </a:solidFill>
          </p:spPr>
        </p:sp>
      </p:grpSp>
      <p:sp>
        <p:nvSpPr>
          <p:cNvPr name="TextBox 10" id="10"/>
          <p:cNvSpPr txBox="true"/>
          <p:nvPr/>
        </p:nvSpPr>
        <p:spPr>
          <a:xfrm rot="0">
            <a:off x="1011126" y="2822724"/>
            <a:ext cx="3248797" cy="352425"/>
          </a:xfrm>
          <a:prstGeom prst="rect">
            <a:avLst/>
          </a:prstGeom>
        </p:spPr>
        <p:txBody>
          <a:bodyPr anchor="t" rtlCol="false" tIns="0" lIns="0" bIns="0" rIns="0">
            <a:spAutoFit/>
          </a:bodyPr>
          <a:lstStyle/>
          <a:p>
            <a:pPr algn="l">
              <a:lnSpc>
                <a:spcPts val="2702"/>
              </a:lnSpc>
            </a:pPr>
            <a:r>
              <a:rPr lang="en-US" b="true" sz="2251" spc="11">
                <a:solidFill>
                  <a:srgbClr val="EFEEE7"/>
                </a:solidFill>
                <a:latin typeface="Public Sans Bold"/>
                <a:ea typeface="Public Sans Bold"/>
                <a:cs typeface="Public Sans Bold"/>
                <a:sym typeface="Public Sans Bold"/>
              </a:rPr>
              <a:t>1. VALIDATED PoC</a:t>
            </a:r>
          </a:p>
        </p:txBody>
      </p:sp>
      <p:sp>
        <p:nvSpPr>
          <p:cNvPr name="TextBox 11" id="11"/>
          <p:cNvSpPr txBox="true"/>
          <p:nvPr/>
        </p:nvSpPr>
        <p:spPr>
          <a:xfrm rot="0">
            <a:off x="1011126" y="3563960"/>
            <a:ext cx="3207620" cy="895350"/>
          </a:xfrm>
          <a:prstGeom prst="rect">
            <a:avLst/>
          </a:prstGeom>
        </p:spPr>
        <p:txBody>
          <a:bodyPr anchor="t" rtlCol="false" tIns="0" lIns="0" bIns="0" rIns="0">
            <a:spAutoFit/>
          </a:bodyPr>
          <a:lstStyle/>
          <a:p>
            <a:pPr algn="l">
              <a:lnSpc>
                <a:spcPts val="2341"/>
              </a:lnSpc>
            </a:pPr>
            <a:r>
              <a:rPr lang="en-US" sz="1951">
                <a:solidFill>
                  <a:srgbClr val="EFEEE7"/>
                </a:solidFill>
                <a:latin typeface="Public Sans"/>
                <a:ea typeface="Public Sans"/>
                <a:cs typeface="Public Sans"/>
                <a:sym typeface="Public Sans"/>
              </a:rPr>
              <a:t>✓ Core logic</a:t>
            </a:r>
          </a:p>
          <a:p>
            <a:pPr algn="l">
              <a:lnSpc>
                <a:spcPts val="2341"/>
              </a:lnSpc>
            </a:pPr>
            <a:r>
              <a:rPr lang="en-US" sz="1951">
                <a:solidFill>
                  <a:srgbClr val="EFEEE7"/>
                </a:solidFill>
                <a:latin typeface="Public Sans"/>
                <a:ea typeface="Public Sans"/>
                <a:cs typeface="Public Sans"/>
                <a:sym typeface="Public Sans"/>
              </a:rPr>
              <a:t>✓ AI briefing</a:t>
            </a:r>
          </a:p>
          <a:p>
            <a:pPr algn="l">
              <a:lnSpc>
                <a:spcPts val="2341"/>
              </a:lnSpc>
            </a:pPr>
            <a:r>
              <a:rPr lang="en-US" sz="1951">
                <a:solidFill>
                  <a:srgbClr val="EFEEE7"/>
                </a:solidFill>
                <a:latin typeface="Public Sans"/>
                <a:ea typeface="Public Sans"/>
                <a:cs typeface="Public Sans"/>
                <a:sym typeface="Public Sans"/>
              </a:rPr>
              <a:t>✓ Human review</a:t>
            </a:r>
          </a:p>
        </p:txBody>
      </p:sp>
      <p:sp>
        <p:nvSpPr>
          <p:cNvPr name="TextBox 12" id="12"/>
          <p:cNvSpPr txBox="true"/>
          <p:nvPr/>
        </p:nvSpPr>
        <p:spPr>
          <a:xfrm rot="0">
            <a:off x="4494002" y="4281954"/>
            <a:ext cx="469702" cy="476250"/>
          </a:xfrm>
          <a:prstGeom prst="rect">
            <a:avLst/>
          </a:prstGeom>
        </p:spPr>
        <p:txBody>
          <a:bodyPr anchor="t" rtlCol="false" tIns="0" lIns="0" bIns="0" rIns="0">
            <a:spAutoFit/>
          </a:bodyPr>
          <a:lstStyle/>
          <a:p>
            <a:pPr algn="ctr">
              <a:lnSpc>
                <a:spcPts val="3616"/>
              </a:lnSpc>
            </a:pPr>
            <a:r>
              <a:rPr lang="en-US" b="true" sz="3013" spc="684">
                <a:solidFill>
                  <a:srgbClr val="2B2C30"/>
                </a:solidFill>
                <a:latin typeface="Public Sans Bold"/>
                <a:ea typeface="Public Sans Bold"/>
                <a:cs typeface="Public Sans Bold"/>
                <a:sym typeface="Public Sans Bold"/>
              </a:rPr>
              <a:t>→</a:t>
            </a:r>
          </a:p>
        </p:txBody>
      </p:sp>
      <p:grpSp>
        <p:nvGrpSpPr>
          <p:cNvPr name="Group 13" id="13"/>
          <p:cNvGrpSpPr/>
          <p:nvPr/>
        </p:nvGrpSpPr>
        <p:grpSpPr>
          <a:xfrm rot="0">
            <a:off x="5003102" y="2532297"/>
            <a:ext cx="3926415" cy="4338218"/>
            <a:chOff x="0" y="0"/>
            <a:chExt cx="5235219" cy="5784291"/>
          </a:xfrm>
        </p:grpSpPr>
        <p:sp>
          <p:nvSpPr>
            <p:cNvPr name="Freeform 14" id="14"/>
            <p:cNvSpPr/>
            <p:nvPr/>
          </p:nvSpPr>
          <p:spPr>
            <a:xfrm flipH="false" flipV="false" rot="0">
              <a:off x="0" y="0"/>
              <a:ext cx="5235321" cy="5784342"/>
            </a:xfrm>
            <a:custGeom>
              <a:avLst/>
              <a:gdLst/>
              <a:ahLst/>
              <a:cxnLst/>
              <a:rect r="r" b="b" t="t" l="l"/>
              <a:pathLst>
                <a:path h="5784342" w="5235321">
                  <a:moveTo>
                    <a:pt x="0" y="872617"/>
                  </a:moveTo>
                  <a:cubicBezTo>
                    <a:pt x="0" y="390652"/>
                    <a:pt x="390652" y="0"/>
                    <a:pt x="872617" y="0"/>
                  </a:cubicBezTo>
                  <a:lnTo>
                    <a:pt x="4362704" y="0"/>
                  </a:lnTo>
                  <a:cubicBezTo>
                    <a:pt x="4844542" y="0"/>
                    <a:pt x="5235321" y="390652"/>
                    <a:pt x="5235321" y="872617"/>
                  </a:cubicBezTo>
                  <a:lnTo>
                    <a:pt x="5235321" y="4911725"/>
                  </a:lnTo>
                  <a:cubicBezTo>
                    <a:pt x="5235321" y="5393563"/>
                    <a:pt x="4844669" y="5784342"/>
                    <a:pt x="4362704" y="5784342"/>
                  </a:cubicBezTo>
                  <a:lnTo>
                    <a:pt x="872617" y="5784342"/>
                  </a:lnTo>
                  <a:cubicBezTo>
                    <a:pt x="390652" y="5784342"/>
                    <a:pt x="0" y="5393690"/>
                    <a:pt x="0" y="4911725"/>
                  </a:cubicBezTo>
                  <a:close/>
                </a:path>
              </a:pathLst>
            </a:custGeom>
            <a:solidFill>
              <a:srgbClr val="2B2C30"/>
            </a:solidFill>
            <a:ln w="14299" cap="sq">
              <a:solidFill>
                <a:srgbClr val="D2D8DE"/>
              </a:solidFill>
              <a:prstDash val="solid"/>
              <a:miter/>
            </a:ln>
          </p:spPr>
        </p:sp>
      </p:grpSp>
      <p:grpSp>
        <p:nvGrpSpPr>
          <p:cNvPr name="Group 15" id="15"/>
          <p:cNvGrpSpPr/>
          <p:nvPr/>
        </p:nvGrpSpPr>
        <p:grpSpPr>
          <a:xfrm rot="0">
            <a:off x="5010255" y="2539441"/>
            <a:ext cx="96088" cy="4323921"/>
            <a:chOff x="0" y="0"/>
            <a:chExt cx="128118" cy="5765228"/>
          </a:xfrm>
        </p:grpSpPr>
        <p:sp>
          <p:nvSpPr>
            <p:cNvPr name="Freeform 16" id="16"/>
            <p:cNvSpPr/>
            <p:nvPr/>
          </p:nvSpPr>
          <p:spPr>
            <a:xfrm flipH="false" flipV="false" rot="0">
              <a:off x="0" y="0"/>
              <a:ext cx="128143" cy="5765165"/>
            </a:xfrm>
            <a:custGeom>
              <a:avLst/>
              <a:gdLst/>
              <a:ahLst/>
              <a:cxnLst/>
              <a:rect r="r" b="b" t="t" l="l"/>
              <a:pathLst>
                <a:path h="5765165" w="128143">
                  <a:moveTo>
                    <a:pt x="0" y="0"/>
                  </a:moveTo>
                  <a:lnTo>
                    <a:pt x="128143" y="0"/>
                  </a:lnTo>
                  <a:lnTo>
                    <a:pt x="128143" y="5765165"/>
                  </a:lnTo>
                  <a:lnTo>
                    <a:pt x="0" y="5765165"/>
                  </a:lnTo>
                  <a:close/>
                </a:path>
              </a:pathLst>
            </a:custGeom>
            <a:solidFill>
              <a:srgbClr val="EFEEE7"/>
            </a:solidFill>
          </p:spPr>
        </p:sp>
      </p:grpSp>
      <p:sp>
        <p:nvSpPr>
          <p:cNvPr name="TextBox 17" id="17"/>
          <p:cNvSpPr txBox="true"/>
          <p:nvPr/>
        </p:nvSpPr>
        <p:spPr>
          <a:xfrm rot="0">
            <a:off x="5403685" y="2822724"/>
            <a:ext cx="3248797" cy="352425"/>
          </a:xfrm>
          <a:prstGeom prst="rect">
            <a:avLst/>
          </a:prstGeom>
        </p:spPr>
        <p:txBody>
          <a:bodyPr anchor="t" rtlCol="false" tIns="0" lIns="0" bIns="0" rIns="0">
            <a:spAutoFit/>
          </a:bodyPr>
          <a:lstStyle/>
          <a:p>
            <a:pPr algn="l">
              <a:lnSpc>
                <a:spcPts val="2702"/>
              </a:lnSpc>
            </a:pPr>
            <a:r>
              <a:rPr lang="en-US" b="true" sz="2251" spc="11">
                <a:solidFill>
                  <a:srgbClr val="EFEEE7"/>
                </a:solidFill>
                <a:latin typeface="Public Sans Bold"/>
                <a:ea typeface="Public Sans Bold"/>
                <a:cs typeface="Public Sans Bold"/>
                <a:sym typeface="Public Sans Bold"/>
              </a:rPr>
              <a:t>2. BUILD MVP</a:t>
            </a:r>
          </a:p>
        </p:txBody>
      </p:sp>
      <p:sp>
        <p:nvSpPr>
          <p:cNvPr name="TextBox 18" id="18"/>
          <p:cNvSpPr txBox="true"/>
          <p:nvPr/>
        </p:nvSpPr>
        <p:spPr>
          <a:xfrm rot="0">
            <a:off x="5403685" y="3563960"/>
            <a:ext cx="3207620" cy="1485900"/>
          </a:xfrm>
          <a:prstGeom prst="rect">
            <a:avLst/>
          </a:prstGeom>
        </p:spPr>
        <p:txBody>
          <a:bodyPr anchor="t" rtlCol="false" tIns="0" lIns="0" bIns="0" rIns="0">
            <a:spAutoFit/>
          </a:bodyPr>
          <a:lstStyle/>
          <a:p>
            <a:pPr algn="l">
              <a:lnSpc>
                <a:spcPts val="2341"/>
              </a:lnSpc>
            </a:pPr>
            <a:r>
              <a:rPr lang="en-US" sz="1951">
                <a:solidFill>
                  <a:srgbClr val="EFEEE7"/>
                </a:solidFill>
                <a:latin typeface="Public Sans"/>
                <a:ea typeface="Public Sans"/>
                <a:cs typeface="Public Sans"/>
                <a:sym typeface="Public Sans"/>
              </a:rPr>
              <a:t>Hybrid architecture:</a:t>
            </a:r>
          </a:p>
          <a:p>
            <a:pPr algn="l">
              <a:lnSpc>
                <a:spcPts val="2341"/>
              </a:lnSpc>
            </a:pPr>
            <a:r>
              <a:rPr lang="en-US" sz="1951">
                <a:solidFill>
                  <a:srgbClr val="EFEEE7"/>
                </a:solidFill>
                <a:latin typeface="Public Sans"/>
                <a:ea typeface="Public Sans"/>
                <a:cs typeface="Public Sans"/>
                <a:sym typeface="Public Sans"/>
              </a:rPr>
              <a:t>Python</a:t>
            </a:r>
          </a:p>
          <a:p>
            <a:pPr algn="l">
              <a:lnSpc>
                <a:spcPts val="2341"/>
              </a:lnSpc>
            </a:pPr>
            <a:r>
              <a:rPr lang="en-US" sz="1951">
                <a:solidFill>
                  <a:srgbClr val="EFEEE7"/>
                </a:solidFill>
                <a:latin typeface="Public Sans"/>
                <a:ea typeface="Public Sans"/>
                <a:cs typeface="Public Sans"/>
                <a:sym typeface="Public Sans"/>
              </a:rPr>
              <a:t>LangGraph</a:t>
            </a:r>
          </a:p>
          <a:p>
            <a:pPr algn="l">
              <a:lnSpc>
                <a:spcPts val="2341"/>
              </a:lnSpc>
            </a:pPr>
            <a:r>
              <a:rPr lang="en-US" sz="1951">
                <a:solidFill>
                  <a:srgbClr val="EFEEE7"/>
                </a:solidFill>
                <a:latin typeface="Public Sans"/>
                <a:ea typeface="Public Sans"/>
                <a:cs typeface="Public Sans"/>
                <a:sym typeface="Public Sans"/>
              </a:rPr>
              <a:t>n8n for selected integrations &amp; automation</a:t>
            </a:r>
          </a:p>
        </p:txBody>
      </p:sp>
      <p:sp>
        <p:nvSpPr>
          <p:cNvPr name="TextBox 19" id="19"/>
          <p:cNvSpPr txBox="true"/>
          <p:nvPr/>
        </p:nvSpPr>
        <p:spPr>
          <a:xfrm rot="0">
            <a:off x="8886551" y="4281954"/>
            <a:ext cx="469702" cy="476250"/>
          </a:xfrm>
          <a:prstGeom prst="rect">
            <a:avLst/>
          </a:prstGeom>
        </p:spPr>
        <p:txBody>
          <a:bodyPr anchor="t" rtlCol="false" tIns="0" lIns="0" bIns="0" rIns="0">
            <a:spAutoFit/>
          </a:bodyPr>
          <a:lstStyle/>
          <a:p>
            <a:pPr algn="ctr">
              <a:lnSpc>
                <a:spcPts val="3616"/>
              </a:lnSpc>
            </a:pPr>
            <a:r>
              <a:rPr lang="en-US" b="true" sz="3013" spc="684">
                <a:solidFill>
                  <a:srgbClr val="2B2C30"/>
                </a:solidFill>
                <a:latin typeface="Public Sans Bold"/>
                <a:ea typeface="Public Sans Bold"/>
                <a:cs typeface="Public Sans Bold"/>
                <a:sym typeface="Public Sans Bold"/>
              </a:rPr>
              <a:t>→</a:t>
            </a:r>
          </a:p>
        </p:txBody>
      </p:sp>
      <p:grpSp>
        <p:nvGrpSpPr>
          <p:cNvPr name="Group 20" id="20"/>
          <p:cNvGrpSpPr/>
          <p:nvPr/>
        </p:nvGrpSpPr>
        <p:grpSpPr>
          <a:xfrm rot="0">
            <a:off x="9395660" y="2532297"/>
            <a:ext cx="3926415" cy="4338218"/>
            <a:chOff x="0" y="0"/>
            <a:chExt cx="5235219" cy="5784291"/>
          </a:xfrm>
        </p:grpSpPr>
        <p:sp>
          <p:nvSpPr>
            <p:cNvPr name="Freeform 21" id="21"/>
            <p:cNvSpPr/>
            <p:nvPr/>
          </p:nvSpPr>
          <p:spPr>
            <a:xfrm flipH="false" flipV="false" rot="0">
              <a:off x="0" y="0"/>
              <a:ext cx="5235321" cy="5784342"/>
            </a:xfrm>
            <a:custGeom>
              <a:avLst/>
              <a:gdLst/>
              <a:ahLst/>
              <a:cxnLst/>
              <a:rect r="r" b="b" t="t" l="l"/>
              <a:pathLst>
                <a:path h="5784342" w="5235321">
                  <a:moveTo>
                    <a:pt x="0" y="872617"/>
                  </a:moveTo>
                  <a:cubicBezTo>
                    <a:pt x="0" y="390652"/>
                    <a:pt x="390652" y="0"/>
                    <a:pt x="872617" y="0"/>
                  </a:cubicBezTo>
                  <a:lnTo>
                    <a:pt x="4362704" y="0"/>
                  </a:lnTo>
                  <a:cubicBezTo>
                    <a:pt x="4844542" y="0"/>
                    <a:pt x="5235321" y="390652"/>
                    <a:pt x="5235321" y="872617"/>
                  </a:cubicBezTo>
                  <a:lnTo>
                    <a:pt x="5235321" y="4911725"/>
                  </a:lnTo>
                  <a:cubicBezTo>
                    <a:pt x="5235321" y="5393563"/>
                    <a:pt x="4844669" y="5784342"/>
                    <a:pt x="4362704" y="5784342"/>
                  </a:cubicBezTo>
                  <a:lnTo>
                    <a:pt x="872617" y="5784342"/>
                  </a:lnTo>
                  <a:cubicBezTo>
                    <a:pt x="390652" y="5784342"/>
                    <a:pt x="0" y="5393690"/>
                    <a:pt x="0" y="4911725"/>
                  </a:cubicBezTo>
                  <a:close/>
                </a:path>
              </a:pathLst>
            </a:custGeom>
            <a:solidFill>
              <a:srgbClr val="2B2C30"/>
            </a:solidFill>
            <a:ln w="14299" cap="sq">
              <a:solidFill>
                <a:srgbClr val="D2D8DE"/>
              </a:solidFill>
              <a:prstDash val="solid"/>
              <a:miter/>
            </a:ln>
          </p:spPr>
        </p:sp>
      </p:grpSp>
      <p:grpSp>
        <p:nvGrpSpPr>
          <p:cNvPr name="Group 22" id="22"/>
          <p:cNvGrpSpPr/>
          <p:nvPr/>
        </p:nvGrpSpPr>
        <p:grpSpPr>
          <a:xfrm rot="0">
            <a:off x="9402804" y="2539441"/>
            <a:ext cx="96088" cy="4323921"/>
            <a:chOff x="0" y="0"/>
            <a:chExt cx="128118" cy="5765228"/>
          </a:xfrm>
        </p:grpSpPr>
        <p:sp>
          <p:nvSpPr>
            <p:cNvPr name="Freeform 23" id="23"/>
            <p:cNvSpPr/>
            <p:nvPr/>
          </p:nvSpPr>
          <p:spPr>
            <a:xfrm flipH="false" flipV="false" rot="0">
              <a:off x="0" y="0"/>
              <a:ext cx="128143" cy="5765165"/>
            </a:xfrm>
            <a:custGeom>
              <a:avLst/>
              <a:gdLst/>
              <a:ahLst/>
              <a:cxnLst/>
              <a:rect r="r" b="b" t="t" l="l"/>
              <a:pathLst>
                <a:path h="5765165" w="128143">
                  <a:moveTo>
                    <a:pt x="0" y="0"/>
                  </a:moveTo>
                  <a:lnTo>
                    <a:pt x="128143" y="0"/>
                  </a:lnTo>
                  <a:lnTo>
                    <a:pt x="128143" y="5765165"/>
                  </a:lnTo>
                  <a:lnTo>
                    <a:pt x="0" y="5765165"/>
                  </a:lnTo>
                  <a:close/>
                </a:path>
              </a:pathLst>
            </a:custGeom>
            <a:solidFill>
              <a:srgbClr val="EFEEE7"/>
            </a:solidFill>
          </p:spPr>
        </p:sp>
      </p:grpSp>
      <p:sp>
        <p:nvSpPr>
          <p:cNvPr name="TextBox 24" id="24"/>
          <p:cNvSpPr txBox="true"/>
          <p:nvPr/>
        </p:nvSpPr>
        <p:spPr>
          <a:xfrm rot="0">
            <a:off x="9796234" y="2822724"/>
            <a:ext cx="3248797" cy="352425"/>
          </a:xfrm>
          <a:prstGeom prst="rect">
            <a:avLst/>
          </a:prstGeom>
        </p:spPr>
        <p:txBody>
          <a:bodyPr anchor="t" rtlCol="false" tIns="0" lIns="0" bIns="0" rIns="0">
            <a:spAutoFit/>
          </a:bodyPr>
          <a:lstStyle/>
          <a:p>
            <a:pPr algn="l">
              <a:lnSpc>
                <a:spcPts val="2702"/>
              </a:lnSpc>
            </a:pPr>
            <a:r>
              <a:rPr lang="en-US" b="true" sz="2251" spc="11">
                <a:solidFill>
                  <a:srgbClr val="EFEEE7"/>
                </a:solidFill>
                <a:latin typeface="Public Sans Bold"/>
                <a:ea typeface="Public Sans Bold"/>
                <a:cs typeface="Public Sans Bold"/>
                <a:sym typeface="Public Sans Bold"/>
              </a:rPr>
              <a:t>3. CONTROLLED PILOT</a:t>
            </a:r>
          </a:p>
        </p:txBody>
      </p:sp>
      <p:sp>
        <p:nvSpPr>
          <p:cNvPr name="TextBox 25" id="25"/>
          <p:cNvSpPr txBox="true"/>
          <p:nvPr/>
        </p:nvSpPr>
        <p:spPr>
          <a:xfrm rot="0">
            <a:off x="9796234" y="3563960"/>
            <a:ext cx="3207620" cy="1190625"/>
          </a:xfrm>
          <a:prstGeom prst="rect">
            <a:avLst/>
          </a:prstGeom>
        </p:spPr>
        <p:txBody>
          <a:bodyPr anchor="t" rtlCol="false" tIns="0" lIns="0" bIns="0" rIns="0">
            <a:spAutoFit/>
          </a:bodyPr>
          <a:lstStyle/>
          <a:p>
            <a:pPr algn="l">
              <a:lnSpc>
                <a:spcPts val="2341"/>
              </a:lnSpc>
            </a:pPr>
            <a:r>
              <a:rPr lang="en-US" sz="1951">
                <a:solidFill>
                  <a:srgbClr val="EFEEE7"/>
                </a:solidFill>
                <a:latin typeface="Public Sans"/>
                <a:ea typeface="Public Sans"/>
                <a:cs typeface="Public Sans"/>
                <a:sym typeface="Public Sans"/>
              </a:rPr>
              <a:t>Limited scope</a:t>
            </a:r>
          </a:p>
          <a:p>
            <a:pPr algn="l">
              <a:lnSpc>
                <a:spcPts val="2341"/>
              </a:lnSpc>
            </a:pPr>
            <a:r>
              <a:rPr lang="en-US" sz="1951">
                <a:solidFill>
                  <a:srgbClr val="EFEEE7"/>
                </a:solidFill>
                <a:latin typeface="Public Sans"/>
                <a:ea typeface="Public Sans"/>
                <a:cs typeface="Public Sans"/>
                <a:sym typeface="Public Sans"/>
              </a:rPr>
              <a:t>Selected users</a:t>
            </a:r>
          </a:p>
          <a:p>
            <a:pPr algn="l">
              <a:lnSpc>
                <a:spcPts val="2341"/>
              </a:lnSpc>
            </a:pPr>
            <a:r>
              <a:rPr lang="en-US" sz="1951">
                <a:solidFill>
                  <a:srgbClr val="EFEEE7"/>
                </a:solidFill>
                <a:latin typeface="Public Sans"/>
                <a:ea typeface="Public Sans"/>
                <a:cs typeface="Public Sans"/>
                <a:sym typeface="Public Sans"/>
              </a:rPr>
              <a:t>Human oversight</a:t>
            </a:r>
          </a:p>
          <a:p>
            <a:pPr algn="l">
              <a:lnSpc>
                <a:spcPts val="2341"/>
              </a:lnSpc>
            </a:pPr>
            <a:r>
              <a:rPr lang="en-US" sz="1951">
                <a:solidFill>
                  <a:srgbClr val="EFEEE7"/>
                </a:solidFill>
                <a:latin typeface="Public Sans"/>
                <a:ea typeface="Public Sans"/>
                <a:cs typeface="Public Sans"/>
                <a:sym typeface="Public Sans"/>
              </a:rPr>
              <a:t>Logging &amp; monitoring</a:t>
            </a:r>
          </a:p>
        </p:txBody>
      </p:sp>
      <p:sp>
        <p:nvSpPr>
          <p:cNvPr name="TextBox 26" id="26"/>
          <p:cNvSpPr txBox="true"/>
          <p:nvPr/>
        </p:nvSpPr>
        <p:spPr>
          <a:xfrm rot="0">
            <a:off x="13279110" y="4281954"/>
            <a:ext cx="469702" cy="476250"/>
          </a:xfrm>
          <a:prstGeom prst="rect">
            <a:avLst/>
          </a:prstGeom>
        </p:spPr>
        <p:txBody>
          <a:bodyPr anchor="t" rtlCol="false" tIns="0" lIns="0" bIns="0" rIns="0">
            <a:spAutoFit/>
          </a:bodyPr>
          <a:lstStyle/>
          <a:p>
            <a:pPr algn="ctr">
              <a:lnSpc>
                <a:spcPts val="3616"/>
              </a:lnSpc>
            </a:pPr>
            <a:r>
              <a:rPr lang="en-US" b="true" sz="3013" spc="684">
                <a:solidFill>
                  <a:srgbClr val="2B2C30"/>
                </a:solidFill>
                <a:latin typeface="Public Sans Bold"/>
                <a:ea typeface="Public Sans Bold"/>
                <a:cs typeface="Public Sans Bold"/>
                <a:sym typeface="Public Sans Bold"/>
              </a:rPr>
              <a:t>→</a:t>
            </a:r>
          </a:p>
        </p:txBody>
      </p:sp>
      <p:grpSp>
        <p:nvGrpSpPr>
          <p:cNvPr name="Group 27" id="27"/>
          <p:cNvGrpSpPr/>
          <p:nvPr/>
        </p:nvGrpSpPr>
        <p:grpSpPr>
          <a:xfrm rot="0">
            <a:off x="13788209" y="2532297"/>
            <a:ext cx="3926415" cy="4338218"/>
            <a:chOff x="0" y="0"/>
            <a:chExt cx="5235219" cy="5784291"/>
          </a:xfrm>
        </p:grpSpPr>
        <p:sp>
          <p:nvSpPr>
            <p:cNvPr name="Freeform 28" id="28"/>
            <p:cNvSpPr/>
            <p:nvPr/>
          </p:nvSpPr>
          <p:spPr>
            <a:xfrm flipH="false" flipV="false" rot="0">
              <a:off x="0" y="0"/>
              <a:ext cx="5235321" cy="5784342"/>
            </a:xfrm>
            <a:custGeom>
              <a:avLst/>
              <a:gdLst/>
              <a:ahLst/>
              <a:cxnLst/>
              <a:rect r="r" b="b" t="t" l="l"/>
              <a:pathLst>
                <a:path h="5784342" w="5235321">
                  <a:moveTo>
                    <a:pt x="0" y="872617"/>
                  </a:moveTo>
                  <a:cubicBezTo>
                    <a:pt x="0" y="390652"/>
                    <a:pt x="390652" y="0"/>
                    <a:pt x="872617" y="0"/>
                  </a:cubicBezTo>
                  <a:lnTo>
                    <a:pt x="4362704" y="0"/>
                  </a:lnTo>
                  <a:cubicBezTo>
                    <a:pt x="4844542" y="0"/>
                    <a:pt x="5235321" y="390652"/>
                    <a:pt x="5235321" y="872617"/>
                  </a:cubicBezTo>
                  <a:lnTo>
                    <a:pt x="5235321" y="4911725"/>
                  </a:lnTo>
                  <a:cubicBezTo>
                    <a:pt x="5235321" y="5393563"/>
                    <a:pt x="4844669" y="5784342"/>
                    <a:pt x="4362704" y="5784342"/>
                  </a:cubicBezTo>
                  <a:lnTo>
                    <a:pt x="872617" y="5784342"/>
                  </a:lnTo>
                  <a:cubicBezTo>
                    <a:pt x="390652" y="5784342"/>
                    <a:pt x="0" y="5393690"/>
                    <a:pt x="0" y="4911725"/>
                  </a:cubicBezTo>
                  <a:close/>
                </a:path>
              </a:pathLst>
            </a:custGeom>
            <a:solidFill>
              <a:srgbClr val="2B2C30"/>
            </a:solidFill>
            <a:ln w="14299" cap="sq">
              <a:solidFill>
                <a:srgbClr val="D2D8DE"/>
              </a:solidFill>
              <a:prstDash val="solid"/>
              <a:miter/>
            </a:ln>
          </p:spPr>
        </p:sp>
      </p:grpSp>
      <p:grpSp>
        <p:nvGrpSpPr>
          <p:cNvPr name="Group 29" id="29"/>
          <p:cNvGrpSpPr/>
          <p:nvPr/>
        </p:nvGrpSpPr>
        <p:grpSpPr>
          <a:xfrm rot="0">
            <a:off x="13795362" y="2539441"/>
            <a:ext cx="96088" cy="4323921"/>
            <a:chOff x="0" y="0"/>
            <a:chExt cx="128118" cy="5765228"/>
          </a:xfrm>
        </p:grpSpPr>
        <p:sp>
          <p:nvSpPr>
            <p:cNvPr name="Freeform 30" id="30"/>
            <p:cNvSpPr/>
            <p:nvPr/>
          </p:nvSpPr>
          <p:spPr>
            <a:xfrm flipH="false" flipV="false" rot="0">
              <a:off x="0" y="0"/>
              <a:ext cx="128143" cy="5765165"/>
            </a:xfrm>
            <a:custGeom>
              <a:avLst/>
              <a:gdLst/>
              <a:ahLst/>
              <a:cxnLst/>
              <a:rect r="r" b="b" t="t" l="l"/>
              <a:pathLst>
                <a:path h="5765165" w="128143">
                  <a:moveTo>
                    <a:pt x="0" y="0"/>
                  </a:moveTo>
                  <a:lnTo>
                    <a:pt x="128143" y="0"/>
                  </a:lnTo>
                  <a:lnTo>
                    <a:pt x="128143" y="5765165"/>
                  </a:lnTo>
                  <a:lnTo>
                    <a:pt x="0" y="5765165"/>
                  </a:lnTo>
                  <a:close/>
                </a:path>
              </a:pathLst>
            </a:custGeom>
            <a:solidFill>
              <a:srgbClr val="EFEEE7"/>
            </a:solidFill>
          </p:spPr>
        </p:sp>
      </p:grpSp>
      <p:sp>
        <p:nvSpPr>
          <p:cNvPr name="TextBox 31" id="31"/>
          <p:cNvSpPr txBox="true"/>
          <p:nvPr/>
        </p:nvSpPr>
        <p:spPr>
          <a:xfrm rot="0">
            <a:off x="14188783" y="2822724"/>
            <a:ext cx="3248797" cy="352425"/>
          </a:xfrm>
          <a:prstGeom prst="rect">
            <a:avLst/>
          </a:prstGeom>
        </p:spPr>
        <p:txBody>
          <a:bodyPr anchor="t" rtlCol="false" tIns="0" lIns="0" bIns="0" rIns="0">
            <a:spAutoFit/>
          </a:bodyPr>
          <a:lstStyle/>
          <a:p>
            <a:pPr algn="l">
              <a:lnSpc>
                <a:spcPts val="2702"/>
              </a:lnSpc>
            </a:pPr>
            <a:r>
              <a:rPr lang="en-US" b="true" sz="2251" spc="11">
                <a:solidFill>
                  <a:srgbClr val="EFEEE7"/>
                </a:solidFill>
                <a:latin typeface="Public Sans Bold"/>
                <a:ea typeface="Public Sans Bold"/>
                <a:cs typeface="Public Sans Bold"/>
                <a:sym typeface="Public Sans Bold"/>
              </a:rPr>
              <a:t>4. SCALE DECISION</a:t>
            </a:r>
          </a:p>
        </p:txBody>
      </p:sp>
      <p:sp>
        <p:nvSpPr>
          <p:cNvPr name="TextBox 32" id="32"/>
          <p:cNvSpPr txBox="true"/>
          <p:nvPr/>
        </p:nvSpPr>
        <p:spPr>
          <a:xfrm rot="0">
            <a:off x="14188783" y="3563960"/>
            <a:ext cx="3207620" cy="1485900"/>
          </a:xfrm>
          <a:prstGeom prst="rect">
            <a:avLst/>
          </a:prstGeom>
        </p:spPr>
        <p:txBody>
          <a:bodyPr anchor="t" rtlCol="false" tIns="0" lIns="0" bIns="0" rIns="0">
            <a:spAutoFit/>
          </a:bodyPr>
          <a:lstStyle/>
          <a:p>
            <a:pPr algn="l">
              <a:lnSpc>
                <a:spcPts val="2341"/>
              </a:lnSpc>
            </a:pPr>
            <a:r>
              <a:rPr lang="en-US" sz="1951">
                <a:solidFill>
                  <a:srgbClr val="EFEEE7"/>
                </a:solidFill>
                <a:latin typeface="Public Sans"/>
                <a:ea typeface="Public Sans"/>
                <a:cs typeface="Public Sans"/>
                <a:sym typeface="Public Sans"/>
              </a:rPr>
              <a:t>Measure before scaling:</a:t>
            </a:r>
          </a:p>
          <a:p>
            <a:pPr algn="l">
              <a:lnSpc>
                <a:spcPts val="2341"/>
              </a:lnSpc>
            </a:pPr>
            <a:r>
              <a:rPr lang="en-US" sz="1951">
                <a:solidFill>
                  <a:srgbClr val="EFEEE7"/>
                </a:solidFill>
                <a:latin typeface="Public Sans"/>
                <a:ea typeface="Public Sans"/>
                <a:cs typeface="Public Sans"/>
                <a:sym typeface="Public Sans"/>
              </a:rPr>
              <a:t>Reliability</a:t>
            </a:r>
          </a:p>
          <a:p>
            <a:pPr algn="l">
              <a:lnSpc>
                <a:spcPts val="2341"/>
              </a:lnSpc>
            </a:pPr>
            <a:r>
              <a:rPr lang="en-US" sz="1951">
                <a:solidFill>
                  <a:srgbClr val="EFEEE7"/>
                </a:solidFill>
                <a:latin typeface="Public Sans"/>
                <a:ea typeface="Public Sans"/>
                <a:cs typeface="Public Sans"/>
                <a:sym typeface="Public Sans"/>
              </a:rPr>
              <a:t>Operational value</a:t>
            </a:r>
          </a:p>
          <a:p>
            <a:pPr algn="l">
              <a:lnSpc>
                <a:spcPts val="2341"/>
              </a:lnSpc>
            </a:pPr>
            <a:r>
              <a:rPr lang="en-US" sz="1951">
                <a:solidFill>
                  <a:srgbClr val="EFEEE7"/>
                </a:solidFill>
                <a:latin typeface="Public Sans"/>
                <a:ea typeface="Public Sans"/>
                <a:cs typeface="Public Sans"/>
                <a:sym typeface="Public Sans"/>
              </a:rPr>
              <a:t>User adoption</a:t>
            </a:r>
          </a:p>
          <a:p>
            <a:pPr algn="l">
              <a:lnSpc>
                <a:spcPts val="2341"/>
              </a:lnSpc>
            </a:pPr>
            <a:r>
              <a:rPr lang="en-US" sz="1951">
                <a:solidFill>
                  <a:srgbClr val="EFEEE7"/>
                </a:solidFill>
                <a:latin typeface="Public Sans"/>
                <a:ea typeface="Public Sans"/>
                <a:cs typeface="Public Sans"/>
                <a:sym typeface="Public Sans"/>
              </a:rPr>
              <a:t>Business impact</a:t>
            </a:r>
          </a:p>
        </p:txBody>
      </p:sp>
      <p:sp>
        <p:nvSpPr>
          <p:cNvPr name="TextBox 33" id="33"/>
          <p:cNvSpPr txBox="true"/>
          <p:nvPr/>
        </p:nvSpPr>
        <p:spPr>
          <a:xfrm rot="0">
            <a:off x="1464116" y="7645003"/>
            <a:ext cx="15328316" cy="685800"/>
          </a:xfrm>
          <a:prstGeom prst="rect">
            <a:avLst/>
          </a:prstGeom>
        </p:spPr>
        <p:txBody>
          <a:bodyPr anchor="t" rtlCol="false" tIns="0" lIns="0" bIns="0" rIns="0">
            <a:spAutoFit/>
          </a:bodyPr>
          <a:lstStyle/>
          <a:p>
            <a:pPr algn="ctr">
              <a:lnSpc>
                <a:spcPts val="2628"/>
              </a:lnSpc>
            </a:pPr>
            <a:r>
              <a:rPr lang="en-US" sz="2190">
                <a:solidFill>
                  <a:srgbClr val="2B2C30"/>
                </a:solidFill>
                <a:latin typeface="Public Sans"/>
                <a:ea typeface="Public Sans"/>
                <a:cs typeface="Public Sans"/>
                <a:sym typeface="Public Sans"/>
              </a:rPr>
              <a:t>Hybrid principle: Move complex core processing into code while retaining low-code automation where it provides practical value.</a:t>
            </a:r>
          </a:p>
        </p:txBody>
      </p:sp>
      <p:sp>
        <p:nvSpPr>
          <p:cNvPr name="TextBox 34" id="34"/>
          <p:cNvSpPr txBox="true"/>
          <p:nvPr/>
        </p:nvSpPr>
        <p:spPr>
          <a:xfrm rot="0">
            <a:off x="1464116" y="8684028"/>
            <a:ext cx="15328316" cy="352425"/>
          </a:xfrm>
          <a:prstGeom prst="rect">
            <a:avLst/>
          </a:prstGeom>
        </p:spPr>
        <p:txBody>
          <a:bodyPr anchor="t" rtlCol="false" tIns="0" lIns="0" bIns="0" rIns="0">
            <a:spAutoFit/>
          </a:bodyPr>
          <a:lstStyle/>
          <a:p>
            <a:pPr algn="ctr">
              <a:lnSpc>
                <a:spcPts val="2702"/>
              </a:lnSpc>
            </a:pPr>
            <a:r>
              <a:rPr lang="en-US" sz="2251">
                <a:solidFill>
                  <a:srgbClr val="2B2C30"/>
                </a:solidFill>
                <a:latin typeface="Public Sans"/>
                <a:ea typeface="Public Sans"/>
                <a:cs typeface="Public Sans"/>
                <a:sym typeface="Public Sans"/>
              </a:rPr>
              <a:t>Progress through evidence-based validation — not technology-driven scaling.</a:t>
            </a:r>
          </a:p>
        </p:txBody>
      </p:sp>
      <p:sp>
        <p:nvSpPr>
          <p:cNvPr name="TextBox 35" id="35"/>
          <p:cNvSpPr txBox="true"/>
          <p:nvPr/>
        </p:nvSpPr>
        <p:spPr>
          <a:xfrm rot="0">
            <a:off x="1052312" y="9754714"/>
            <a:ext cx="2058442" cy="209550"/>
          </a:xfrm>
          <a:prstGeom prst="rect">
            <a:avLst/>
          </a:prstGeom>
        </p:spPr>
        <p:txBody>
          <a:bodyPr anchor="t" rtlCol="false" tIns="0" lIns="0" bIns="0" rIns="0">
            <a:spAutoFit/>
          </a:bodyPr>
          <a:lstStyle/>
          <a:p>
            <a:pPr algn="l">
              <a:lnSpc>
                <a:spcPts val="1621"/>
              </a:lnSpc>
            </a:pPr>
            <a:r>
              <a:rPr lang="en-US" sz="1351">
                <a:solidFill>
                  <a:srgbClr val="2B2C30"/>
                </a:solidFill>
                <a:latin typeface="Public Sans"/>
                <a:ea typeface="Public Sans"/>
                <a:cs typeface="Public Sans"/>
                <a:sym typeface="Public Sans"/>
              </a:rPr>
              <a:t>Crew Change Risk Copilot</a:t>
            </a:r>
          </a:p>
        </p:txBody>
      </p:sp>
      <p:sp>
        <p:nvSpPr>
          <p:cNvPr name="TextBox 36" id="36"/>
          <p:cNvSpPr txBox="true"/>
          <p:nvPr/>
        </p:nvSpPr>
        <p:spPr>
          <a:xfrm rot="0">
            <a:off x="17097070" y="9754714"/>
            <a:ext cx="107156" cy="209550"/>
          </a:xfrm>
          <a:prstGeom prst="rect">
            <a:avLst/>
          </a:prstGeom>
        </p:spPr>
        <p:txBody>
          <a:bodyPr anchor="t" rtlCol="false" tIns="0" lIns="0" bIns="0" rIns="0">
            <a:spAutoFit/>
          </a:bodyPr>
          <a:lstStyle/>
          <a:p>
            <a:pPr algn="r">
              <a:lnSpc>
                <a:spcPts val="1621"/>
              </a:lnSpc>
            </a:pPr>
            <a:r>
              <a:rPr lang="en-US" sz="1351">
                <a:solidFill>
                  <a:srgbClr val="2B2C30"/>
                </a:solidFill>
                <a:latin typeface="Public Sans"/>
                <a:ea typeface="Public Sans"/>
                <a:cs typeface="Public Sans"/>
                <a:sym typeface="Public Sans"/>
              </a:rPr>
              <a:t>9</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4037306" y="781641"/>
            <a:ext cx="10181927" cy="619125"/>
          </a:xfrm>
          <a:prstGeom prst="rect">
            <a:avLst/>
          </a:prstGeom>
        </p:spPr>
        <p:txBody>
          <a:bodyPr anchor="t" rtlCol="false" tIns="0" lIns="0" bIns="0" rIns="0">
            <a:spAutoFit/>
          </a:bodyPr>
          <a:lstStyle/>
          <a:p>
            <a:pPr algn="ctr">
              <a:lnSpc>
                <a:spcPts val="4742"/>
              </a:lnSpc>
            </a:pPr>
            <a:r>
              <a:rPr lang="en-US" b="true" sz="3951" spc="897">
                <a:solidFill>
                  <a:srgbClr val="2B2C30"/>
                </a:solidFill>
                <a:latin typeface="Public Sans Bold"/>
                <a:ea typeface="Public Sans Bold"/>
                <a:cs typeface="Public Sans Bold"/>
                <a:sym typeface="Public Sans Bold"/>
              </a:rPr>
              <a:t>CREW CHANGE RISK COPILOT</a:t>
            </a:r>
          </a:p>
        </p:txBody>
      </p:sp>
      <p:sp>
        <p:nvSpPr>
          <p:cNvPr name="TextBox 3" id="3"/>
          <p:cNvSpPr txBox="true"/>
          <p:nvPr/>
        </p:nvSpPr>
        <p:spPr>
          <a:xfrm rot="0">
            <a:off x="1326842" y="1752038"/>
            <a:ext cx="15602855" cy="390525"/>
          </a:xfrm>
          <a:prstGeom prst="rect">
            <a:avLst/>
          </a:prstGeom>
        </p:spPr>
        <p:txBody>
          <a:bodyPr anchor="t" rtlCol="false" tIns="0" lIns="0" bIns="0" rIns="0">
            <a:spAutoFit/>
          </a:bodyPr>
          <a:lstStyle/>
          <a:p>
            <a:pPr algn="ctr">
              <a:lnSpc>
                <a:spcPts val="3062"/>
              </a:lnSpc>
            </a:pPr>
            <a:r>
              <a:rPr lang="en-US" b="true" sz="2551" spc="12">
                <a:solidFill>
                  <a:srgbClr val="2B2C30"/>
                </a:solidFill>
                <a:latin typeface="Public Sans Bold"/>
                <a:ea typeface="Public Sans Bold"/>
                <a:cs typeface="Public Sans Bold"/>
                <a:sym typeface="Public Sans Bold"/>
              </a:rPr>
              <a:t>From Concept to a Clear Path Forward</a:t>
            </a:r>
          </a:p>
        </p:txBody>
      </p:sp>
      <p:grpSp>
        <p:nvGrpSpPr>
          <p:cNvPr name="Group 4" id="4"/>
          <p:cNvGrpSpPr/>
          <p:nvPr/>
        </p:nvGrpSpPr>
        <p:grpSpPr>
          <a:xfrm rot="0">
            <a:off x="885092" y="2738199"/>
            <a:ext cx="5024552" cy="2965542"/>
            <a:chOff x="0" y="0"/>
            <a:chExt cx="6699402" cy="3954056"/>
          </a:xfrm>
        </p:grpSpPr>
        <p:sp>
          <p:nvSpPr>
            <p:cNvPr name="Freeform 5" id="5"/>
            <p:cNvSpPr/>
            <p:nvPr/>
          </p:nvSpPr>
          <p:spPr>
            <a:xfrm flipH="false" flipV="false" rot="0">
              <a:off x="0" y="0"/>
              <a:ext cx="6699377" cy="3954018"/>
            </a:xfrm>
            <a:custGeom>
              <a:avLst/>
              <a:gdLst/>
              <a:ahLst/>
              <a:cxnLst/>
              <a:rect r="r" b="b" t="t" l="l"/>
              <a:pathLst>
                <a:path h="3954018" w="6699377">
                  <a:moveTo>
                    <a:pt x="0" y="659003"/>
                  </a:moveTo>
                  <a:cubicBezTo>
                    <a:pt x="0" y="295021"/>
                    <a:pt x="295021" y="0"/>
                    <a:pt x="659003" y="0"/>
                  </a:cubicBezTo>
                  <a:lnTo>
                    <a:pt x="6040374" y="0"/>
                  </a:lnTo>
                  <a:cubicBezTo>
                    <a:pt x="6404356" y="0"/>
                    <a:pt x="6699377" y="295021"/>
                    <a:pt x="6699377" y="659003"/>
                  </a:cubicBezTo>
                  <a:lnTo>
                    <a:pt x="6699377" y="3295015"/>
                  </a:lnTo>
                  <a:cubicBezTo>
                    <a:pt x="6699377" y="3658997"/>
                    <a:pt x="6404356" y="3954018"/>
                    <a:pt x="6040374" y="3954018"/>
                  </a:cubicBezTo>
                  <a:lnTo>
                    <a:pt x="659003" y="3954018"/>
                  </a:lnTo>
                  <a:cubicBezTo>
                    <a:pt x="295021" y="3954018"/>
                    <a:pt x="0" y="3658997"/>
                    <a:pt x="0" y="3295015"/>
                  </a:cubicBezTo>
                  <a:close/>
                </a:path>
              </a:pathLst>
            </a:custGeom>
            <a:solidFill>
              <a:srgbClr val="2B2C30"/>
            </a:solidFill>
            <a:ln w="14299" cap="sq">
              <a:solidFill>
                <a:srgbClr val="D2D8DE"/>
              </a:solidFill>
              <a:prstDash val="solid"/>
              <a:miter/>
            </a:ln>
          </p:spPr>
        </p:sp>
      </p:grpSp>
      <p:grpSp>
        <p:nvGrpSpPr>
          <p:cNvPr name="Group 6" id="6"/>
          <p:cNvGrpSpPr/>
          <p:nvPr/>
        </p:nvGrpSpPr>
        <p:grpSpPr>
          <a:xfrm rot="0">
            <a:off x="892235" y="2745343"/>
            <a:ext cx="96088" cy="2951245"/>
            <a:chOff x="0" y="0"/>
            <a:chExt cx="128118" cy="3934993"/>
          </a:xfrm>
        </p:grpSpPr>
        <p:sp>
          <p:nvSpPr>
            <p:cNvPr name="Freeform 7" id="7"/>
            <p:cNvSpPr/>
            <p:nvPr/>
          </p:nvSpPr>
          <p:spPr>
            <a:xfrm flipH="false" flipV="false" rot="0">
              <a:off x="0" y="0"/>
              <a:ext cx="128143" cy="3934968"/>
            </a:xfrm>
            <a:custGeom>
              <a:avLst/>
              <a:gdLst/>
              <a:ahLst/>
              <a:cxnLst/>
              <a:rect r="r" b="b" t="t" l="l"/>
              <a:pathLst>
                <a:path h="3934968" w="128143">
                  <a:moveTo>
                    <a:pt x="0" y="0"/>
                  </a:moveTo>
                  <a:lnTo>
                    <a:pt x="128143" y="0"/>
                  </a:lnTo>
                  <a:lnTo>
                    <a:pt x="128143" y="3934968"/>
                  </a:lnTo>
                  <a:lnTo>
                    <a:pt x="0" y="3934968"/>
                  </a:lnTo>
                  <a:close/>
                </a:path>
              </a:pathLst>
            </a:custGeom>
            <a:solidFill>
              <a:srgbClr val="EFEEE7"/>
            </a:solidFill>
          </p:spPr>
        </p:sp>
      </p:grpSp>
      <p:sp>
        <p:nvSpPr>
          <p:cNvPr name="TextBox 8" id="8"/>
          <p:cNvSpPr txBox="true"/>
          <p:nvPr/>
        </p:nvSpPr>
        <p:spPr>
          <a:xfrm rot="0">
            <a:off x="1285665" y="3019092"/>
            <a:ext cx="4346943" cy="333375"/>
          </a:xfrm>
          <a:prstGeom prst="rect">
            <a:avLst/>
          </a:prstGeom>
        </p:spPr>
        <p:txBody>
          <a:bodyPr anchor="t" rtlCol="false" tIns="0" lIns="0" bIns="0" rIns="0">
            <a:spAutoFit/>
          </a:bodyPr>
          <a:lstStyle/>
          <a:p>
            <a:pPr algn="l">
              <a:lnSpc>
                <a:spcPts val="2521"/>
              </a:lnSpc>
            </a:pPr>
            <a:r>
              <a:rPr lang="en-US" b="true" sz="2101" spc="10">
                <a:solidFill>
                  <a:srgbClr val="EFEEE7"/>
                </a:solidFill>
                <a:latin typeface="Public Sans Bold"/>
                <a:ea typeface="Public Sans Bold"/>
                <a:cs typeface="Public Sans Bold"/>
                <a:sym typeface="Public Sans Bold"/>
              </a:rPr>
              <a:t>✓ CONCEPT VALIDATED</a:t>
            </a:r>
          </a:p>
        </p:txBody>
      </p:sp>
      <p:sp>
        <p:nvSpPr>
          <p:cNvPr name="TextBox 9" id="9"/>
          <p:cNvSpPr txBox="true"/>
          <p:nvPr/>
        </p:nvSpPr>
        <p:spPr>
          <a:xfrm rot="0">
            <a:off x="1285665" y="3779387"/>
            <a:ext cx="4305757" cy="533400"/>
          </a:xfrm>
          <a:prstGeom prst="rect">
            <a:avLst/>
          </a:prstGeom>
        </p:spPr>
        <p:txBody>
          <a:bodyPr anchor="t" rtlCol="false" tIns="0" lIns="0" bIns="0" rIns="0">
            <a:spAutoFit/>
          </a:bodyPr>
          <a:lstStyle/>
          <a:p>
            <a:pPr algn="l">
              <a:lnSpc>
                <a:spcPts val="2161"/>
              </a:lnSpc>
            </a:pPr>
            <a:r>
              <a:rPr lang="en-US" sz="1801">
                <a:solidFill>
                  <a:srgbClr val="EFEEE7"/>
                </a:solidFill>
                <a:latin typeface="Public Sans"/>
                <a:ea typeface="Public Sans"/>
                <a:cs typeface="Public Sans"/>
                <a:sym typeface="Public Sans"/>
              </a:rPr>
              <a:t>Proof of Concept demonstrated the core workflow and AI-assisted briefing.</a:t>
            </a:r>
          </a:p>
        </p:txBody>
      </p:sp>
      <p:grpSp>
        <p:nvGrpSpPr>
          <p:cNvPr name="Group 10" id="10"/>
          <p:cNvGrpSpPr/>
          <p:nvPr/>
        </p:nvGrpSpPr>
        <p:grpSpPr>
          <a:xfrm rot="0">
            <a:off x="6444415" y="2738199"/>
            <a:ext cx="5024552" cy="2965542"/>
            <a:chOff x="0" y="0"/>
            <a:chExt cx="6699402" cy="3954056"/>
          </a:xfrm>
        </p:grpSpPr>
        <p:sp>
          <p:nvSpPr>
            <p:cNvPr name="Freeform 11" id="11"/>
            <p:cNvSpPr/>
            <p:nvPr/>
          </p:nvSpPr>
          <p:spPr>
            <a:xfrm flipH="false" flipV="false" rot="0">
              <a:off x="0" y="0"/>
              <a:ext cx="6699377" cy="3954018"/>
            </a:xfrm>
            <a:custGeom>
              <a:avLst/>
              <a:gdLst/>
              <a:ahLst/>
              <a:cxnLst/>
              <a:rect r="r" b="b" t="t" l="l"/>
              <a:pathLst>
                <a:path h="3954018" w="6699377">
                  <a:moveTo>
                    <a:pt x="0" y="659003"/>
                  </a:moveTo>
                  <a:cubicBezTo>
                    <a:pt x="0" y="295021"/>
                    <a:pt x="295021" y="0"/>
                    <a:pt x="659003" y="0"/>
                  </a:cubicBezTo>
                  <a:lnTo>
                    <a:pt x="6040374" y="0"/>
                  </a:lnTo>
                  <a:cubicBezTo>
                    <a:pt x="6404356" y="0"/>
                    <a:pt x="6699377" y="295021"/>
                    <a:pt x="6699377" y="659003"/>
                  </a:cubicBezTo>
                  <a:lnTo>
                    <a:pt x="6699377" y="3295015"/>
                  </a:lnTo>
                  <a:cubicBezTo>
                    <a:pt x="6699377" y="3658997"/>
                    <a:pt x="6404356" y="3954018"/>
                    <a:pt x="6040374" y="3954018"/>
                  </a:cubicBezTo>
                  <a:lnTo>
                    <a:pt x="659003" y="3954018"/>
                  </a:lnTo>
                  <a:cubicBezTo>
                    <a:pt x="295021" y="3954018"/>
                    <a:pt x="0" y="3658997"/>
                    <a:pt x="0" y="3295015"/>
                  </a:cubicBezTo>
                  <a:close/>
                </a:path>
              </a:pathLst>
            </a:custGeom>
            <a:solidFill>
              <a:srgbClr val="2B2C30"/>
            </a:solidFill>
            <a:ln w="14299" cap="sq">
              <a:solidFill>
                <a:srgbClr val="D2D8DE"/>
              </a:solidFill>
              <a:prstDash val="solid"/>
              <a:miter/>
            </a:ln>
          </p:spPr>
        </p:sp>
      </p:grpSp>
      <p:grpSp>
        <p:nvGrpSpPr>
          <p:cNvPr name="Group 12" id="12"/>
          <p:cNvGrpSpPr/>
          <p:nvPr/>
        </p:nvGrpSpPr>
        <p:grpSpPr>
          <a:xfrm rot="0">
            <a:off x="6451559" y="2745343"/>
            <a:ext cx="96088" cy="2951245"/>
            <a:chOff x="0" y="0"/>
            <a:chExt cx="128118" cy="3934993"/>
          </a:xfrm>
        </p:grpSpPr>
        <p:sp>
          <p:nvSpPr>
            <p:cNvPr name="Freeform 13" id="13"/>
            <p:cNvSpPr/>
            <p:nvPr/>
          </p:nvSpPr>
          <p:spPr>
            <a:xfrm flipH="false" flipV="false" rot="0">
              <a:off x="0" y="0"/>
              <a:ext cx="128143" cy="3934968"/>
            </a:xfrm>
            <a:custGeom>
              <a:avLst/>
              <a:gdLst/>
              <a:ahLst/>
              <a:cxnLst/>
              <a:rect r="r" b="b" t="t" l="l"/>
              <a:pathLst>
                <a:path h="3934968" w="128143">
                  <a:moveTo>
                    <a:pt x="0" y="0"/>
                  </a:moveTo>
                  <a:lnTo>
                    <a:pt x="128143" y="0"/>
                  </a:lnTo>
                  <a:lnTo>
                    <a:pt x="128143" y="3934968"/>
                  </a:lnTo>
                  <a:lnTo>
                    <a:pt x="0" y="3934968"/>
                  </a:lnTo>
                  <a:close/>
                </a:path>
              </a:pathLst>
            </a:custGeom>
            <a:solidFill>
              <a:srgbClr val="EFEEE7"/>
            </a:solidFill>
          </p:spPr>
        </p:sp>
      </p:grpSp>
      <p:sp>
        <p:nvSpPr>
          <p:cNvPr name="TextBox 14" id="14"/>
          <p:cNvSpPr txBox="true"/>
          <p:nvPr/>
        </p:nvSpPr>
        <p:spPr>
          <a:xfrm rot="0">
            <a:off x="6844989" y="3019092"/>
            <a:ext cx="4346943" cy="333375"/>
          </a:xfrm>
          <a:prstGeom prst="rect">
            <a:avLst/>
          </a:prstGeom>
        </p:spPr>
        <p:txBody>
          <a:bodyPr anchor="t" rtlCol="false" tIns="0" lIns="0" bIns="0" rIns="0">
            <a:spAutoFit/>
          </a:bodyPr>
          <a:lstStyle/>
          <a:p>
            <a:pPr algn="l">
              <a:lnSpc>
                <a:spcPts val="2521"/>
              </a:lnSpc>
            </a:pPr>
            <a:r>
              <a:rPr lang="en-US" b="true" sz="2101" spc="10">
                <a:solidFill>
                  <a:srgbClr val="EFEEE7"/>
                </a:solidFill>
                <a:latin typeface="Public Sans Bold"/>
                <a:ea typeface="Public Sans Bold"/>
                <a:cs typeface="Public Sans Bold"/>
                <a:sym typeface="Public Sans Bold"/>
              </a:rPr>
              <a:t>✓ BUSINESS CASE PROMISING</a:t>
            </a:r>
          </a:p>
        </p:txBody>
      </p:sp>
      <p:sp>
        <p:nvSpPr>
          <p:cNvPr name="TextBox 15" id="15"/>
          <p:cNvSpPr txBox="true"/>
          <p:nvPr/>
        </p:nvSpPr>
        <p:spPr>
          <a:xfrm rot="0">
            <a:off x="6844989" y="3779387"/>
            <a:ext cx="4305757" cy="800100"/>
          </a:xfrm>
          <a:prstGeom prst="rect">
            <a:avLst/>
          </a:prstGeom>
        </p:spPr>
        <p:txBody>
          <a:bodyPr anchor="t" rtlCol="false" tIns="0" lIns="0" bIns="0" rIns="0">
            <a:spAutoFit/>
          </a:bodyPr>
          <a:lstStyle/>
          <a:p>
            <a:pPr algn="l">
              <a:lnSpc>
                <a:spcPts val="2161"/>
              </a:lnSpc>
            </a:pPr>
            <a:r>
              <a:rPr lang="en-US" sz="1801">
                <a:solidFill>
                  <a:srgbClr val="EFEEE7"/>
                </a:solidFill>
                <a:latin typeface="Public Sans"/>
                <a:ea typeface="Public Sans"/>
                <a:cs typeface="Public Sans"/>
                <a:sym typeface="Public Sans"/>
              </a:rPr>
              <a:t>Conservative model becomes positive over three years; additional benefits require pilot validation.</a:t>
            </a:r>
          </a:p>
        </p:txBody>
      </p:sp>
      <p:grpSp>
        <p:nvGrpSpPr>
          <p:cNvPr name="Group 16" id="16"/>
          <p:cNvGrpSpPr/>
          <p:nvPr/>
        </p:nvGrpSpPr>
        <p:grpSpPr>
          <a:xfrm rot="0">
            <a:off x="12003738" y="2738199"/>
            <a:ext cx="5024552" cy="2965542"/>
            <a:chOff x="0" y="0"/>
            <a:chExt cx="6699402" cy="3954056"/>
          </a:xfrm>
        </p:grpSpPr>
        <p:sp>
          <p:nvSpPr>
            <p:cNvPr name="Freeform 17" id="17"/>
            <p:cNvSpPr/>
            <p:nvPr/>
          </p:nvSpPr>
          <p:spPr>
            <a:xfrm flipH="false" flipV="false" rot="0">
              <a:off x="0" y="0"/>
              <a:ext cx="6699377" cy="3954018"/>
            </a:xfrm>
            <a:custGeom>
              <a:avLst/>
              <a:gdLst/>
              <a:ahLst/>
              <a:cxnLst/>
              <a:rect r="r" b="b" t="t" l="l"/>
              <a:pathLst>
                <a:path h="3954018" w="6699377">
                  <a:moveTo>
                    <a:pt x="0" y="659003"/>
                  </a:moveTo>
                  <a:cubicBezTo>
                    <a:pt x="0" y="295021"/>
                    <a:pt x="295021" y="0"/>
                    <a:pt x="659003" y="0"/>
                  </a:cubicBezTo>
                  <a:lnTo>
                    <a:pt x="6040374" y="0"/>
                  </a:lnTo>
                  <a:cubicBezTo>
                    <a:pt x="6404356" y="0"/>
                    <a:pt x="6699377" y="295021"/>
                    <a:pt x="6699377" y="659003"/>
                  </a:cubicBezTo>
                  <a:lnTo>
                    <a:pt x="6699377" y="3295015"/>
                  </a:lnTo>
                  <a:cubicBezTo>
                    <a:pt x="6699377" y="3658997"/>
                    <a:pt x="6404356" y="3954018"/>
                    <a:pt x="6040374" y="3954018"/>
                  </a:cubicBezTo>
                  <a:lnTo>
                    <a:pt x="659003" y="3954018"/>
                  </a:lnTo>
                  <a:cubicBezTo>
                    <a:pt x="295021" y="3954018"/>
                    <a:pt x="0" y="3658997"/>
                    <a:pt x="0" y="3295015"/>
                  </a:cubicBezTo>
                  <a:close/>
                </a:path>
              </a:pathLst>
            </a:custGeom>
            <a:solidFill>
              <a:srgbClr val="2B2C30"/>
            </a:solidFill>
            <a:ln w="14299" cap="sq">
              <a:solidFill>
                <a:srgbClr val="D2D8DE"/>
              </a:solidFill>
              <a:prstDash val="solid"/>
              <a:miter/>
            </a:ln>
          </p:spPr>
        </p:sp>
      </p:grpSp>
      <p:grpSp>
        <p:nvGrpSpPr>
          <p:cNvPr name="Group 18" id="18"/>
          <p:cNvGrpSpPr/>
          <p:nvPr/>
        </p:nvGrpSpPr>
        <p:grpSpPr>
          <a:xfrm rot="0">
            <a:off x="12010882" y="2745343"/>
            <a:ext cx="96088" cy="2951245"/>
            <a:chOff x="0" y="0"/>
            <a:chExt cx="128118" cy="3934993"/>
          </a:xfrm>
        </p:grpSpPr>
        <p:sp>
          <p:nvSpPr>
            <p:cNvPr name="Freeform 19" id="19"/>
            <p:cNvSpPr/>
            <p:nvPr/>
          </p:nvSpPr>
          <p:spPr>
            <a:xfrm flipH="false" flipV="false" rot="0">
              <a:off x="0" y="0"/>
              <a:ext cx="128143" cy="3934968"/>
            </a:xfrm>
            <a:custGeom>
              <a:avLst/>
              <a:gdLst/>
              <a:ahLst/>
              <a:cxnLst/>
              <a:rect r="r" b="b" t="t" l="l"/>
              <a:pathLst>
                <a:path h="3934968" w="128143">
                  <a:moveTo>
                    <a:pt x="0" y="0"/>
                  </a:moveTo>
                  <a:lnTo>
                    <a:pt x="128143" y="0"/>
                  </a:lnTo>
                  <a:lnTo>
                    <a:pt x="128143" y="3934968"/>
                  </a:lnTo>
                  <a:lnTo>
                    <a:pt x="0" y="3934968"/>
                  </a:lnTo>
                  <a:close/>
                </a:path>
              </a:pathLst>
            </a:custGeom>
            <a:solidFill>
              <a:srgbClr val="EFEEE7"/>
            </a:solidFill>
          </p:spPr>
        </p:sp>
      </p:grpSp>
      <p:sp>
        <p:nvSpPr>
          <p:cNvPr name="TextBox 20" id="20"/>
          <p:cNvSpPr txBox="true"/>
          <p:nvPr/>
        </p:nvSpPr>
        <p:spPr>
          <a:xfrm rot="0">
            <a:off x="12404312" y="3028617"/>
            <a:ext cx="4346943" cy="295275"/>
          </a:xfrm>
          <a:prstGeom prst="rect">
            <a:avLst/>
          </a:prstGeom>
        </p:spPr>
        <p:txBody>
          <a:bodyPr anchor="t" rtlCol="false" tIns="0" lIns="0" bIns="0" rIns="0">
            <a:spAutoFit/>
          </a:bodyPr>
          <a:lstStyle/>
          <a:p>
            <a:pPr algn="l">
              <a:lnSpc>
                <a:spcPts val="2301"/>
              </a:lnSpc>
            </a:pPr>
            <a:r>
              <a:rPr lang="en-US" b="true" sz="1917" spc="9">
                <a:solidFill>
                  <a:srgbClr val="EFEEE7"/>
                </a:solidFill>
                <a:latin typeface="Public Sans Bold"/>
                <a:ea typeface="Public Sans Bold"/>
                <a:cs typeface="Public Sans Bold"/>
                <a:sym typeface="Public Sans Bold"/>
              </a:rPr>
              <a:t>✓ IMPLEMENTATION PATH DEFINED</a:t>
            </a:r>
          </a:p>
        </p:txBody>
      </p:sp>
      <p:sp>
        <p:nvSpPr>
          <p:cNvPr name="TextBox 21" id="21"/>
          <p:cNvSpPr txBox="true"/>
          <p:nvPr/>
        </p:nvSpPr>
        <p:spPr>
          <a:xfrm rot="0">
            <a:off x="12404312" y="3779387"/>
            <a:ext cx="4305757" cy="800100"/>
          </a:xfrm>
          <a:prstGeom prst="rect">
            <a:avLst/>
          </a:prstGeom>
        </p:spPr>
        <p:txBody>
          <a:bodyPr anchor="t" rtlCol="false" tIns="0" lIns="0" bIns="0" rIns="0">
            <a:spAutoFit/>
          </a:bodyPr>
          <a:lstStyle/>
          <a:p>
            <a:pPr algn="l">
              <a:lnSpc>
                <a:spcPts val="2161"/>
              </a:lnSpc>
            </a:pPr>
            <a:r>
              <a:rPr lang="en-US" sz="1801">
                <a:solidFill>
                  <a:srgbClr val="EFEEE7"/>
                </a:solidFill>
                <a:latin typeface="Public Sans"/>
                <a:ea typeface="Public Sans"/>
                <a:cs typeface="Public Sans"/>
                <a:sym typeface="Public Sans"/>
              </a:rPr>
              <a:t>Hybrid MVP architecture followed by a controlled pilot before wider deployment.</a:t>
            </a:r>
          </a:p>
        </p:txBody>
      </p:sp>
      <p:sp>
        <p:nvSpPr>
          <p:cNvPr name="TextBox 22" id="22"/>
          <p:cNvSpPr txBox="true"/>
          <p:nvPr/>
        </p:nvSpPr>
        <p:spPr>
          <a:xfrm rot="0">
            <a:off x="1464116" y="6419126"/>
            <a:ext cx="15328316" cy="371475"/>
          </a:xfrm>
          <a:prstGeom prst="rect">
            <a:avLst/>
          </a:prstGeom>
        </p:spPr>
        <p:txBody>
          <a:bodyPr anchor="t" rtlCol="false" tIns="0" lIns="0" bIns="0" rIns="0">
            <a:spAutoFit/>
          </a:bodyPr>
          <a:lstStyle/>
          <a:p>
            <a:pPr algn="ctr">
              <a:lnSpc>
                <a:spcPts val="2882"/>
              </a:lnSpc>
            </a:pPr>
            <a:r>
              <a:rPr lang="en-US" b="true" sz="2401" spc="12">
                <a:solidFill>
                  <a:srgbClr val="2B2C30"/>
                </a:solidFill>
                <a:latin typeface="Public Sans Bold"/>
                <a:ea typeface="Public Sans Bold"/>
                <a:cs typeface="Public Sans Bold"/>
                <a:sym typeface="Public Sans Bold"/>
              </a:rPr>
              <a:t>RECOMMENDATION</a:t>
            </a:r>
          </a:p>
        </p:txBody>
      </p:sp>
      <p:sp>
        <p:nvSpPr>
          <p:cNvPr name="TextBox 23" id="23"/>
          <p:cNvSpPr txBox="true"/>
          <p:nvPr/>
        </p:nvSpPr>
        <p:spPr>
          <a:xfrm rot="0">
            <a:off x="1464116" y="7105459"/>
            <a:ext cx="15328316" cy="733425"/>
          </a:xfrm>
          <a:prstGeom prst="rect">
            <a:avLst/>
          </a:prstGeom>
        </p:spPr>
        <p:txBody>
          <a:bodyPr anchor="t" rtlCol="false" tIns="0" lIns="0" bIns="0" rIns="0">
            <a:spAutoFit/>
          </a:bodyPr>
          <a:lstStyle/>
          <a:p>
            <a:pPr algn="ctr">
              <a:lnSpc>
                <a:spcPts val="2868"/>
              </a:lnSpc>
            </a:pPr>
            <a:r>
              <a:rPr lang="en-US" b="true" sz="2390" spc="542">
                <a:solidFill>
                  <a:srgbClr val="2B2C30"/>
                </a:solidFill>
                <a:latin typeface="Public Sans Bold"/>
                <a:ea typeface="Public Sans Bold"/>
                <a:cs typeface="Public Sans Bold"/>
                <a:sym typeface="Public Sans Bold"/>
              </a:rPr>
              <a:t>PROCEED WITH A FOCUSED MVP IMPLEMENTATION AND CONTROLLED PILOT.</a:t>
            </a:r>
          </a:p>
        </p:txBody>
      </p:sp>
      <p:sp>
        <p:nvSpPr>
          <p:cNvPr name="TextBox 24" id="24"/>
          <p:cNvSpPr txBox="true"/>
          <p:nvPr/>
        </p:nvSpPr>
        <p:spPr>
          <a:xfrm rot="0">
            <a:off x="1464116" y="8194072"/>
            <a:ext cx="15328316" cy="333375"/>
          </a:xfrm>
          <a:prstGeom prst="rect">
            <a:avLst/>
          </a:prstGeom>
        </p:spPr>
        <p:txBody>
          <a:bodyPr anchor="t" rtlCol="false" tIns="0" lIns="0" bIns="0" rIns="0">
            <a:spAutoFit/>
          </a:bodyPr>
          <a:lstStyle/>
          <a:p>
            <a:pPr algn="ctr">
              <a:lnSpc>
                <a:spcPts val="2521"/>
              </a:lnSpc>
            </a:pPr>
            <a:r>
              <a:rPr lang="en-US" sz="2101">
                <a:solidFill>
                  <a:srgbClr val="2B2C30"/>
                </a:solidFill>
                <a:latin typeface="Public Sans"/>
                <a:ea typeface="Public Sans"/>
                <a:cs typeface="Public Sans"/>
                <a:sym typeface="Public Sans"/>
              </a:rPr>
              <a:t>Validate: Technical Reliability  •  Operational Value  •  User Adoption  •  Business Impact</a:t>
            </a:r>
          </a:p>
        </p:txBody>
      </p:sp>
      <p:sp>
        <p:nvSpPr>
          <p:cNvPr name="TextBox 25" id="25"/>
          <p:cNvSpPr txBox="true"/>
          <p:nvPr/>
        </p:nvSpPr>
        <p:spPr>
          <a:xfrm rot="0">
            <a:off x="1464116" y="9164469"/>
            <a:ext cx="15328316" cy="371475"/>
          </a:xfrm>
          <a:prstGeom prst="rect">
            <a:avLst/>
          </a:prstGeom>
        </p:spPr>
        <p:txBody>
          <a:bodyPr anchor="t" rtlCol="false" tIns="0" lIns="0" bIns="0" rIns="0">
            <a:spAutoFit/>
          </a:bodyPr>
          <a:lstStyle/>
          <a:p>
            <a:pPr algn="ctr">
              <a:lnSpc>
                <a:spcPts val="2882"/>
              </a:lnSpc>
            </a:pPr>
            <a:r>
              <a:rPr lang="en-US" b="true" sz="2401" spc="12">
                <a:solidFill>
                  <a:srgbClr val="2B2C30"/>
                </a:solidFill>
                <a:latin typeface="Public Sans Bold"/>
                <a:ea typeface="Public Sans Bold"/>
                <a:cs typeface="Public Sans Bold"/>
                <a:sym typeface="Public Sans Bold"/>
              </a:rPr>
              <a:t>AI supports human judgement — it does not replace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DAHUOFK9pQY</dc:identifier>
  <dcterms:modified xsi:type="dcterms:W3CDTF">2011-08-01T06:04:30Z</dcterms:modified>
  <cp:revision>1</cp:revision>
  <dc:title>Crew_Change_Risk_Copilot_Final_Presentation_with_Speaker_Notes.pptx</dc:title>
</cp:coreProperties>
</file>